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CỔNG THEO DÕI</a:t>
            </a:r>
          </a:p>
          <a:p>
            <a:r>
              <a:t>TIÊM CHỦNG</a:t>
            </a:r>
          </a:p>
          <a:p>
            <a:r>
              <a:t>CỘNG ĐỒNG</a:t>
            </a:r>
          </a:p>
          <a:p>
            <a:r>
              <a:t>Phân tích và thiết kế hệ thống theo phương pháp lập trình hướng đối tượng</a:t>
            </a:r>
          </a:p>
          <a:p>
            <a:r>
              <a:t>SINH VIÊN</a:t>
            </a:r>
          </a:p>
          <a:p>
            <a:r>
              <a:t>Phan Trọng Phúc</a:t>
            </a:r>
          </a:p>
          <a:p>
            <a:r>
              <a:t>1250080148</a:t>
            </a:r>
          </a:p>
          <a:p>
            <a:r>
              <a:t>12CNPM2</a:t>
            </a:r>
          </a:p>
          <a:p>
            <a:r>
              <a:t>GIẢNG VIÊN</a:t>
            </a:r>
          </a:p>
          <a:p>
            <a:r>
              <a:t>Phạm Trọng Huynh</a:t>
            </a:r>
          </a:p>
          <a:p>
            <a:r>
              <a:t>MÔN HỌC</a:t>
            </a:r>
          </a:p>
          <a:p>
            <a:r>
              <a:t>Phương pháp lập trình hướng đối tượng</a:t>
            </a:r>
          </a:p>
          <a:p>
            <a:r>
              <a:t>NỘI DUNG</a:t>
            </a:r>
          </a:p>
          <a:p>
            <a:r>
              <a:t>USE CASE</a:t>
            </a:r>
          </a:p>
          <a:p>
            <a:r>
              <a:t>ACTIVITY</a:t>
            </a:r>
          </a:p>
          <a:p>
            <a:r>
              <a:t>SEQUENCE</a:t>
            </a:r>
          </a:p>
          <a:p>
            <a:r>
              <a:t>GIAO DIỆN</a:t>
            </a:r>
          </a:p>
          <a:p>
            <a:r>
              <a:t>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ĐÍCH &amp; PHẠM VI</a:t>
            </a:r>
          </a:p>
          <a:p>
            <a:r>
              <a:t>MỤC TIÊU ĐỀ TÀI</a:t>
            </a:r>
          </a:p>
          <a:p>
            <a:r>
              <a:t>Số hóa quy trình theo dõi tiêm chủng cộng đồng</a:t>
            </a:r>
          </a:p>
          <a:p>
            <a:r>
              <a:t>Tập trung, chính xác và thuận tiện.</a:t>
            </a:r>
          </a:p>
          <a:p>
            <a:r>
              <a:t>xây dựng cổng theo dõi tiêm chủng cộng đồng, giúp số hóa quá trình từ đăng ký lịch đến ghi nhận và theo dõi các mũi tiêm. Qua đó, giúp người dân chủ động tiêm đúng lịch và hỗ trợ quản lý thông tin tập trung, chính xác, thuận tiện hơn.</a:t>
            </a:r>
          </a:p>
          <a:p>
            <a:r>
              <a:t>Người dân</a:t>
            </a:r>
          </a:p>
          <a:p>
            <a:r>
              <a:t>Đăng ký lịch, tra cứu lịch sử và nhận nhắc lịch.</a:t>
            </a:r>
          </a:p>
          <a:p>
            <a:r>
              <a:t>Nhân viên</a:t>
            </a:r>
          </a:p>
          <a:p>
            <a:r>
              <a:t>Quản lý lịch, vaccine/lô và ghi nhận mũi tiêm.</a:t>
            </a:r>
          </a:p>
          <a:p>
            <a:r>
              <a:t>Quản trị viên</a:t>
            </a:r>
          </a:p>
          <a:p>
            <a:r>
              <a:t>Quản lý tài khoản, phân quyền và truy vết vaccine.</a:t>
            </a:r>
          </a:p>
          <a:p>
            <a:r>
              <a:t>Kết nối dữ liệu tiêm chủng xuyên suốt từ đăng ký → xác nhận → tiêm → theo dõi.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MÔ HÌNH CHỨC NĂNG</a:t>
            </a:r>
          </a:p>
          <a:p>
            <a:r>
              <a:t>USE CASE</a:t>
            </a:r>
          </a:p>
          <a:p>
            <a:r>
              <a:t>15 Use Case được phân chia rõ theo 3 nhóm người dùng chính.</a:t>
            </a:r>
          </a:p>
          <a:p>
            <a:r>
              <a:t>USE CASE</a:t>
            </a:r>
          </a:p>
          <a:p>
            <a:r>
              <a:t>Ba tác nhân chính</a:t>
            </a:r>
          </a:p>
          <a:p>
            <a:r>
              <a:t>NGƯỜI DÂN</a:t>
            </a:r>
          </a:p>
          <a:p>
            <a:r>
              <a:t>Đăng ký/đăng nhập, hồ sơ, lịch tiêm, lịch sử, nhắc lịch</a:t>
            </a:r>
          </a:p>
          <a:p>
            <a:r>
              <a:t>NHÂN VIÊN</a:t>
            </a:r>
          </a:p>
          <a:p>
            <a:r>
              <a:t>Quản lý lịch, vaccine, lô, chống chỉ định, ghi nhận mũi tiêm</a:t>
            </a:r>
          </a:p>
          <a:p>
            <a:r>
              <a:t>QUẢN TRỊ VIÊN</a:t>
            </a:r>
          </a:p>
          <a:p>
            <a:r>
              <a:t>Tài khoản, phân quyền, vaccine/lô và truy vết</a:t>
            </a:r>
          </a:p>
          <a:p>
            <a:r>
              <a:t>Use Case tổng quát – ánh xạ đầy đủ quyền của Người dân, Nhân viên và Quản trị viên.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LUỒNG NGHIỆP VỤ</a:t>
            </a:r>
          </a:p>
          <a:p>
            <a:r>
              <a:t>ACTIVITY DIAGRAM</a:t>
            </a:r>
          </a:p>
          <a:p>
            <a:r>
              <a:t>Mô tả luồng nghiệp vụ giữa hai swimlane: Người dân và Hệ thống.</a:t>
            </a:r>
          </a:p>
          <a:p>
            <a:r>
              <a:t>Luồng chính</a:t>
            </a:r>
          </a:p>
          <a:p>
            <a:r>
              <a:t>Người dân chọn chức năng đăng ký lịch tiêm.</a:t>
            </a:r>
          </a:p>
          <a:p>
            <a:r>
              <a:t>Chọn vaccine, ngày và cơ sở tiêm mong muốn.</a:t>
            </a:r>
          </a:p>
          <a:p>
            <a:r>
              <a:t>Hệ thống kiểm tra suất tiêm và điều kiện tồn kho.</a:t>
            </a:r>
          </a:p>
          <a:p>
            <a:r>
              <a:t>Còn suất → tạo LichTiem; hết suất → yêu cầu chọn lại.</a:t>
            </a:r>
          </a:p>
          <a:p>
            <a:r>
              <a:t>Điểm quyết định</a:t>
            </a:r>
          </a:p>
          <a:p>
            <a:r>
              <a:t>“Còn suất tiêm?” giúp tách rõ luồng thành công và luồng chọn lại.</a:t>
            </a:r>
          </a:p>
          <a:p>
            <a:r>
              <a:t>Activity Diagram – tập trung vào trình tự nghiệp vụ và nhánh quyết định.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TƯƠNG TÁC ĐỐI TƯỢNG</a:t>
            </a:r>
          </a:p>
          <a:p>
            <a:r>
              <a:t>SEQUENCE DIAGRAM</a:t>
            </a:r>
          </a:p>
          <a:p>
            <a:r>
              <a:t>Sequence Diagram thể hiện thứ tự tương tác giữa Người dân, giao diện, hệ thống xử lý và cơ sở dữ liệu.</a:t>
            </a:r>
          </a:p>
          <a:p>
            <a:r>
              <a:t>Luồng xử lý đăng ký</a:t>
            </a:r>
          </a:p>
          <a:p>
            <a:r>
              <a:t>NGƯỜI DÂN THAO TÁC</a:t>
            </a:r>
          </a:p>
          <a:p>
            <a:r>
              <a:t>Chọn vaccine, ngày giờ, cơ sở tiêm và gửi yêu cầu đăng ký.</a:t>
            </a:r>
          </a:p>
          <a:p>
            <a:r>
              <a:t>HỆ THỐNG XỬ LÝ</a:t>
            </a:r>
          </a:p>
          <a:p>
            <a:r>
              <a:t>Kiểm tra thông tin, kiểm tra điều kiện và tạo lịch tiêm nếu hợp lệ.</a:t>
            </a:r>
          </a:p>
          <a:p>
            <a:r>
              <a:t>LƯU VÀ PHẢN HỒI</a:t>
            </a:r>
          </a:p>
          <a:p>
            <a:r>
              <a:t>Lưu lịch vào cơ sở dữ liệu, sau đó thông báo đăng ký thành công cho người dân.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CẤU TRÚC HỆ THỐNG</a:t>
            </a:r>
          </a:p>
          <a:p>
            <a:r>
              <a:t>CLASS DIAGRAM</a:t>
            </a:r>
          </a:p>
          <a:p>
            <a:r>
              <a:t>Các lớp được tổ chức theo trách nhiệm và liên kết trực tiếp với nghiệp vụ tiêm chủng.</a:t>
            </a:r>
          </a:p>
          <a:p>
            <a:r>
              <a:t>9 LỚP CHÍNH  /  Ba nhóm lớp</a:t>
            </a:r>
          </a:p>
          <a:p>
            <a:r>
              <a:t>NGƯỜI DÙNG</a:t>
            </a:r>
          </a:p>
          <a:p>
            <a:r>
              <a:t>TaiKhoan • NguoiDan</a:t>
            </a:r>
          </a:p>
          <a:p>
            <a:r>
              <a:t>Xác thực, hồ sơ và quyền truy cập</a:t>
            </a:r>
          </a:p>
          <a:p>
            <a:r>
              <a:t>NGHIỆP VỤ TIÊM</a:t>
            </a:r>
          </a:p>
          <a:p>
            <a:r>
              <a:t>LichTiem • MuiTiem • Vaccine • LoVaccine</a:t>
            </a:r>
          </a:p>
          <a:p>
            <a:r>
              <a:t>Theo dõi lịch, mũi tiêm và truy vết lô</a:t>
            </a:r>
          </a:p>
          <a:p>
            <a:r>
              <a:t>KIỂM SOÁT</a:t>
            </a:r>
          </a:p>
          <a:p>
            <a:r>
              <a:t>ChongChiDinh • ThongBao • LichSuHieuChinh</a:t>
            </a:r>
          </a:p>
          <a:p>
            <a:r>
              <a:t>An toàn, nhắc lịch và lưu vết thay đổi</a:t>
            </a:r>
          </a:p>
          <a:p>
            <a:r>
              <a:t>Mỗi lớp đóng gói dữ liệu + hành vi.</a:t>
            </a:r>
          </a:p>
          <a:p>
            <a:r>
              <a:t>Class Diagram – cấu trúc dữ liệu và quan hệ giữa các đối tượng trong miền tiêm chủng.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TỪ THIẾT KẾ ĐẾN GIAO DIỆN</a:t>
            </a:r>
          </a:p>
          <a:p>
            <a:r>
              <a:t>GIAO DIỆN EXCEL</a:t>
            </a:r>
          </a:p>
          <a:p>
            <a:r>
              <a:t>UC15: ĐĂNG KÝ LỊCH TIÊM</a:t>
            </a:r>
          </a:p>
          <a:p>
            <a:r>
              <a:t>Giao diện được mô phỏng bằng Excel từ đặc tả nghiệp vụ.</a:t>
            </a:r>
          </a:p>
          <a:p>
            <a:r>
              <a:t>Từ mô hình → giao diện</a:t>
            </a:r>
          </a:p>
          <a:p>
            <a:r>
              <a:t>Các trường nhập bám đúng thông tin đăng ký lịch tiêm.</a:t>
            </a:r>
          </a:p>
          <a:p>
            <a:r>
              <a:t>Người dân chọn Vaccine, Mũi tiêm, Ngày giờ và Cơ sở tiêm.</a:t>
            </a:r>
          </a:p>
          <a:p>
            <a:r>
              <a:t>Nút Đăng ký gửi yêu cầu và tạo lịch tiêm mới.</a:t>
            </a:r>
          </a:p>
          <a:p>
            <a:r>
              <a:t>Lịch được lưu trạng thái “Đã lên lịch” để nhân viên tiếp nhận.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thầy và các bạn</a:t>
            </a:r>
          </a:p>
          <a:p>
            <a:r>
              <a:t>đã lắng nghe</a:t>
            </a:r>
          </a:p>
          <a:p>
            <a:r>
              <a:t>PHAN TRỌNG PHÚC</a:t>
            </a:r>
          </a:p>
          <a:p>
            <a:r>
              <a:t>12CNPM2  /  1250080148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01</a:t>
            </a:r>
          </a:p>
        </p:txBody>
      </p:sp>
      <p:sp>
        <p:nvSpPr>
          <p:cNvPr id="6" name="Oval 5"/>
          <p:cNvSpPr/>
          <p:nvPr/>
        </p:nvSpPr>
        <p:spPr>
          <a:xfrm>
            <a:off x="7607808" y="1124712"/>
            <a:ext cx="4315968" cy="4315968"/>
          </a:xfrm>
          <a:prstGeom prst="ellipse">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7946136" y="1463040"/>
            <a:ext cx="3639312" cy="3639312"/>
          </a:xfrm>
          <a:prstGeom prst="ellipse">
            <a:avLst/>
          </a:prstGeom>
          <a:solidFill>
            <a:srgbClr val="E9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594360" y="420624"/>
            <a:ext cx="1371600" cy="329184"/>
          </a:xfrm>
          <a:prstGeom prst="roundRect">
            <a:avLst>
              <a:gd name="adj" fmla="val 10000"/>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94360" y="507492"/>
            <a:ext cx="1371600" cy="164592"/>
          </a:xfrm>
          <a:prstGeom prst="rect">
            <a:avLst/>
          </a:prstGeom>
          <a:noFill/>
          <a:effectLst/>
        </p:spPr>
        <p:txBody>
          <a:bodyPr wrap="square" lIns="0" rIns="0" tIns="0" bIns="0">
            <a:spAutoFit/>
          </a:bodyPr>
          <a:lstStyle/>
          <a:p>
            <a:pPr algn="ctr">
              <a:lnSpc>
                <a:spcPct val="110000"/>
              </a:lnSpc>
              <a:spcAft>
                <a:spcPts val="0"/>
              </a:spcAft>
              <a:defRPr sz="1100" b="1">
                <a:solidFill>
                  <a:srgbClr val="2D76C5"/>
                </a:solidFill>
                <a:latin typeface="Arial"/>
              </a:defRPr>
            </a:pPr>
            <a:r>
              <a:t>ĐỀ TÀI</a:t>
            </a:r>
          </a:p>
        </p:txBody>
      </p:sp>
      <p:sp>
        <p:nvSpPr>
          <p:cNvPr id="10" name="TextBox 9"/>
          <p:cNvSpPr txBox="1"/>
          <p:nvPr/>
        </p:nvSpPr>
        <p:spPr>
          <a:xfrm>
            <a:off x="594360" y="1197864"/>
            <a:ext cx="6675120" cy="2039112"/>
          </a:xfrm>
          <a:prstGeom prst="rect">
            <a:avLst/>
          </a:prstGeom>
          <a:noFill/>
          <a:effectLst/>
        </p:spPr>
        <p:txBody>
          <a:bodyPr wrap="square" lIns="0" rIns="0" tIns="0" bIns="0">
            <a:spAutoFit/>
          </a:bodyPr>
          <a:lstStyle/>
          <a:p>
            <a:pPr>
              <a:lnSpc>
                <a:spcPct val="102000"/>
              </a:lnSpc>
              <a:spcAft>
                <a:spcPts val="0"/>
              </a:spcAft>
              <a:defRPr sz="3800" b="1">
                <a:solidFill>
                  <a:srgbClr val="164B80"/>
                </a:solidFill>
                <a:latin typeface="Arial"/>
              </a:defRPr>
            </a:pPr>
            <a:r>
              <a:t>CỔNG THEO DÕI</a:t>
            </a:r>
          </a:p>
          <a:p>
            <a:pPr>
              <a:lnSpc>
                <a:spcPct val="102000"/>
              </a:lnSpc>
              <a:spcAft>
                <a:spcPts val="0"/>
              </a:spcAft>
              <a:defRPr sz="3800" b="1">
                <a:solidFill>
                  <a:srgbClr val="164B80"/>
                </a:solidFill>
                <a:latin typeface="Arial"/>
              </a:defRPr>
            </a:pPr>
            <a:r>
              <a:t>TIÊM CHỦNG</a:t>
            </a:r>
          </a:p>
          <a:p>
            <a:pPr>
              <a:lnSpc>
                <a:spcPct val="102000"/>
              </a:lnSpc>
              <a:spcAft>
                <a:spcPts val="0"/>
              </a:spcAft>
              <a:defRPr sz="3800" b="1">
                <a:solidFill>
                  <a:srgbClr val="164B80"/>
                </a:solidFill>
                <a:latin typeface="Arial"/>
              </a:defRPr>
            </a:pPr>
            <a:r>
              <a:t>CỘNG ĐỒNG</a:t>
            </a:r>
          </a:p>
        </p:txBody>
      </p:sp>
      <p:sp>
        <p:nvSpPr>
          <p:cNvPr id="11" name="TextBox 10"/>
          <p:cNvSpPr txBox="1"/>
          <p:nvPr/>
        </p:nvSpPr>
        <p:spPr>
          <a:xfrm>
            <a:off x="630936" y="3447288"/>
            <a:ext cx="6629400" cy="704088"/>
          </a:xfrm>
          <a:prstGeom prst="rect">
            <a:avLst/>
          </a:prstGeom>
          <a:noFill/>
          <a:effectLst/>
        </p:spPr>
        <p:txBody>
          <a:bodyPr wrap="square" lIns="0" rIns="0" tIns="0" bIns="0">
            <a:spAutoFit/>
          </a:bodyPr>
          <a:lstStyle/>
          <a:p>
            <a:pPr>
              <a:lnSpc>
                <a:spcPct val="110000"/>
              </a:lnSpc>
              <a:spcAft>
                <a:spcPts val="0"/>
              </a:spcAft>
              <a:defRPr sz="1800" b="0">
                <a:solidFill>
                  <a:srgbClr val="617E99"/>
                </a:solidFill>
                <a:latin typeface="Arial"/>
              </a:defRPr>
            </a:pPr>
            <a:r>
              <a:t>Phân tích và thiết kế hệ thống theo phương pháp lập trình hướng đối tượng</a:t>
            </a:r>
          </a:p>
        </p:txBody>
      </p:sp>
      <p:pic>
        <p:nvPicPr>
          <p:cNvPr id="12" name="Picture 11" descr="bac_si_tiem_chung_3d.png"/>
          <p:cNvPicPr>
            <a:picLocks noChangeAspect="1"/>
          </p:cNvPicPr>
          <p:nvPr/>
        </p:nvPicPr>
        <p:blipFill>
          <a:blip r:embed="rId2"/>
          <a:stretch>
            <a:fillRect/>
          </a:stretch>
        </p:blipFill>
        <p:spPr>
          <a:xfrm>
            <a:off x="7525511" y="1161288"/>
            <a:ext cx="4297680" cy="4297680"/>
          </a:xfrm>
          <a:prstGeom prst="rect">
            <a:avLst/>
          </a:prstGeom>
          <a:effectLst/>
        </p:spPr>
      </p:pic>
      <p:sp>
        <p:nvSpPr>
          <p:cNvPr id="13" name="Rounded Rectangle 12"/>
          <p:cNvSpPr/>
          <p:nvPr/>
        </p:nvSpPr>
        <p:spPr>
          <a:xfrm>
            <a:off x="617220" y="4375404"/>
            <a:ext cx="6748272" cy="1828800"/>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576072" y="4315968"/>
            <a:ext cx="6748272" cy="1828800"/>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95528" y="4507992"/>
            <a:ext cx="2834640" cy="182880"/>
          </a:xfrm>
          <a:prstGeom prst="rect">
            <a:avLst/>
          </a:prstGeom>
          <a:noFill/>
          <a:effectLst/>
        </p:spPr>
        <p:txBody>
          <a:bodyPr wrap="square" lIns="0" rIns="0" tIns="0" bIns="0">
            <a:spAutoFit/>
          </a:bodyPr>
          <a:lstStyle/>
          <a:p>
            <a:pPr>
              <a:lnSpc>
                <a:spcPct val="110000"/>
              </a:lnSpc>
              <a:spcAft>
                <a:spcPts val="0"/>
              </a:spcAft>
              <a:defRPr sz="900" b="1">
                <a:solidFill>
                  <a:srgbClr val="2D76C5"/>
                </a:solidFill>
                <a:latin typeface="Arial"/>
              </a:defRPr>
            </a:pPr>
            <a:r>
              <a:t>SINH VIÊN</a:t>
            </a:r>
          </a:p>
        </p:txBody>
      </p:sp>
      <p:sp>
        <p:nvSpPr>
          <p:cNvPr id="16" name="TextBox 15"/>
          <p:cNvSpPr txBox="1"/>
          <p:nvPr/>
        </p:nvSpPr>
        <p:spPr>
          <a:xfrm>
            <a:off x="795528" y="4709159"/>
            <a:ext cx="2926080" cy="320040"/>
          </a:xfrm>
          <a:prstGeom prst="rect">
            <a:avLst/>
          </a:prstGeom>
          <a:noFill/>
          <a:effectLst/>
        </p:spPr>
        <p:txBody>
          <a:bodyPr wrap="square" lIns="0" rIns="0" tIns="0" bIns="0">
            <a:spAutoFit/>
          </a:bodyPr>
          <a:lstStyle/>
          <a:p>
            <a:pPr>
              <a:lnSpc>
                <a:spcPct val="110000"/>
              </a:lnSpc>
              <a:spcAft>
                <a:spcPts val="0"/>
              </a:spcAft>
              <a:defRPr sz="1700" b="1">
                <a:solidFill>
                  <a:srgbClr val="294B6D"/>
                </a:solidFill>
                <a:latin typeface="Arial"/>
              </a:defRPr>
            </a:pPr>
            <a:r>
              <a:t>Phan Trọng Phúc</a:t>
            </a:r>
          </a:p>
        </p:txBody>
      </p:sp>
      <p:sp>
        <p:nvSpPr>
          <p:cNvPr id="17" name="TextBox 16"/>
          <p:cNvSpPr txBox="1"/>
          <p:nvPr/>
        </p:nvSpPr>
        <p:spPr>
          <a:xfrm>
            <a:off x="3995928" y="4507992"/>
            <a:ext cx="2834640" cy="182880"/>
          </a:xfrm>
          <a:prstGeom prst="rect">
            <a:avLst/>
          </a:prstGeom>
          <a:noFill/>
          <a:effectLst/>
        </p:spPr>
        <p:txBody>
          <a:bodyPr wrap="square" lIns="0" rIns="0" tIns="0" bIns="0">
            <a:spAutoFit/>
          </a:bodyPr>
          <a:lstStyle/>
          <a:p>
            <a:pPr>
              <a:lnSpc>
                <a:spcPct val="110000"/>
              </a:lnSpc>
              <a:spcAft>
                <a:spcPts val="0"/>
              </a:spcAft>
              <a:defRPr sz="900" b="1">
                <a:solidFill>
                  <a:srgbClr val="2D76C5"/>
                </a:solidFill>
                <a:latin typeface="Arial"/>
              </a:defRPr>
            </a:pPr>
            <a:r>
              <a:t>MSSV</a:t>
            </a:r>
          </a:p>
        </p:txBody>
      </p:sp>
      <p:sp>
        <p:nvSpPr>
          <p:cNvPr id="18" name="TextBox 17"/>
          <p:cNvSpPr txBox="1"/>
          <p:nvPr/>
        </p:nvSpPr>
        <p:spPr>
          <a:xfrm>
            <a:off x="3995928" y="4709159"/>
            <a:ext cx="2926080" cy="320040"/>
          </a:xfrm>
          <a:prstGeom prst="rect">
            <a:avLst/>
          </a:prstGeom>
          <a:noFill/>
          <a:effectLst/>
        </p:spPr>
        <p:txBody>
          <a:bodyPr wrap="square" lIns="0" rIns="0" tIns="0" bIns="0">
            <a:spAutoFit/>
          </a:bodyPr>
          <a:lstStyle/>
          <a:p>
            <a:pPr>
              <a:lnSpc>
                <a:spcPct val="110000"/>
              </a:lnSpc>
              <a:spcAft>
                <a:spcPts val="0"/>
              </a:spcAft>
              <a:defRPr sz="1700" b="1">
                <a:solidFill>
                  <a:srgbClr val="294B6D"/>
                </a:solidFill>
                <a:latin typeface="Arial"/>
              </a:defRPr>
            </a:pPr>
            <a:r>
              <a:t>1250080148</a:t>
            </a:r>
          </a:p>
        </p:txBody>
      </p:sp>
      <p:sp>
        <p:nvSpPr>
          <p:cNvPr id="19" name="TextBox 18"/>
          <p:cNvSpPr txBox="1"/>
          <p:nvPr/>
        </p:nvSpPr>
        <p:spPr>
          <a:xfrm>
            <a:off x="795528" y="5093208"/>
            <a:ext cx="2834640" cy="182880"/>
          </a:xfrm>
          <a:prstGeom prst="rect">
            <a:avLst/>
          </a:prstGeom>
          <a:noFill/>
          <a:effectLst/>
        </p:spPr>
        <p:txBody>
          <a:bodyPr wrap="square" lIns="0" rIns="0" tIns="0" bIns="0">
            <a:spAutoFit/>
          </a:bodyPr>
          <a:lstStyle/>
          <a:p>
            <a:pPr>
              <a:lnSpc>
                <a:spcPct val="110000"/>
              </a:lnSpc>
              <a:spcAft>
                <a:spcPts val="0"/>
              </a:spcAft>
              <a:defRPr sz="900" b="1">
                <a:solidFill>
                  <a:srgbClr val="2D76C5"/>
                </a:solidFill>
                <a:latin typeface="Arial"/>
              </a:defRPr>
            </a:pPr>
            <a:r>
              <a:t>LỚP</a:t>
            </a:r>
          </a:p>
        </p:txBody>
      </p:sp>
      <p:sp>
        <p:nvSpPr>
          <p:cNvPr id="20" name="TextBox 19"/>
          <p:cNvSpPr txBox="1"/>
          <p:nvPr/>
        </p:nvSpPr>
        <p:spPr>
          <a:xfrm>
            <a:off x="795528" y="5294376"/>
            <a:ext cx="2926080" cy="320040"/>
          </a:xfrm>
          <a:prstGeom prst="rect">
            <a:avLst/>
          </a:prstGeom>
          <a:noFill/>
          <a:effectLst/>
        </p:spPr>
        <p:txBody>
          <a:bodyPr wrap="square" lIns="0" rIns="0" tIns="0" bIns="0">
            <a:spAutoFit/>
          </a:bodyPr>
          <a:lstStyle/>
          <a:p>
            <a:pPr>
              <a:lnSpc>
                <a:spcPct val="110000"/>
              </a:lnSpc>
              <a:spcAft>
                <a:spcPts val="0"/>
              </a:spcAft>
              <a:defRPr sz="1700" b="1">
                <a:solidFill>
                  <a:srgbClr val="294B6D"/>
                </a:solidFill>
                <a:latin typeface="Arial"/>
              </a:defRPr>
            </a:pPr>
            <a:r>
              <a:t>12CNPM2</a:t>
            </a:r>
          </a:p>
        </p:txBody>
      </p:sp>
      <p:sp>
        <p:nvSpPr>
          <p:cNvPr id="21" name="TextBox 20"/>
          <p:cNvSpPr txBox="1"/>
          <p:nvPr/>
        </p:nvSpPr>
        <p:spPr>
          <a:xfrm>
            <a:off x="3995928" y="5093208"/>
            <a:ext cx="2834640" cy="182880"/>
          </a:xfrm>
          <a:prstGeom prst="rect">
            <a:avLst/>
          </a:prstGeom>
          <a:noFill/>
          <a:effectLst/>
        </p:spPr>
        <p:txBody>
          <a:bodyPr wrap="square" lIns="0" rIns="0" tIns="0" bIns="0">
            <a:spAutoFit/>
          </a:bodyPr>
          <a:lstStyle/>
          <a:p>
            <a:pPr>
              <a:lnSpc>
                <a:spcPct val="110000"/>
              </a:lnSpc>
              <a:spcAft>
                <a:spcPts val="0"/>
              </a:spcAft>
              <a:defRPr sz="900" b="1">
                <a:solidFill>
                  <a:srgbClr val="2D76C5"/>
                </a:solidFill>
                <a:latin typeface="Arial"/>
              </a:defRPr>
            </a:pPr>
            <a:r>
              <a:t>GIẢNG VIÊN</a:t>
            </a:r>
          </a:p>
        </p:txBody>
      </p:sp>
      <p:sp>
        <p:nvSpPr>
          <p:cNvPr id="22" name="TextBox 21"/>
          <p:cNvSpPr txBox="1"/>
          <p:nvPr/>
        </p:nvSpPr>
        <p:spPr>
          <a:xfrm>
            <a:off x="3995928" y="5294376"/>
            <a:ext cx="2926080" cy="320040"/>
          </a:xfrm>
          <a:prstGeom prst="rect">
            <a:avLst/>
          </a:prstGeom>
          <a:noFill/>
          <a:effectLst/>
        </p:spPr>
        <p:txBody>
          <a:bodyPr wrap="square" lIns="0" rIns="0" tIns="0" bIns="0">
            <a:spAutoFit/>
          </a:bodyPr>
          <a:lstStyle/>
          <a:p>
            <a:pPr>
              <a:lnSpc>
                <a:spcPct val="110000"/>
              </a:lnSpc>
              <a:spcAft>
                <a:spcPts val="0"/>
              </a:spcAft>
              <a:defRPr sz="1700" b="1">
                <a:solidFill>
                  <a:srgbClr val="294B6D"/>
                </a:solidFill>
                <a:latin typeface="Arial"/>
              </a:defRPr>
            </a:pPr>
            <a:r>
              <a:t>Phạm Trọng Huynh</a:t>
            </a:r>
          </a:p>
        </p:txBody>
      </p:sp>
      <p:sp>
        <p:nvSpPr>
          <p:cNvPr id="23" name="TextBox 22"/>
          <p:cNvSpPr txBox="1"/>
          <p:nvPr/>
        </p:nvSpPr>
        <p:spPr>
          <a:xfrm>
            <a:off x="795528" y="5705856"/>
            <a:ext cx="1051560" cy="182880"/>
          </a:xfrm>
          <a:prstGeom prst="rect">
            <a:avLst/>
          </a:prstGeom>
          <a:noFill/>
          <a:effectLst/>
        </p:spPr>
        <p:txBody>
          <a:bodyPr wrap="square" lIns="0" rIns="0" tIns="0" bIns="0">
            <a:spAutoFit/>
          </a:bodyPr>
          <a:lstStyle/>
          <a:p>
            <a:pPr>
              <a:lnSpc>
                <a:spcPct val="110000"/>
              </a:lnSpc>
              <a:spcAft>
                <a:spcPts val="0"/>
              </a:spcAft>
              <a:defRPr sz="900" b="1">
                <a:solidFill>
                  <a:srgbClr val="2D76C5"/>
                </a:solidFill>
                <a:latin typeface="Arial"/>
              </a:defRPr>
            </a:pPr>
            <a:r>
              <a:t>MÔN HỌC</a:t>
            </a:r>
          </a:p>
        </p:txBody>
      </p:sp>
      <p:sp>
        <p:nvSpPr>
          <p:cNvPr id="24" name="TextBox 23"/>
          <p:cNvSpPr txBox="1"/>
          <p:nvPr/>
        </p:nvSpPr>
        <p:spPr>
          <a:xfrm>
            <a:off x="1828800" y="5669280"/>
            <a:ext cx="5212080" cy="320040"/>
          </a:xfrm>
          <a:prstGeom prst="rect">
            <a:avLst/>
          </a:prstGeom>
          <a:noFill/>
          <a:effectLst/>
        </p:spPr>
        <p:txBody>
          <a:bodyPr wrap="square" lIns="0" rIns="0" tIns="0" bIns="0">
            <a:spAutoFit/>
          </a:bodyPr>
          <a:lstStyle/>
          <a:p>
            <a:pPr>
              <a:lnSpc>
                <a:spcPct val="110000"/>
              </a:lnSpc>
              <a:spcAft>
                <a:spcPts val="0"/>
              </a:spcAft>
              <a:defRPr sz="1300" b="0">
                <a:solidFill>
                  <a:srgbClr val="294B6D"/>
                </a:solidFill>
                <a:latin typeface="Arial"/>
              </a:defRPr>
            </a:pPr>
            <a:r>
              <a:t>Phương pháp lập trình hướng đối tượng</a:t>
            </a:r>
          </a:p>
        </p:txBody>
      </p:sp>
      <p:sp>
        <p:nvSpPr>
          <p:cNvPr id="25" name="Rounded Rectangle 24"/>
          <p:cNvSpPr/>
          <p:nvPr/>
        </p:nvSpPr>
        <p:spPr>
          <a:xfrm>
            <a:off x="7740396" y="5582412"/>
            <a:ext cx="3840480" cy="640080"/>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7699248" y="5522976"/>
            <a:ext cx="3840480" cy="640080"/>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863840" y="5605272"/>
            <a:ext cx="3474720" cy="146304"/>
          </a:xfrm>
          <a:prstGeom prst="rect">
            <a:avLst/>
          </a:prstGeom>
          <a:noFill/>
          <a:effectLst/>
        </p:spPr>
        <p:txBody>
          <a:bodyPr wrap="square" lIns="0" rIns="0" tIns="0" bIns="0">
            <a:spAutoFit/>
          </a:bodyPr>
          <a:lstStyle/>
          <a:p>
            <a:pPr>
              <a:lnSpc>
                <a:spcPct val="110000"/>
              </a:lnSpc>
              <a:spcAft>
                <a:spcPts val="0"/>
              </a:spcAft>
              <a:defRPr sz="800" b="1">
                <a:solidFill>
                  <a:srgbClr val="2D76C5"/>
                </a:solidFill>
                <a:latin typeface="Arial"/>
              </a:defRPr>
            </a:pPr>
            <a:r>
              <a:t>NỘI DUNG</a:t>
            </a:r>
          </a:p>
        </p:txBody>
      </p:sp>
      <p:sp>
        <p:nvSpPr>
          <p:cNvPr id="28" name="TextBox 27"/>
          <p:cNvSpPr txBox="1"/>
          <p:nvPr/>
        </p:nvSpPr>
        <p:spPr>
          <a:xfrm>
            <a:off x="7863840" y="5815584"/>
            <a:ext cx="3566160" cy="329184"/>
          </a:xfrm>
          <a:prstGeom prst="rect">
            <a:avLst/>
          </a:prstGeom>
          <a:noFill/>
          <a:effectLst/>
        </p:spPr>
        <p:txBody>
          <a:bodyPr wrap="square" lIns="0" rIns="0" tIns="0" bIns="0">
            <a:spAutoFit/>
          </a:bodyPr>
          <a:lstStyle/>
          <a:p>
            <a:pPr>
              <a:lnSpc>
                <a:spcPct val="110000"/>
              </a:lnSpc>
              <a:spcAft>
                <a:spcPts val="0"/>
              </a:spcAft>
              <a:defRPr sz="950" b="0">
                <a:solidFill>
                  <a:srgbClr val="294B6D"/>
                </a:solidFill>
                <a:latin typeface="Arial"/>
              </a:defRPr>
            </a:pPr>
            <a:r>
              <a:t>01 USE CASE  ·  02 ACTIVITY  ·  03 SEQUENCE</a:t>
            </a:r>
          </a:p>
          <a:p>
            <a:pPr>
              <a:lnSpc>
                <a:spcPct val="110000"/>
              </a:lnSpc>
              <a:spcAft>
                <a:spcPts val="0"/>
              </a:spcAft>
              <a:defRPr sz="950" b="0">
                <a:solidFill>
                  <a:srgbClr val="294B6D"/>
                </a:solidFill>
                <a:latin typeface="Arial"/>
              </a:defRPr>
            </a:pPr>
            <a:r>
              <a:t>04 CLASS  ·  05 GIAO DIỆN  ·  06 KẾT LUẬN</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fill="hold"/>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fill="hold"/>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600" fill="hold"/>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600" fill="hold"/>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600" fill="hold"/>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600" fill="hold"/>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600" fill="hold"/>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600" fill="hold"/>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600" fill="hold"/>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600" fill="hold"/>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600" fill="hold"/>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600" fill="hold"/>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600" fill="hold"/>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600" fill="hold"/>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600" fill="hold"/>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600" fill="hold"/>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600" fill="hold"/>
                                        <p:tgtEl>
                                          <p:spTgt spid="2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600" fill="hold"/>
                                        <p:tgtEl>
                                          <p:spTgt spid="2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600" fill="hold"/>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66" dur="indefinite" fill="hold">
                <p:stCondLst>
                  <p:cond delay="750"/>
                </p:stCondLst>
                <p:childTnLst>
                  <p:animMotion origin="layout" path="M 0 0 L 0 -0.006000 E" pathEditMode="relative" rAng="0">
                    <p:cBhvr additive="base">
                      <p:cTn id="67" dur="2900" repeatCount="indefinite" autoRev="1" accel="50000" decel="50000" fill="hold"/>
                      <p:tgtEl>
                        <p:spTgt spid="12"/>
                      </p:tgtEl>
                    </p:cBhvr>
                  </p:animMotion>
                </p:childTnLst>
              </p:cTn>
            </p:par>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02</a:t>
            </a:r>
          </a:p>
        </p:txBody>
      </p:sp>
      <p:sp>
        <p:nvSpPr>
          <p:cNvPr id="6" name="Rounded Rectangle 5"/>
          <p:cNvSpPr/>
          <p:nvPr/>
        </p:nvSpPr>
        <p:spPr>
          <a:xfrm>
            <a:off x="566928" y="320040"/>
            <a:ext cx="2286000" cy="283464"/>
          </a:xfrm>
          <a:prstGeom prst="roundRect">
            <a:avLst>
              <a:gd name="adj" fmla="val 10000"/>
            </a:avLst>
          </a:prstGeom>
          <a:solidFill>
            <a:srgbClr val="E1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04088" y="383133"/>
            <a:ext cx="7315200" cy="182880"/>
          </a:xfrm>
          <a:prstGeom prst="rect">
            <a:avLst/>
          </a:prstGeom>
          <a:noFill/>
          <a:effectLst/>
        </p:spPr>
        <p:txBody>
          <a:bodyPr wrap="square" lIns="0" rIns="0" tIns="0" bIns="0">
            <a:spAutoFit/>
          </a:bodyPr>
          <a:lstStyle/>
          <a:p>
            <a:pPr>
              <a:lnSpc>
                <a:spcPct val="110000"/>
              </a:lnSpc>
              <a:spcAft>
                <a:spcPts val="0"/>
              </a:spcAft>
              <a:defRPr sz="1000" b="1">
                <a:solidFill>
                  <a:srgbClr val="2D76C5"/>
                </a:solidFill>
                <a:latin typeface="Arial"/>
              </a:defRPr>
            </a:pPr>
            <a:r>
              <a:t>MỤC ĐÍCH &amp; PHẠM VI</a:t>
            </a:r>
          </a:p>
        </p:txBody>
      </p:sp>
      <p:sp>
        <p:nvSpPr>
          <p:cNvPr id="8" name="TextBox 7"/>
          <p:cNvSpPr txBox="1"/>
          <p:nvPr/>
        </p:nvSpPr>
        <p:spPr>
          <a:xfrm>
            <a:off x="566928" y="804672"/>
            <a:ext cx="10241280" cy="521207"/>
          </a:xfrm>
          <a:prstGeom prst="rect">
            <a:avLst/>
          </a:prstGeom>
          <a:noFill/>
          <a:effectLst/>
        </p:spPr>
        <p:txBody>
          <a:bodyPr wrap="square" lIns="0" rIns="0" tIns="0" bIns="0">
            <a:spAutoFit/>
          </a:bodyPr>
          <a:lstStyle/>
          <a:p>
            <a:pPr>
              <a:lnSpc>
                <a:spcPct val="110000"/>
              </a:lnSpc>
              <a:spcAft>
                <a:spcPts val="0"/>
              </a:spcAft>
              <a:defRPr sz="3100" b="1">
                <a:solidFill>
                  <a:srgbClr val="164B80"/>
                </a:solidFill>
                <a:latin typeface="Arial"/>
              </a:defRPr>
            </a:pPr>
            <a:r>
              <a:t>MỤC TIÊU ĐỀ TÀI</a:t>
            </a:r>
          </a:p>
        </p:txBody>
      </p:sp>
      <p:pic>
        <p:nvPicPr>
          <p:cNvPr id="9" name="Picture 8" descr="vaccine_3d.png"/>
          <p:cNvPicPr>
            <a:picLocks noChangeAspect="1"/>
          </p:cNvPicPr>
          <p:nvPr/>
        </p:nvPicPr>
        <p:blipFill>
          <a:blip r:embed="rId2"/>
          <a:stretch>
            <a:fillRect/>
          </a:stretch>
        </p:blipFill>
        <p:spPr>
          <a:xfrm>
            <a:off x="8823960" y="1492758"/>
            <a:ext cx="2770632" cy="2308860"/>
          </a:xfrm>
          <a:prstGeom prst="rect">
            <a:avLst/>
          </a:prstGeom>
          <a:effectLst/>
        </p:spPr>
      </p:pic>
      <p:sp>
        <p:nvSpPr>
          <p:cNvPr id="10" name="TextBox 9"/>
          <p:cNvSpPr txBox="1"/>
          <p:nvPr/>
        </p:nvSpPr>
        <p:spPr>
          <a:xfrm>
            <a:off x="621792" y="1655064"/>
            <a:ext cx="8001000" cy="713232"/>
          </a:xfrm>
          <a:prstGeom prst="rect">
            <a:avLst/>
          </a:prstGeom>
          <a:noFill/>
          <a:effectLst/>
        </p:spPr>
        <p:txBody>
          <a:bodyPr wrap="square" lIns="0" rIns="0" tIns="0" bIns="0">
            <a:spAutoFit/>
          </a:bodyPr>
          <a:lstStyle/>
          <a:p>
            <a:pPr>
              <a:lnSpc>
                <a:spcPct val="110000"/>
              </a:lnSpc>
              <a:spcAft>
                <a:spcPts val="0"/>
              </a:spcAft>
              <a:defRPr sz="2400" b="1">
                <a:solidFill>
                  <a:srgbClr val="164B80"/>
                </a:solidFill>
                <a:latin typeface="Arial"/>
              </a:defRPr>
            </a:pPr>
            <a:r>
              <a:t>Số hóa quy trình theo dõi tiêm chủng cộng đồng</a:t>
            </a:r>
          </a:p>
        </p:txBody>
      </p:sp>
      <p:sp>
        <p:nvSpPr>
          <p:cNvPr id="11" name="TextBox 10"/>
          <p:cNvSpPr txBox="1"/>
          <p:nvPr/>
        </p:nvSpPr>
        <p:spPr>
          <a:xfrm>
            <a:off x="630936" y="2377440"/>
            <a:ext cx="7909560" cy="320040"/>
          </a:xfrm>
          <a:prstGeom prst="rect">
            <a:avLst/>
          </a:prstGeom>
          <a:noFill/>
          <a:effectLst/>
        </p:spPr>
        <p:txBody>
          <a:bodyPr wrap="square" lIns="0" rIns="0" tIns="0" bIns="0">
            <a:spAutoFit/>
          </a:bodyPr>
          <a:lstStyle/>
          <a:p>
            <a:pPr>
              <a:lnSpc>
                <a:spcPct val="110000"/>
              </a:lnSpc>
              <a:spcAft>
                <a:spcPts val="0"/>
              </a:spcAft>
              <a:defRPr sz="1900" b="0">
                <a:solidFill>
                  <a:srgbClr val="2D76C5"/>
                </a:solidFill>
                <a:latin typeface="Arial"/>
              </a:defRPr>
            </a:pPr>
            <a:r>
              <a:t>Tập trung, chính xác và thuận tiện.</a:t>
            </a:r>
          </a:p>
        </p:txBody>
      </p:sp>
      <p:sp>
        <p:nvSpPr>
          <p:cNvPr id="12" name="TextBox 11"/>
          <p:cNvSpPr txBox="1"/>
          <p:nvPr/>
        </p:nvSpPr>
        <p:spPr>
          <a:xfrm>
            <a:off x="630936" y="2834640"/>
            <a:ext cx="7982712" cy="1170432"/>
          </a:xfrm>
          <a:prstGeom prst="rect">
            <a:avLst/>
          </a:prstGeom>
          <a:noFill/>
          <a:effectLst/>
        </p:spPr>
        <p:txBody>
          <a:bodyPr wrap="square" lIns="0" rIns="0" tIns="0" bIns="0">
            <a:spAutoFit/>
          </a:bodyPr>
          <a:lstStyle/>
          <a:p>
            <a:pPr>
              <a:lnSpc>
                <a:spcPct val="110000"/>
              </a:lnSpc>
              <a:spcAft>
                <a:spcPts val="0"/>
              </a:spcAft>
              <a:defRPr sz="2000" b="0">
                <a:solidFill>
                  <a:srgbClr val="294B6D"/>
                </a:solidFill>
                <a:latin typeface="Arial"/>
              </a:defRPr>
            </a:pPr>
            <a:r>
              <a:t>Xây dựng cổng theo dõi tiêm chủng cộng đồng, giúp số hóa quá trình từ đăng ký lịch đến ghi nhận và theo dõi các mũi tiêm. Qua đó, giúp người dân chủ động tiêm đúng lịch và hỗ trợ quản lý thông tin tập trung, chính xác, thuận tiện hơn.</a:t>
            </a:r>
          </a:p>
        </p:txBody>
      </p:sp>
      <p:sp>
        <p:nvSpPr>
          <p:cNvPr id="13" name="Rounded Rectangle 12"/>
          <p:cNvSpPr/>
          <p:nvPr/>
        </p:nvSpPr>
        <p:spPr>
          <a:xfrm>
            <a:off x="635508" y="4375404"/>
            <a:ext cx="3529584" cy="1508760"/>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594360" y="4315968"/>
            <a:ext cx="3529584" cy="1508760"/>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95528" y="4507992"/>
            <a:ext cx="457200" cy="256032"/>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01</a:t>
            </a:r>
          </a:p>
        </p:txBody>
      </p:sp>
      <p:sp>
        <p:nvSpPr>
          <p:cNvPr id="16" name="TextBox 15"/>
          <p:cNvSpPr txBox="1"/>
          <p:nvPr/>
        </p:nvSpPr>
        <p:spPr>
          <a:xfrm>
            <a:off x="795528" y="4828032"/>
            <a:ext cx="3127248" cy="310896"/>
          </a:xfrm>
          <a:prstGeom prst="rect">
            <a:avLst/>
          </a:prstGeom>
          <a:noFill/>
          <a:effectLst/>
        </p:spPr>
        <p:txBody>
          <a:bodyPr wrap="square" lIns="0" rIns="0" tIns="0" bIns="0">
            <a:spAutoFit/>
          </a:bodyPr>
          <a:lstStyle/>
          <a:p>
            <a:pPr>
              <a:lnSpc>
                <a:spcPct val="110000"/>
              </a:lnSpc>
              <a:spcAft>
                <a:spcPts val="0"/>
              </a:spcAft>
              <a:defRPr sz="2000" b="1">
                <a:solidFill>
                  <a:srgbClr val="164B80"/>
                </a:solidFill>
                <a:latin typeface="Arial"/>
              </a:defRPr>
            </a:pPr>
            <a:r>
              <a:t>Người dân</a:t>
            </a:r>
          </a:p>
        </p:txBody>
      </p:sp>
      <p:sp>
        <p:nvSpPr>
          <p:cNvPr id="17" name="TextBox 16"/>
          <p:cNvSpPr txBox="1"/>
          <p:nvPr/>
        </p:nvSpPr>
        <p:spPr>
          <a:xfrm>
            <a:off x="795528" y="5248656"/>
            <a:ext cx="3127248" cy="438912"/>
          </a:xfrm>
          <a:prstGeom prst="rect">
            <a:avLst/>
          </a:prstGeom>
          <a:noFill/>
          <a:effectLst/>
        </p:spPr>
        <p:txBody>
          <a:bodyPr wrap="square" lIns="0" rIns="0" tIns="0" bIns="0">
            <a:spAutoFit/>
          </a:bodyPr>
          <a:lstStyle/>
          <a:p>
            <a:pPr>
              <a:lnSpc>
                <a:spcPct val="104000"/>
              </a:lnSpc>
              <a:spcAft>
                <a:spcPts val="0"/>
              </a:spcAft>
              <a:defRPr sz="1650" b="0">
                <a:solidFill>
                  <a:srgbClr val="294B6D"/>
                </a:solidFill>
                <a:latin typeface="Arial"/>
              </a:defRPr>
            </a:pPr>
            <a:r>
              <a:t>Đăng ký lịch, tra cứu lịch sử và nhận nhắc lịch.</a:t>
            </a:r>
          </a:p>
        </p:txBody>
      </p:sp>
      <p:sp>
        <p:nvSpPr>
          <p:cNvPr id="18" name="Rounded Rectangle 17"/>
          <p:cNvSpPr/>
          <p:nvPr/>
        </p:nvSpPr>
        <p:spPr>
          <a:xfrm>
            <a:off x="4366260" y="4375404"/>
            <a:ext cx="3529584" cy="1508760"/>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4325112" y="4315968"/>
            <a:ext cx="3529584" cy="1508760"/>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526280" y="4507992"/>
            <a:ext cx="457200" cy="256032"/>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02</a:t>
            </a:r>
          </a:p>
        </p:txBody>
      </p:sp>
      <p:sp>
        <p:nvSpPr>
          <p:cNvPr id="21" name="TextBox 20"/>
          <p:cNvSpPr txBox="1"/>
          <p:nvPr/>
        </p:nvSpPr>
        <p:spPr>
          <a:xfrm>
            <a:off x="4526280" y="4828032"/>
            <a:ext cx="3127248" cy="310896"/>
          </a:xfrm>
          <a:prstGeom prst="rect">
            <a:avLst/>
          </a:prstGeom>
          <a:noFill/>
          <a:effectLst/>
        </p:spPr>
        <p:txBody>
          <a:bodyPr wrap="square" lIns="0" rIns="0" tIns="0" bIns="0">
            <a:spAutoFit/>
          </a:bodyPr>
          <a:lstStyle/>
          <a:p>
            <a:pPr>
              <a:lnSpc>
                <a:spcPct val="110000"/>
              </a:lnSpc>
              <a:spcAft>
                <a:spcPts val="0"/>
              </a:spcAft>
              <a:defRPr sz="2000" b="1">
                <a:solidFill>
                  <a:srgbClr val="164B80"/>
                </a:solidFill>
                <a:latin typeface="Arial"/>
              </a:defRPr>
            </a:pPr>
            <a:r>
              <a:t>Nhân viên</a:t>
            </a:r>
          </a:p>
        </p:txBody>
      </p:sp>
      <p:sp>
        <p:nvSpPr>
          <p:cNvPr id="22" name="TextBox 21"/>
          <p:cNvSpPr txBox="1"/>
          <p:nvPr/>
        </p:nvSpPr>
        <p:spPr>
          <a:xfrm>
            <a:off x="4526280" y="5248656"/>
            <a:ext cx="3127248" cy="438912"/>
          </a:xfrm>
          <a:prstGeom prst="rect">
            <a:avLst/>
          </a:prstGeom>
          <a:noFill/>
          <a:effectLst/>
        </p:spPr>
        <p:txBody>
          <a:bodyPr wrap="square" lIns="0" rIns="0" tIns="0" bIns="0">
            <a:spAutoFit/>
          </a:bodyPr>
          <a:lstStyle/>
          <a:p>
            <a:pPr>
              <a:lnSpc>
                <a:spcPct val="104000"/>
              </a:lnSpc>
              <a:spcAft>
                <a:spcPts val="0"/>
              </a:spcAft>
              <a:defRPr sz="1650" b="0">
                <a:solidFill>
                  <a:srgbClr val="294B6D"/>
                </a:solidFill>
                <a:latin typeface="Arial"/>
              </a:defRPr>
            </a:pPr>
            <a:r>
              <a:t>Quản lý lịch, vaccine/lô và ghi nhận mũi tiêm.</a:t>
            </a:r>
          </a:p>
        </p:txBody>
      </p:sp>
      <p:sp>
        <p:nvSpPr>
          <p:cNvPr id="23" name="Rounded Rectangle 22"/>
          <p:cNvSpPr/>
          <p:nvPr/>
        </p:nvSpPr>
        <p:spPr>
          <a:xfrm>
            <a:off x="8097012" y="4375404"/>
            <a:ext cx="3529584" cy="1508760"/>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8055864" y="4315968"/>
            <a:ext cx="3529584" cy="1508760"/>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57032" y="4507992"/>
            <a:ext cx="457200" cy="256032"/>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03</a:t>
            </a:r>
          </a:p>
        </p:txBody>
      </p:sp>
      <p:sp>
        <p:nvSpPr>
          <p:cNvPr id="26" name="TextBox 25"/>
          <p:cNvSpPr txBox="1"/>
          <p:nvPr/>
        </p:nvSpPr>
        <p:spPr>
          <a:xfrm>
            <a:off x="8257032" y="4828032"/>
            <a:ext cx="3127248" cy="310896"/>
          </a:xfrm>
          <a:prstGeom prst="rect">
            <a:avLst/>
          </a:prstGeom>
          <a:noFill/>
          <a:effectLst/>
        </p:spPr>
        <p:txBody>
          <a:bodyPr wrap="square" lIns="0" rIns="0" tIns="0" bIns="0">
            <a:spAutoFit/>
          </a:bodyPr>
          <a:lstStyle/>
          <a:p>
            <a:pPr>
              <a:lnSpc>
                <a:spcPct val="110000"/>
              </a:lnSpc>
              <a:spcAft>
                <a:spcPts val="0"/>
              </a:spcAft>
              <a:defRPr sz="2000" b="1">
                <a:solidFill>
                  <a:srgbClr val="164B80"/>
                </a:solidFill>
                <a:latin typeface="Arial"/>
              </a:defRPr>
            </a:pPr>
            <a:r>
              <a:t>Quản trị viên</a:t>
            </a:r>
          </a:p>
        </p:txBody>
      </p:sp>
      <p:sp>
        <p:nvSpPr>
          <p:cNvPr id="27" name="TextBox 26"/>
          <p:cNvSpPr txBox="1"/>
          <p:nvPr/>
        </p:nvSpPr>
        <p:spPr>
          <a:xfrm>
            <a:off x="8257032" y="5248656"/>
            <a:ext cx="3127248" cy="438912"/>
          </a:xfrm>
          <a:prstGeom prst="rect">
            <a:avLst/>
          </a:prstGeom>
          <a:noFill/>
          <a:effectLst/>
        </p:spPr>
        <p:txBody>
          <a:bodyPr wrap="square" lIns="0" rIns="0" tIns="0" bIns="0">
            <a:spAutoFit/>
          </a:bodyPr>
          <a:lstStyle/>
          <a:p>
            <a:pPr>
              <a:lnSpc>
                <a:spcPct val="104000"/>
              </a:lnSpc>
              <a:spcAft>
                <a:spcPts val="0"/>
              </a:spcAft>
              <a:defRPr sz="1650" b="0">
                <a:solidFill>
                  <a:srgbClr val="294B6D"/>
                </a:solidFill>
                <a:latin typeface="Arial"/>
              </a:defRPr>
            </a:pPr>
            <a:r>
              <a:t>Quản lý tài khoản, phân quyền và truy vết vaccine.</a:t>
            </a:r>
          </a:p>
        </p:txBody>
      </p:sp>
      <p:sp>
        <p:nvSpPr>
          <p:cNvPr id="28" name="TextBox 27"/>
          <p:cNvSpPr txBox="1"/>
          <p:nvPr/>
        </p:nvSpPr>
        <p:spPr>
          <a:xfrm>
            <a:off x="658368" y="6025896"/>
            <a:ext cx="10881360" cy="274320"/>
          </a:xfrm>
          <a:prstGeom prst="rect">
            <a:avLst/>
          </a:prstGeom>
          <a:noFill/>
          <a:effectLst/>
        </p:spPr>
        <p:txBody>
          <a:bodyPr wrap="square" lIns="0" rIns="0" tIns="0" bIns="0">
            <a:spAutoFit/>
          </a:bodyPr>
          <a:lstStyle/>
          <a:p>
            <a:pPr>
              <a:lnSpc>
                <a:spcPct val="110000"/>
              </a:lnSpc>
              <a:spcAft>
                <a:spcPts val="0"/>
              </a:spcAft>
              <a:defRPr sz="1500" b="0">
                <a:solidFill>
                  <a:srgbClr val="2D76C5"/>
                </a:solidFill>
                <a:latin typeface="Arial"/>
              </a:defRPr>
            </a:pPr>
            <a:r>
              <a:t>Kết nối dữ liệu tiêm chủng xuyên suốt từ đăng ký → xác nhận → tiêm → theo dõi.</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fill="hold"/>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fill="hold"/>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fill="hold"/>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fill="hold"/>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fill="hold"/>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600" fill="hold"/>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600" fill="hold"/>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00" fill="hold"/>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600" fill="hold"/>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600" fill="hold"/>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600" fill="hold"/>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600" fill="hold"/>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00" fill="hold"/>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00" fill="hold"/>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600" fill="hold"/>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600" fill="hold"/>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600" fill="hold"/>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600" fill="hold"/>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600" fill="hold"/>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600" fill="hold"/>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600" fill="hold"/>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600" fill="hold"/>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79" dur="indefinite" fill="hold">
                <p:stCondLst>
                  <p:cond delay="750"/>
                </p:stCondLst>
                <p:childTnLst>
                  <p:animMotion origin="layout" path="M 0 0 L 0 -0.006000 E" pathEditMode="relative" rAng="0">
                    <p:cBhvr additive="base">
                      <p:cTn id="80" dur="2900" repeatCount="indefinite" autoRev="1" accel="50000" decel="50000" fill="hold"/>
                      <p:tgtEl>
                        <p:spTgt spid="9"/>
                      </p:tgtEl>
                    </p:cBhvr>
                  </p:animMotion>
                </p:childTnLst>
              </p:cTn>
            </p:par>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03</a:t>
            </a:r>
          </a:p>
        </p:txBody>
      </p:sp>
      <p:sp>
        <p:nvSpPr>
          <p:cNvPr id="6" name="Rounded Rectangle 5"/>
          <p:cNvSpPr/>
          <p:nvPr/>
        </p:nvSpPr>
        <p:spPr>
          <a:xfrm>
            <a:off x="566928" y="320040"/>
            <a:ext cx="2286000" cy="283464"/>
          </a:xfrm>
          <a:prstGeom prst="roundRect">
            <a:avLst>
              <a:gd name="adj" fmla="val 10000"/>
            </a:avLst>
          </a:prstGeom>
          <a:solidFill>
            <a:srgbClr val="E1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04088" y="383133"/>
            <a:ext cx="7315200" cy="182880"/>
          </a:xfrm>
          <a:prstGeom prst="rect">
            <a:avLst/>
          </a:prstGeom>
          <a:noFill/>
          <a:effectLst/>
        </p:spPr>
        <p:txBody>
          <a:bodyPr wrap="square" lIns="0" rIns="0" tIns="0" bIns="0">
            <a:spAutoFit/>
          </a:bodyPr>
          <a:lstStyle/>
          <a:p>
            <a:pPr>
              <a:lnSpc>
                <a:spcPct val="110000"/>
              </a:lnSpc>
              <a:spcAft>
                <a:spcPts val="0"/>
              </a:spcAft>
              <a:defRPr sz="1000" b="1">
                <a:solidFill>
                  <a:srgbClr val="2D76C5"/>
                </a:solidFill>
                <a:latin typeface="Arial"/>
              </a:defRPr>
            </a:pPr>
            <a:r>
              <a:t>01 / MÔ HÌNH CHỨC NĂNG</a:t>
            </a:r>
          </a:p>
        </p:txBody>
      </p:sp>
      <p:sp>
        <p:nvSpPr>
          <p:cNvPr id="8" name="TextBox 7"/>
          <p:cNvSpPr txBox="1"/>
          <p:nvPr/>
        </p:nvSpPr>
        <p:spPr>
          <a:xfrm>
            <a:off x="566928" y="804672"/>
            <a:ext cx="10241280" cy="521207"/>
          </a:xfrm>
          <a:prstGeom prst="rect">
            <a:avLst/>
          </a:prstGeom>
          <a:noFill/>
          <a:effectLst/>
        </p:spPr>
        <p:txBody>
          <a:bodyPr wrap="square" lIns="0" rIns="0" tIns="0" bIns="0">
            <a:spAutoFit/>
          </a:bodyPr>
          <a:lstStyle/>
          <a:p>
            <a:pPr>
              <a:lnSpc>
                <a:spcPct val="110000"/>
              </a:lnSpc>
              <a:spcAft>
                <a:spcPts val="0"/>
              </a:spcAft>
              <a:defRPr sz="3100" b="1">
                <a:solidFill>
                  <a:srgbClr val="164B80"/>
                </a:solidFill>
                <a:latin typeface="Arial"/>
              </a:defRPr>
            </a:pPr>
            <a:r>
              <a:t>USE CASE</a:t>
            </a:r>
          </a:p>
        </p:txBody>
      </p:sp>
      <p:sp>
        <p:nvSpPr>
          <p:cNvPr id="9" name="TextBox 8"/>
          <p:cNvSpPr txBox="1"/>
          <p:nvPr/>
        </p:nvSpPr>
        <p:spPr>
          <a:xfrm>
            <a:off x="594360" y="1463040"/>
            <a:ext cx="10058400" cy="502920"/>
          </a:xfrm>
          <a:prstGeom prst="rect">
            <a:avLst/>
          </a:prstGeom>
          <a:noFill/>
          <a:effectLst/>
        </p:spPr>
        <p:txBody>
          <a:bodyPr wrap="square" lIns="0" rIns="0" tIns="0" bIns="0">
            <a:spAutoFit/>
          </a:bodyPr>
          <a:lstStyle/>
          <a:p>
            <a:pPr>
              <a:lnSpc>
                <a:spcPct val="110000"/>
              </a:lnSpc>
              <a:spcAft>
                <a:spcPts val="0"/>
              </a:spcAft>
              <a:defRPr sz="1700" b="0">
                <a:solidFill>
                  <a:srgbClr val="617E99"/>
                </a:solidFill>
                <a:latin typeface="Arial"/>
              </a:defRPr>
            </a:pPr>
            <a:r>
              <a:t>15 Use Case được phân chia rõ theo 3 nhóm người dùng chính.</a:t>
            </a:r>
          </a:p>
        </p:txBody>
      </p:sp>
      <p:pic>
        <p:nvPicPr>
          <p:cNvPr id="10" name="Picture 9" descr="vaccine_3d.png"/>
          <p:cNvPicPr>
            <a:picLocks noChangeAspect="1"/>
          </p:cNvPicPr>
          <p:nvPr/>
        </p:nvPicPr>
        <p:blipFill>
          <a:blip r:embed="rId2"/>
          <a:stretch>
            <a:fillRect/>
          </a:stretch>
        </p:blipFill>
        <p:spPr>
          <a:xfrm>
            <a:off x="10725912" y="385571"/>
            <a:ext cx="1005840" cy="838200"/>
          </a:xfrm>
          <a:prstGeom prst="rect">
            <a:avLst/>
          </a:prstGeom>
          <a:effectLst/>
        </p:spPr>
      </p:pic>
      <p:sp>
        <p:nvSpPr>
          <p:cNvPr id="11" name="TextBox 10"/>
          <p:cNvSpPr txBox="1"/>
          <p:nvPr/>
        </p:nvSpPr>
        <p:spPr>
          <a:xfrm>
            <a:off x="603504" y="2121408"/>
            <a:ext cx="914400" cy="621792"/>
          </a:xfrm>
          <a:prstGeom prst="rect">
            <a:avLst/>
          </a:prstGeom>
          <a:noFill/>
          <a:effectLst/>
        </p:spPr>
        <p:txBody>
          <a:bodyPr wrap="square" lIns="0" rIns="0" tIns="0" bIns="0">
            <a:spAutoFit/>
          </a:bodyPr>
          <a:lstStyle/>
          <a:p>
            <a:pPr>
              <a:lnSpc>
                <a:spcPct val="110000"/>
              </a:lnSpc>
              <a:spcAft>
                <a:spcPts val="0"/>
              </a:spcAft>
              <a:defRPr sz="4500" b="1">
                <a:solidFill>
                  <a:srgbClr val="2D76C5"/>
                </a:solidFill>
                <a:latin typeface="Arial"/>
              </a:defRPr>
            </a:pPr>
            <a:r>
              <a:t>15</a:t>
            </a:r>
          </a:p>
        </p:txBody>
      </p:sp>
      <p:sp>
        <p:nvSpPr>
          <p:cNvPr id="12" name="TextBox 11"/>
          <p:cNvSpPr txBox="1"/>
          <p:nvPr/>
        </p:nvSpPr>
        <p:spPr>
          <a:xfrm>
            <a:off x="1664208" y="2240280"/>
            <a:ext cx="1828800" cy="521207"/>
          </a:xfrm>
          <a:prstGeom prst="rect">
            <a:avLst/>
          </a:prstGeom>
          <a:noFill/>
          <a:effectLst/>
        </p:spPr>
        <p:txBody>
          <a:bodyPr wrap="square" lIns="0" rIns="0" tIns="0" bIns="0">
            <a:spAutoFit/>
          </a:bodyPr>
          <a:lstStyle/>
          <a:p>
            <a:pPr>
              <a:lnSpc>
                <a:spcPct val="110000"/>
              </a:lnSpc>
              <a:spcAft>
                <a:spcPts val="0"/>
              </a:spcAft>
              <a:defRPr sz="1400" b="1">
                <a:solidFill>
                  <a:srgbClr val="164B80"/>
                </a:solidFill>
                <a:latin typeface="Arial"/>
              </a:defRPr>
            </a:pPr>
            <a:r>
              <a:t>USE CASE</a:t>
            </a:r>
          </a:p>
          <a:p>
            <a:pPr>
              <a:lnSpc>
                <a:spcPct val="110000"/>
              </a:lnSpc>
              <a:spcAft>
                <a:spcPts val="0"/>
              </a:spcAft>
              <a:defRPr sz="1400" b="1">
                <a:solidFill>
                  <a:srgbClr val="164B80"/>
                </a:solidFill>
                <a:latin typeface="Arial"/>
              </a:defRPr>
            </a:pPr>
            <a:r>
              <a:t>Ba tác nhân chính</a:t>
            </a:r>
          </a:p>
        </p:txBody>
      </p:sp>
      <p:sp>
        <p:nvSpPr>
          <p:cNvPr id="13" name="TextBox 12"/>
          <p:cNvSpPr txBox="1"/>
          <p:nvPr/>
        </p:nvSpPr>
        <p:spPr>
          <a:xfrm>
            <a:off x="621792" y="3017520"/>
            <a:ext cx="2926080" cy="228600"/>
          </a:xfrm>
          <a:prstGeom prst="rect">
            <a:avLst/>
          </a:prstGeom>
          <a:noFill/>
          <a:effectLst/>
        </p:spPr>
        <p:txBody>
          <a:bodyPr wrap="square" lIns="0" rIns="0" tIns="0" bIns="0">
            <a:spAutoFit/>
          </a:bodyPr>
          <a:lstStyle/>
          <a:p>
            <a:pPr>
              <a:lnSpc>
                <a:spcPct val="110000"/>
              </a:lnSpc>
              <a:spcAft>
                <a:spcPts val="0"/>
              </a:spcAft>
              <a:defRPr sz="1300" b="1">
                <a:solidFill>
                  <a:srgbClr val="2D76C5"/>
                </a:solidFill>
                <a:latin typeface="Arial"/>
              </a:defRPr>
            </a:pPr>
            <a:r>
              <a:t>NGƯỜI DÂN</a:t>
            </a:r>
          </a:p>
        </p:txBody>
      </p:sp>
      <p:sp>
        <p:nvSpPr>
          <p:cNvPr id="14" name="TextBox 13"/>
          <p:cNvSpPr txBox="1"/>
          <p:nvPr/>
        </p:nvSpPr>
        <p:spPr>
          <a:xfrm>
            <a:off x="621792" y="3319272"/>
            <a:ext cx="2926080" cy="740664"/>
          </a:xfrm>
          <a:prstGeom prst="rect">
            <a:avLst/>
          </a:prstGeom>
          <a:noFill/>
          <a:effectLst/>
        </p:spPr>
        <p:txBody>
          <a:bodyPr wrap="square" lIns="0" rIns="0" tIns="0" bIns="0">
            <a:spAutoFit/>
          </a:bodyPr>
          <a:lstStyle/>
          <a:p>
            <a:pPr>
              <a:lnSpc>
                <a:spcPct val="105000"/>
              </a:lnSpc>
              <a:spcAft>
                <a:spcPts val="0"/>
              </a:spcAft>
              <a:defRPr sz="1600" b="0">
                <a:solidFill>
                  <a:srgbClr val="294B6D"/>
                </a:solidFill>
                <a:latin typeface="Arial"/>
              </a:defRPr>
            </a:pPr>
            <a:r>
              <a:t>Đăng ký/đăng nhập, hồ sơ, lịch tiêm, lịch sử, nhắc lịch</a:t>
            </a:r>
          </a:p>
        </p:txBody>
      </p:sp>
      <p:sp>
        <p:nvSpPr>
          <p:cNvPr id="15" name="TextBox 14"/>
          <p:cNvSpPr txBox="1"/>
          <p:nvPr/>
        </p:nvSpPr>
        <p:spPr>
          <a:xfrm>
            <a:off x="621792" y="4059936"/>
            <a:ext cx="2926080" cy="228600"/>
          </a:xfrm>
          <a:prstGeom prst="rect">
            <a:avLst/>
          </a:prstGeom>
          <a:noFill/>
          <a:effectLst/>
        </p:spPr>
        <p:txBody>
          <a:bodyPr wrap="square" lIns="0" rIns="0" tIns="0" bIns="0">
            <a:spAutoFit/>
          </a:bodyPr>
          <a:lstStyle/>
          <a:p>
            <a:pPr>
              <a:lnSpc>
                <a:spcPct val="110000"/>
              </a:lnSpc>
              <a:spcAft>
                <a:spcPts val="0"/>
              </a:spcAft>
              <a:defRPr sz="1300" b="1">
                <a:solidFill>
                  <a:srgbClr val="2D76C5"/>
                </a:solidFill>
                <a:latin typeface="Arial"/>
              </a:defRPr>
            </a:pPr>
            <a:r>
              <a:t>NHÂN VIÊN</a:t>
            </a:r>
          </a:p>
        </p:txBody>
      </p:sp>
      <p:sp>
        <p:nvSpPr>
          <p:cNvPr id="16" name="TextBox 15"/>
          <p:cNvSpPr txBox="1"/>
          <p:nvPr/>
        </p:nvSpPr>
        <p:spPr>
          <a:xfrm>
            <a:off x="621792" y="4361688"/>
            <a:ext cx="2926080" cy="740664"/>
          </a:xfrm>
          <a:prstGeom prst="rect">
            <a:avLst/>
          </a:prstGeom>
          <a:noFill/>
          <a:effectLst/>
        </p:spPr>
        <p:txBody>
          <a:bodyPr wrap="square" lIns="0" rIns="0" tIns="0" bIns="0">
            <a:spAutoFit/>
          </a:bodyPr>
          <a:lstStyle/>
          <a:p>
            <a:pPr>
              <a:lnSpc>
                <a:spcPct val="105000"/>
              </a:lnSpc>
              <a:spcAft>
                <a:spcPts val="0"/>
              </a:spcAft>
              <a:defRPr sz="1600" b="0">
                <a:solidFill>
                  <a:srgbClr val="294B6D"/>
                </a:solidFill>
                <a:latin typeface="Arial"/>
              </a:defRPr>
            </a:pPr>
            <a:r>
              <a:t>Quản lý lịch, vaccine, lô, chống chỉ định, ghi nhận mũi tiêm</a:t>
            </a:r>
          </a:p>
        </p:txBody>
      </p:sp>
      <p:sp>
        <p:nvSpPr>
          <p:cNvPr id="17" name="TextBox 16"/>
          <p:cNvSpPr txBox="1"/>
          <p:nvPr/>
        </p:nvSpPr>
        <p:spPr>
          <a:xfrm>
            <a:off x="621792" y="5175504"/>
            <a:ext cx="2926080" cy="228600"/>
          </a:xfrm>
          <a:prstGeom prst="rect">
            <a:avLst/>
          </a:prstGeom>
          <a:noFill/>
          <a:effectLst/>
        </p:spPr>
        <p:txBody>
          <a:bodyPr wrap="square" lIns="0" rIns="0" tIns="0" bIns="0">
            <a:spAutoFit/>
          </a:bodyPr>
          <a:lstStyle/>
          <a:p>
            <a:pPr>
              <a:lnSpc>
                <a:spcPct val="110000"/>
              </a:lnSpc>
              <a:spcAft>
                <a:spcPts val="0"/>
              </a:spcAft>
              <a:defRPr sz="1300" b="1">
                <a:solidFill>
                  <a:srgbClr val="2D76C5"/>
                </a:solidFill>
                <a:latin typeface="Arial"/>
              </a:defRPr>
            </a:pPr>
            <a:r>
              <a:t>QUẢN TRỊ VIÊN</a:t>
            </a:r>
          </a:p>
        </p:txBody>
      </p:sp>
      <p:sp>
        <p:nvSpPr>
          <p:cNvPr id="18" name="TextBox 17"/>
          <p:cNvSpPr txBox="1"/>
          <p:nvPr/>
        </p:nvSpPr>
        <p:spPr>
          <a:xfrm>
            <a:off x="621792" y="5477256"/>
            <a:ext cx="2926080" cy="740664"/>
          </a:xfrm>
          <a:prstGeom prst="rect">
            <a:avLst/>
          </a:prstGeom>
          <a:noFill/>
          <a:effectLst/>
        </p:spPr>
        <p:txBody>
          <a:bodyPr wrap="square" lIns="0" rIns="0" tIns="0" bIns="0">
            <a:spAutoFit/>
          </a:bodyPr>
          <a:lstStyle/>
          <a:p>
            <a:pPr>
              <a:lnSpc>
                <a:spcPct val="105000"/>
              </a:lnSpc>
              <a:spcAft>
                <a:spcPts val="0"/>
              </a:spcAft>
              <a:defRPr sz="1600" b="0">
                <a:solidFill>
                  <a:srgbClr val="294B6D"/>
                </a:solidFill>
                <a:latin typeface="Arial"/>
              </a:defRPr>
            </a:pPr>
            <a:r>
              <a:t>Tài khoản, phân quyền, vaccine/lô và truy vết</a:t>
            </a:r>
          </a:p>
        </p:txBody>
      </p:sp>
      <p:sp>
        <p:nvSpPr>
          <p:cNvPr id="19" name="Rounded Rectangle 18"/>
          <p:cNvSpPr/>
          <p:nvPr/>
        </p:nvSpPr>
        <p:spPr>
          <a:xfrm>
            <a:off x="3753611" y="2180844"/>
            <a:ext cx="4617720" cy="3877056"/>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3712463" y="2121408"/>
            <a:ext cx="4617720" cy="3877056"/>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3776472" y="2257564"/>
            <a:ext cx="4489704" cy="3604742"/>
          </a:xfrm>
          <a:prstGeom prst="rect">
            <a:avLst/>
          </a:prstGeom>
          <a:effectLst/>
        </p:spPr>
      </p:pic>
      <p:sp>
        <p:nvSpPr>
          <p:cNvPr id="22" name="Rounded Rectangle 21"/>
          <p:cNvSpPr/>
          <p:nvPr/>
        </p:nvSpPr>
        <p:spPr>
          <a:xfrm>
            <a:off x="8590788" y="2180844"/>
            <a:ext cx="3026664" cy="2167128"/>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8549640" y="2121408"/>
            <a:ext cx="3026664" cy="2167128"/>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8613648" y="2383068"/>
            <a:ext cx="2898648" cy="1643807"/>
          </a:xfrm>
          <a:prstGeom prst="rect">
            <a:avLst/>
          </a:prstGeom>
          <a:effectLst/>
        </p:spPr>
      </p:pic>
      <p:pic>
        <p:nvPicPr>
          <p:cNvPr id="25" name="Picture 24" descr="bac_si_tiem_chung_3d.png"/>
          <p:cNvPicPr>
            <a:picLocks noChangeAspect="1"/>
          </p:cNvPicPr>
          <p:nvPr/>
        </p:nvPicPr>
        <p:blipFill>
          <a:blip r:embed="rId5"/>
          <a:stretch>
            <a:fillRect/>
          </a:stretch>
        </p:blipFill>
        <p:spPr>
          <a:xfrm>
            <a:off x="9322308" y="4553712"/>
            <a:ext cx="1527048" cy="1527048"/>
          </a:xfrm>
          <a:prstGeom prst="rect">
            <a:avLst/>
          </a:prstGeom>
          <a:effectLst/>
        </p:spPr>
      </p:pic>
      <p:sp>
        <p:nvSpPr>
          <p:cNvPr id="26" name="TextBox 25"/>
          <p:cNvSpPr txBox="1"/>
          <p:nvPr/>
        </p:nvSpPr>
        <p:spPr>
          <a:xfrm>
            <a:off x="3730752" y="6108192"/>
            <a:ext cx="7818120" cy="219456"/>
          </a:xfrm>
          <a:prstGeom prst="rect">
            <a:avLst/>
          </a:prstGeom>
          <a:noFill/>
          <a:effectLst/>
        </p:spPr>
        <p:txBody>
          <a:bodyPr wrap="square" lIns="0" rIns="0" tIns="0" bIns="0">
            <a:spAutoFit/>
          </a:bodyPr>
          <a:lstStyle/>
          <a:p>
            <a:pPr>
              <a:lnSpc>
                <a:spcPct val="110000"/>
              </a:lnSpc>
              <a:spcAft>
                <a:spcPts val="0"/>
              </a:spcAft>
              <a:defRPr sz="1050" b="0">
                <a:solidFill>
                  <a:srgbClr val="617E99"/>
                </a:solidFill>
                <a:latin typeface="Arial"/>
              </a:defRPr>
            </a:pPr>
            <a:r>
              <a:t>Use Case tổng quát – ánh xạ đầy đủ quyền của Người dân, Nhân viên và Quản trị viên.</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fill="hold"/>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fill="hold"/>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fill="hold"/>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fill="hold"/>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fill="hold"/>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600" fill="hold"/>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600" fill="hold"/>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600" fill="hold"/>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600" fill="hold"/>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fill="hold"/>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fill="hold"/>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00" fill="hold"/>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fill="hold"/>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fill="hold"/>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600" fill="hold"/>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56" dur="indefinite" fill="hold">
                <p:stCondLst>
                  <p:cond delay="750"/>
                </p:stCondLst>
                <p:childTnLst>
                  <p:animMotion origin="layout" path="M 0 0 L 0 -0.006000 E" pathEditMode="relative" rAng="0">
                    <p:cBhvr additive="base">
                      <p:cTn id="57" dur="2900" repeatCount="indefinite" autoRev="1" accel="50000" decel="50000" fill="hold"/>
                      <p:tgtEl>
                        <p:spTgt spid="10"/>
                      </p:tgtEl>
                    </p:cBhvr>
                  </p:animMotion>
                </p:childTnLst>
              </p:cTn>
            </p:par>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04</a:t>
            </a:r>
          </a:p>
        </p:txBody>
      </p:sp>
      <p:sp>
        <p:nvSpPr>
          <p:cNvPr id="6" name="Rounded Rectangle 5"/>
          <p:cNvSpPr/>
          <p:nvPr/>
        </p:nvSpPr>
        <p:spPr>
          <a:xfrm>
            <a:off x="566928" y="320040"/>
            <a:ext cx="2286000" cy="283464"/>
          </a:xfrm>
          <a:prstGeom prst="roundRect">
            <a:avLst>
              <a:gd name="adj" fmla="val 10000"/>
            </a:avLst>
          </a:prstGeom>
          <a:solidFill>
            <a:srgbClr val="E1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04088" y="383133"/>
            <a:ext cx="7315200" cy="182880"/>
          </a:xfrm>
          <a:prstGeom prst="rect">
            <a:avLst/>
          </a:prstGeom>
          <a:noFill/>
          <a:effectLst/>
        </p:spPr>
        <p:txBody>
          <a:bodyPr wrap="square" lIns="0" rIns="0" tIns="0" bIns="0">
            <a:spAutoFit/>
          </a:bodyPr>
          <a:lstStyle/>
          <a:p>
            <a:pPr>
              <a:lnSpc>
                <a:spcPct val="110000"/>
              </a:lnSpc>
              <a:spcAft>
                <a:spcPts val="0"/>
              </a:spcAft>
              <a:defRPr sz="1000" b="1">
                <a:solidFill>
                  <a:srgbClr val="2D76C5"/>
                </a:solidFill>
                <a:latin typeface="Arial"/>
              </a:defRPr>
            </a:pPr>
            <a:r>
              <a:t>02 / LUỒNG NGHIỆP VỤ</a:t>
            </a:r>
          </a:p>
        </p:txBody>
      </p:sp>
      <p:sp>
        <p:nvSpPr>
          <p:cNvPr id="8" name="TextBox 7"/>
          <p:cNvSpPr txBox="1"/>
          <p:nvPr/>
        </p:nvSpPr>
        <p:spPr>
          <a:xfrm>
            <a:off x="566928" y="804672"/>
            <a:ext cx="10241280" cy="521207"/>
          </a:xfrm>
          <a:prstGeom prst="rect">
            <a:avLst/>
          </a:prstGeom>
          <a:noFill/>
          <a:effectLst/>
        </p:spPr>
        <p:txBody>
          <a:bodyPr wrap="square" lIns="0" rIns="0" tIns="0" bIns="0">
            <a:spAutoFit/>
          </a:bodyPr>
          <a:lstStyle/>
          <a:p>
            <a:pPr>
              <a:lnSpc>
                <a:spcPct val="110000"/>
              </a:lnSpc>
              <a:spcAft>
                <a:spcPts val="0"/>
              </a:spcAft>
              <a:defRPr sz="3100" b="1">
                <a:solidFill>
                  <a:srgbClr val="164B80"/>
                </a:solidFill>
                <a:latin typeface="Arial"/>
              </a:defRPr>
            </a:pPr>
            <a:r>
              <a:t>ACTIVITY DIAGRAM</a:t>
            </a:r>
          </a:p>
        </p:txBody>
      </p:sp>
      <p:sp>
        <p:nvSpPr>
          <p:cNvPr id="9" name="TextBox 8"/>
          <p:cNvSpPr txBox="1"/>
          <p:nvPr/>
        </p:nvSpPr>
        <p:spPr>
          <a:xfrm>
            <a:off x="594360" y="1463040"/>
            <a:ext cx="10058400" cy="502920"/>
          </a:xfrm>
          <a:prstGeom prst="rect">
            <a:avLst/>
          </a:prstGeom>
          <a:noFill/>
          <a:effectLst/>
        </p:spPr>
        <p:txBody>
          <a:bodyPr wrap="square" lIns="0" rIns="0" tIns="0" bIns="0">
            <a:spAutoFit/>
          </a:bodyPr>
          <a:lstStyle/>
          <a:p>
            <a:pPr>
              <a:lnSpc>
                <a:spcPct val="110000"/>
              </a:lnSpc>
              <a:spcAft>
                <a:spcPts val="0"/>
              </a:spcAft>
              <a:defRPr sz="1700" b="0">
                <a:solidFill>
                  <a:srgbClr val="617E99"/>
                </a:solidFill>
                <a:latin typeface="Arial"/>
              </a:defRPr>
            </a:pPr>
            <a:r>
              <a:t>Mô tả luồng nghiệp vụ giữa hai swimlane: Người dân và Hệ thống.</a:t>
            </a:r>
          </a:p>
        </p:txBody>
      </p:sp>
      <p:pic>
        <p:nvPicPr>
          <p:cNvPr id="10" name="Picture 9" descr="vaccine_3d.png"/>
          <p:cNvPicPr>
            <a:picLocks noChangeAspect="1"/>
          </p:cNvPicPr>
          <p:nvPr/>
        </p:nvPicPr>
        <p:blipFill>
          <a:blip r:embed="rId2"/>
          <a:stretch>
            <a:fillRect/>
          </a:stretch>
        </p:blipFill>
        <p:spPr>
          <a:xfrm>
            <a:off x="10725912" y="385571"/>
            <a:ext cx="1005840" cy="838200"/>
          </a:xfrm>
          <a:prstGeom prst="rect">
            <a:avLst/>
          </a:prstGeom>
          <a:effectLst/>
        </p:spPr>
      </p:pic>
      <p:sp>
        <p:nvSpPr>
          <p:cNvPr id="11" name="TextBox 10"/>
          <p:cNvSpPr txBox="1"/>
          <p:nvPr/>
        </p:nvSpPr>
        <p:spPr>
          <a:xfrm>
            <a:off x="621792" y="2112264"/>
            <a:ext cx="3474720" cy="292608"/>
          </a:xfrm>
          <a:prstGeom prst="rect">
            <a:avLst/>
          </a:prstGeom>
          <a:noFill/>
          <a:effectLst/>
        </p:spPr>
        <p:txBody>
          <a:bodyPr wrap="square" lIns="0" rIns="0" tIns="0" bIns="0">
            <a:spAutoFit/>
          </a:bodyPr>
          <a:lstStyle/>
          <a:p>
            <a:pPr>
              <a:lnSpc>
                <a:spcPct val="110000"/>
              </a:lnSpc>
              <a:spcAft>
                <a:spcPts val="0"/>
              </a:spcAft>
              <a:defRPr sz="2000" b="1">
                <a:solidFill>
                  <a:srgbClr val="164B80"/>
                </a:solidFill>
                <a:latin typeface="Arial"/>
              </a:defRPr>
            </a:pPr>
            <a:r>
              <a:t>Luồng chính</a:t>
            </a:r>
          </a:p>
        </p:txBody>
      </p:sp>
      <p:sp>
        <p:nvSpPr>
          <p:cNvPr id="12" name="Rounded Rectangle 11"/>
          <p:cNvSpPr/>
          <p:nvPr/>
        </p:nvSpPr>
        <p:spPr>
          <a:xfrm>
            <a:off x="621792" y="2670048"/>
            <a:ext cx="338328" cy="292608"/>
          </a:xfrm>
          <a:prstGeom prst="roundRect">
            <a:avLst>
              <a:gd name="adj" fmla="val 10000"/>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21792" y="2724912"/>
            <a:ext cx="338328" cy="164592"/>
          </a:xfrm>
          <a:prstGeom prst="rect">
            <a:avLst/>
          </a:prstGeom>
          <a:noFill/>
          <a:effectLst/>
        </p:spPr>
        <p:txBody>
          <a:bodyPr wrap="square" lIns="0" rIns="0" tIns="0" bIns="0">
            <a:spAutoFit/>
          </a:bodyPr>
          <a:lstStyle/>
          <a:p>
            <a:pPr algn="ctr">
              <a:lnSpc>
                <a:spcPct val="110000"/>
              </a:lnSpc>
              <a:spcAft>
                <a:spcPts val="0"/>
              </a:spcAft>
              <a:defRPr sz="1000" b="1">
                <a:solidFill>
                  <a:srgbClr val="2D76C5"/>
                </a:solidFill>
                <a:latin typeface="Arial"/>
              </a:defRPr>
            </a:pPr>
            <a:r>
              <a:t>01</a:t>
            </a:r>
          </a:p>
        </p:txBody>
      </p:sp>
      <p:sp>
        <p:nvSpPr>
          <p:cNvPr id="14" name="TextBox 13"/>
          <p:cNvSpPr txBox="1"/>
          <p:nvPr/>
        </p:nvSpPr>
        <p:spPr>
          <a:xfrm>
            <a:off x="1124712" y="2656332"/>
            <a:ext cx="3072384" cy="548640"/>
          </a:xfrm>
          <a:prstGeom prst="rect">
            <a:avLst/>
          </a:prstGeom>
          <a:noFill/>
          <a:effectLst/>
        </p:spPr>
        <p:txBody>
          <a:bodyPr wrap="square" lIns="0" rIns="0" tIns="0" bIns="0">
            <a:spAutoFit/>
          </a:bodyPr>
          <a:lstStyle/>
          <a:p>
            <a:pPr>
              <a:lnSpc>
                <a:spcPct val="107000"/>
              </a:lnSpc>
              <a:spcAft>
                <a:spcPts val="0"/>
              </a:spcAft>
              <a:defRPr sz="1750" b="0">
                <a:solidFill>
                  <a:srgbClr val="294B6D"/>
                </a:solidFill>
                <a:latin typeface="Arial"/>
              </a:defRPr>
            </a:pPr>
            <a:r>
              <a:t>Người dân chọn chức năng đăng ký lịch tiêm.</a:t>
            </a:r>
          </a:p>
        </p:txBody>
      </p:sp>
      <p:sp>
        <p:nvSpPr>
          <p:cNvPr id="15" name="Rounded Rectangle 14"/>
          <p:cNvSpPr/>
          <p:nvPr/>
        </p:nvSpPr>
        <p:spPr>
          <a:xfrm>
            <a:off x="621792" y="3255264"/>
            <a:ext cx="338328" cy="292608"/>
          </a:xfrm>
          <a:prstGeom prst="roundRect">
            <a:avLst>
              <a:gd name="adj" fmla="val 10000"/>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1792" y="3310128"/>
            <a:ext cx="338328" cy="164592"/>
          </a:xfrm>
          <a:prstGeom prst="rect">
            <a:avLst/>
          </a:prstGeom>
          <a:noFill/>
          <a:effectLst/>
        </p:spPr>
        <p:txBody>
          <a:bodyPr wrap="square" lIns="0" rIns="0" tIns="0" bIns="0">
            <a:spAutoFit/>
          </a:bodyPr>
          <a:lstStyle/>
          <a:p>
            <a:pPr algn="ctr">
              <a:lnSpc>
                <a:spcPct val="110000"/>
              </a:lnSpc>
              <a:spcAft>
                <a:spcPts val="0"/>
              </a:spcAft>
              <a:defRPr sz="1000" b="1">
                <a:solidFill>
                  <a:srgbClr val="2D76C5"/>
                </a:solidFill>
                <a:latin typeface="Arial"/>
              </a:defRPr>
            </a:pPr>
            <a:r>
              <a:t>02</a:t>
            </a:r>
          </a:p>
        </p:txBody>
      </p:sp>
      <p:sp>
        <p:nvSpPr>
          <p:cNvPr id="17" name="TextBox 16"/>
          <p:cNvSpPr txBox="1"/>
          <p:nvPr/>
        </p:nvSpPr>
        <p:spPr>
          <a:xfrm>
            <a:off x="1124712" y="3241548"/>
            <a:ext cx="3072384" cy="548640"/>
          </a:xfrm>
          <a:prstGeom prst="rect">
            <a:avLst/>
          </a:prstGeom>
          <a:noFill/>
          <a:effectLst/>
        </p:spPr>
        <p:txBody>
          <a:bodyPr wrap="square" lIns="0" rIns="0" tIns="0" bIns="0">
            <a:spAutoFit/>
          </a:bodyPr>
          <a:lstStyle/>
          <a:p>
            <a:pPr>
              <a:lnSpc>
                <a:spcPct val="107000"/>
              </a:lnSpc>
              <a:spcAft>
                <a:spcPts val="0"/>
              </a:spcAft>
              <a:defRPr sz="1750" b="0">
                <a:solidFill>
                  <a:srgbClr val="294B6D"/>
                </a:solidFill>
                <a:latin typeface="Arial"/>
              </a:defRPr>
            </a:pPr>
            <a:r>
              <a:t>Chọn vaccine, ngày và cơ sở tiêm mong muốn.</a:t>
            </a:r>
          </a:p>
        </p:txBody>
      </p:sp>
      <p:sp>
        <p:nvSpPr>
          <p:cNvPr id="18" name="Rounded Rectangle 17"/>
          <p:cNvSpPr/>
          <p:nvPr/>
        </p:nvSpPr>
        <p:spPr>
          <a:xfrm>
            <a:off x="621792" y="3840480"/>
            <a:ext cx="338328" cy="292608"/>
          </a:xfrm>
          <a:prstGeom prst="roundRect">
            <a:avLst>
              <a:gd name="adj" fmla="val 10000"/>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21792" y="3895344"/>
            <a:ext cx="338328" cy="164592"/>
          </a:xfrm>
          <a:prstGeom prst="rect">
            <a:avLst/>
          </a:prstGeom>
          <a:noFill/>
          <a:effectLst/>
        </p:spPr>
        <p:txBody>
          <a:bodyPr wrap="square" lIns="0" rIns="0" tIns="0" bIns="0">
            <a:spAutoFit/>
          </a:bodyPr>
          <a:lstStyle/>
          <a:p>
            <a:pPr algn="ctr">
              <a:lnSpc>
                <a:spcPct val="110000"/>
              </a:lnSpc>
              <a:spcAft>
                <a:spcPts val="0"/>
              </a:spcAft>
              <a:defRPr sz="1000" b="1">
                <a:solidFill>
                  <a:srgbClr val="2D76C5"/>
                </a:solidFill>
                <a:latin typeface="Arial"/>
              </a:defRPr>
            </a:pPr>
            <a:r>
              <a:t>03</a:t>
            </a:r>
          </a:p>
        </p:txBody>
      </p:sp>
      <p:sp>
        <p:nvSpPr>
          <p:cNvPr id="20" name="TextBox 19"/>
          <p:cNvSpPr txBox="1"/>
          <p:nvPr/>
        </p:nvSpPr>
        <p:spPr>
          <a:xfrm>
            <a:off x="1124712" y="3826764"/>
            <a:ext cx="3072384" cy="548640"/>
          </a:xfrm>
          <a:prstGeom prst="rect">
            <a:avLst/>
          </a:prstGeom>
          <a:noFill/>
          <a:effectLst/>
        </p:spPr>
        <p:txBody>
          <a:bodyPr wrap="square" lIns="0" rIns="0" tIns="0" bIns="0">
            <a:spAutoFit/>
          </a:bodyPr>
          <a:lstStyle/>
          <a:p>
            <a:pPr>
              <a:lnSpc>
                <a:spcPct val="107000"/>
              </a:lnSpc>
              <a:spcAft>
                <a:spcPts val="0"/>
              </a:spcAft>
              <a:defRPr sz="1750" b="0">
                <a:solidFill>
                  <a:srgbClr val="294B6D"/>
                </a:solidFill>
                <a:latin typeface="Arial"/>
              </a:defRPr>
            </a:pPr>
            <a:r>
              <a:t>Hệ thống kiểm tra suất tiêm và điều kiện tồn kho.</a:t>
            </a:r>
          </a:p>
        </p:txBody>
      </p:sp>
      <p:sp>
        <p:nvSpPr>
          <p:cNvPr id="21" name="Rounded Rectangle 20"/>
          <p:cNvSpPr/>
          <p:nvPr/>
        </p:nvSpPr>
        <p:spPr>
          <a:xfrm>
            <a:off x="621792" y="4425696"/>
            <a:ext cx="338328" cy="292608"/>
          </a:xfrm>
          <a:prstGeom prst="roundRect">
            <a:avLst>
              <a:gd name="adj" fmla="val 10000"/>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21792" y="4480559"/>
            <a:ext cx="338328" cy="164592"/>
          </a:xfrm>
          <a:prstGeom prst="rect">
            <a:avLst/>
          </a:prstGeom>
          <a:noFill/>
          <a:effectLst/>
        </p:spPr>
        <p:txBody>
          <a:bodyPr wrap="square" lIns="0" rIns="0" tIns="0" bIns="0">
            <a:spAutoFit/>
          </a:bodyPr>
          <a:lstStyle/>
          <a:p>
            <a:pPr algn="ctr">
              <a:lnSpc>
                <a:spcPct val="110000"/>
              </a:lnSpc>
              <a:spcAft>
                <a:spcPts val="0"/>
              </a:spcAft>
              <a:defRPr sz="1000" b="1">
                <a:solidFill>
                  <a:srgbClr val="2D76C5"/>
                </a:solidFill>
                <a:latin typeface="Arial"/>
              </a:defRPr>
            </a:pPr>
            <a:r>
              <a:t>04</a:t>
            </a:r>
          </a:p>
        </p:txBody>
      </p:sp>
      <p:sp>
        <p:nvSpPr>
          <p:cNvPr id="23" name="TextBox 22"/>
          <p:cNvSpPr txBox="1"/>
          <p:nvPr/>
        </p:nvSpPr>
        <p:spPr>
          <a:xfrm>
            <a:off x="1124712" y="4411980"/>
            <a:ext cx="3072384" cy="548640"/>
          </a:xfrm>
          <a:prstGeom prst="rect">
            <a:avLst/>
          </a:prstGeom>
          <a:noFill/>
          <a:effectLst/>
        </p:spPr>
        <p:txBody>
          <a:bodyPr wrap="square" lIns="0" rIns="0" tIns="0" bIns="0">
            <a:spAutoFit/>
          </a:bodyPr>
          <a:lstStyle/>
          <a:p>
            <a:pPr>
              <a:lnSpc>
                <a:spcPct val="107000"/>
              </a:lnSpc>
              <a:spcAft>
                <a:spcPts val="0"/>
              </a:spcAft>
              <a:defRPr sz="1750" b="0">
                <a:solidFill>
                  <a:srgbClr val="294B6D"/>
                </a:solidFill>
                <a:latin typeface="Arial"/>
              </a:defRPr>
            </a:pPr>
            <a:r>
              <a:t>Còn suất → tạo LichTiem; hết suất → yêu cầu chọn lại.</a:t>
            </a:r>
          </a:p>
        </p:txBody>
      </p:sp>
      <p:sp>
        <p:nvSpPr>
          <p:cNvPr id="24" name="TextBox 23"/>
          <p:cNvSpPr txBox="1"/>
          <p:nvPr/>
        </p:nvSpPr>
        <p:spPr>
          <a:xfrm>
            <a:off x="621792" y="5349240"/>
            <a:ext cx="3520440" cy="237744"/>
          </a:xfrm>
          <a:prstGeom prst="rect">
            <a:avLst/>
          </a:prstGeom>
          <a:noFill/>
          <a:effectLst/>
        </p:spPr>
        <p:txBody>
          <a:bodyPr wrap="square" lIns="0" rIns="0" tIns="0" bIns="0">
            <a:spAutoFit/>
          </a:bodyPr>
          <a:lstStyle/>
          <a:p>
            <a:pPr>
              <a:lnSpc>
                <a:spcPct val="110000"/>
              </a:lnSpc>
              <a:spcAft>
                <a:spcPts val="0"/>
              </a:spcAft>
              <a:defRPr sz="1300" b="1">
                <a:solidFill>
                  <a:srgbClr val="2D76C5"/>
                </a:solidFill>
                <a:latin typeface="Arial"/>
              </a:defRPr>
            </a:pPr>
            <a:r>
              <a:t>Điểm quyết định</a:t>
            </a:r>
          </a:p>
        </p:txBody>
      </p:sp>
      <p:sp>
        <p:nvSpPr>
          <p:cNvPr id="25" name="TextBox 24"/>
          <p:cNvSpPr txBox="1"/>
          <p:nvPr/>
        </p:nvSpPr>
        <p:spPr>
          <a:xfrm>
            <a:off x="621792" y="5650992"/>
            <a:ext cx="3529584" cy="521207"/>
          </a:xfrm>
          <a:prstGeom prst="rect">
            <a:avLst/>
          </a:prstGeom>
          <a:noFill/>
          <a:effectLst/>
        </p:spPr>
        <p:txBody>
          <a:bodyPr wrap="square" lIns="0" rIns="0" tIns="0" bIns="0">
            <a:spAutoFit/>
          </a:bodyPr>
          <a:lstStyle/>
          <a:p>
            <a:pPr>
              <a:lnSpc>
                <a:spcPct val="105000"/>
              </a:lnSpc>
              <a:spcAft>
                <a:spcPts val="0"/>
              </a:spcAft>
              <a:defRPr sz="1600" b="0">
                <a:solidFill>
                  <a:srgbClr val="294B6D"/>
                </a:solidFill>
                <a:latin typeface="Arial"/>
              </a:defRPr>
            </a:pPr>
            <a:r>
              <a:t>“Còn suất tiêm?” giúp tách rõ luồng thành công và luồng chọn lại.</a:t>
            </a:r>
          </a:p>
        </p:txBody>
      </p:sp>
      <p:sp>
        <p:nvSpPr>
          <p:cNvPr id="26" name="Rounded Rectangle 25"/>
          <p:cNvSpPr/>
          <p:nvPr/>
        </p:nvSpPr>
        <p:spPr>
          <a:xfrm>
            <a:off x="4567428" y="2144268"/>
            <a:ext cx="7050024" cy="3941063"/>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4526280" y="2084831"/>
            <a:ext cx="7050024" cy="3941063"/>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5947036" y="2148840"/>
            <a:ext cx="4208511" cy="3813048"/>
          </a:xfrm>
          <a:prstGeom prst="rect">
            <a:avLst/>
          </a:prstGeom>
          <a:effectLst/>
        </p:spPr>
      </p:pic>
      <p:sp>
        <p:nvSpPr>
          <p:cNvPr id="29" name="TextBox 28"/>
          <p:cNvSpPr txBox="1"/>
          <p:nvPr/>
        </p:nvSpPr>
        <p:spPr>
          <a:xfrm>
            <a:off x="4544568" y="6126480"/>
            <a:ext cx="7040880" cy="182880"/>
          </a:xfrm>
          <a:prstGeom prst="rect">
            <a:avLst/>
          </a:prstGeom>
          <a:noFill/>
          <a:effectLst/>
        </p:spPr>
        <p:txBody>
          <a:bodyPr wrap="square" lIns="0" rIns="0" tIns="0" bIns="0">
            <a:spAutoFit/>
          </a:bodyPr>
          <a:lstStyle/>
          <a:p>
            <a:pPr>
              <a:lnSpc>
                <a:spcPct val="110000"/>
              </a:lnSpc>
              <a:spcAft>
                <a:spcPts val="0"/>
              </a:spcAft>
              <a:defRPr sz="1000" b="0">
                <a:solidFill>
                  <a:srgbClr val="617E99"/>
                </a:solidFill>
                <a:latin typeface="Arial"/>
              </a:defRPr>
            </a:pPr>
            <a:r>
              <a:t>Activity Diagram – tập trung vào trình tự nghiệp vụ và nhánh quyết định.</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fill="hold"/>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fill="hold"/>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fill="hold"/>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fill="hold"/>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fill="hold"/>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600" fill="hold"/>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600" fill="hold"/>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fill="hold"/>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fill="hold"/>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fill="hold"/>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600" fill="hold"/>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600" fill="hold"/>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600" fill="hold"/>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00" fill="hold"/>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fill="hold"/>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fill="hold"/>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600" fill="hold"/>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600" fill="hold"/>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600" fill="hold"/>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600" fill="hold"/>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600" fill="hold"/>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76" dur="indefinite" fill="hold">
                <p:stCondLst>
                  <p:cond delay="750"/>
                </p:stCondLst>
                <p:childTnLst>
                  <p:animMotion origin="layout" path="M 0 0 L 0 -0.006000 E" pathEditMode="relative" rAng="0">
                    <p:cBhvr additive="base">
                      <p:cTn id="77" dur="2900" repeatCount="indefinite" autoRev="1" accel="50000" decel="50000" fill="hold"/>
                      <p:tgtEl>
                        <p:spTgt spid="10"/>
                      </p:tgtEl>
                    </p:cBhvr>
                  </p:animMotion>
                </p:childTnLst>
              </p:cTn>
            </p:par>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05</a:t>
            </a:r>
          </a:p>
        </p:txBody>
      </p:sp>
      <p:sp>
        <p:nvSpPr>
          <p:cNvPr id="6" name="Rounded Rectangle 5"/>
          <p:cNvSpPr/>
          <p:nvPr/>
        </p:nvSpPr>
        <p:spPr>
          <a:xfrm>
            <a:off x="566928" y="320040"/>
            <a:ext cx="2286000" cy="283464"/>
          </a:xfrm>
          <a:prstGeom prst="roundRect">
            <a:avLst>
              <a:gd name="adj" fmla="val 10000"/>
            </a:avLst>
          </a:prstGeom>
          <a:solidFill>
            <a:srgbClr val="E1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04088" y="383133"/>
            <a:ext cx="7315200" cy="182880"/>
          </a:xfrm>
          <a:prstGeom prst="rect">
            <a:avLst/>
          </a:prstGeom>
          <a:noFill/>
          <a:effectLst/>
        </p:spPr>
        <p:txBody>
          <a:bodyPr wrap="square" lIns="0" rIns="0" tIns="0" bIns="0">
            <a:spAutoFit/>
          </a:bodyPr>
          <a:lstStyle/>
          <a:p>
            <a:pPr>
              <a:lnSpc>
                <a:spcPct val="110000"/>
              </a:lnSpc>
              <a:spcAft>
                <a:spcPts val="0"/>
              </a:spcAft>
              <a:defRPr sz="1000" b="1">
                <a:solidFill>
                  <a:srgbClr val="2D76C5"/>
                </a:solidFill>
                <a:latin typeface="Arial"/>
              </a:defRPr>
            </a:pPr>
            <a:r>
              <a:t>03 / TƯƠNG TÁC ĐỐI TƯỢNG</a:t>
            </a:r>
          </a:p>
        </p:txBody>
      </p:sp>
      <p:sp>
        <p:nvSpPr>
          <p:cNvPr id="8" name="TextBox 7"/>
          <p:cNvSpPr txBox="1"/>
          <p:nvPr/>
        </p:nvSpPr>
        <p:spPr>
          <a:xfrm>
            <a:off x="566928" y="804672"/>
            <a:ext cx="10241280" cy="521207"/>
          </a:xfrm>
          <a:prstGeom prst="rect">
            <a:avLst/>
          </a:prstGeom>
          <a:noFill/>
          <a:effectLst/>
        </p:spPr>
        <p:txBody>
          <a:bodyPr wrap="square" lIns="0" rIns="0" tIns="0" bIns="0">
            <a:spAutoFit/>
          </a:bodyPr>
          <a:lstStyle/>
          <a:p>
            <a:pPr>
              <a:lnSpc>
                <a:spcPct val="110000"/>
              </a:lnSpc>
              <a:spcAft>
                <a:spcPts val="0"/>
              </a:spcAft>
              <a:defRPr sz="3100" b="1">
                <a:solidFill>
                  <a:srgbClr val="164B80"/>
                </a:solidFill>
                <a:latin typeface="Arial"/>
              </a:defRPr>
            </a:pPr>
            <a:r>
              <a:t>SEQUENCE DIAGRAM</a:t>
            </a:r>
          </a:p>
        </p:txBody>
      </p:sp>
      <p:sp>
        <p:nvSpPr>
          <p:cNvPr id="9" name="TextBox 8"/>
          <p:cNvSpPr txBox="1"/>
          <p:nvPr/>
        </p:nvSpPr>
        <p:spPr>
          <a:xfrm>
            <a:off x="594360" y="1463040"/>
            <a:ext cx="10058400" cy="502920"/>
          </a:xfrm>
          <a:prstGeom prst="rect">
            <a:avLst/>
          </a:prstGeom>
          <a:noFill/>
          <a:effectLst/>
        </p:spPr>
        <p:txBody>
          <a:bodyPr wrap="square" lIns="0" rIns="0" tIns="0" bIns="0">
            <a:spAutoFit/>
          </a:bodyPr>
          <a:lstStyle/>
          <a:p>
            <a:pPr>
              <a:lnSpc>
                <a:spcPct val="110000"/>
              </a:lnSpc>
              <a:spcAft>
                <a:spcPts val="0"/>
              </a:spcAft>
              <a:defRPr sz="1700" b="0">
                <a:solidFill>
                  <a:srgbClr val="617E99"/>
                </a:solidFill>
                <a:latin typeface="Arial"/>
              </a:defRPr>
            </a:pPr>
            <a:r>
              <a:t>Sequence Diagram thể hiện thứ tự tương tác giữa Người dân, giao diện, hệ thống xử lý và cơ sở dữ liệu.</a:t>
            </a:r>
          </a:p>
        </p:txBody>
      </p:sp>
      <p:pic>
        <p:nvPicPr>
          <p:cNvPr id="10" name="Picture 9" descr="vaccine_3d.png"/>
          <p:cNvPicPr>
            <a:picLocks noChangeAspect="1"/>
          </p:cNvPicPr>
          <p:nvPr/>
        </p:nvPicPr>
        <p:blipFill>
          <a:blip r:embed="rId2"/>
          <a:stretch>
            <a:fillRect/>
          </a:stretch>
        </p:blipFill>
        <p:spPr>
          <a:xfrm>
            <a:off x="10725912" y="385571"/>
            <a:ext cx="1005840" cy="838200"/>
          </a:xfrm>
          <a:prstGeom prst="rect">
            <a:avLst/>
          </a:prstGeom>
          <a:effectLst/>
        </p:spPr>
      </p:pic>
      <p:sp>
        <p:nvSpPr>
          <p:cNvPr id="11" name="Rounded Rectangle 10"/>
          <p:cNvSpPr/>
          <p:nvPr/>
        </p:nvSpPr>
        <p:spPr>
          <a:xfrm>
            <a:off x="635508" y="2180844"/>
            <a:ext cx="7342631" cy="4005072"/>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94360" y="2121408"/>
            <a:ext cx="7342631" cy="4005072"/>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3"/>
          <a:stretch>
            <a:fillRect/>
          </a:stretch>
        </p:blipFill>
        <p:spPr>
          <a:xfrm>
            <a:off x="1614183" y="2194560"/>
            <a:ext cx="5302985" cy="3858768"/>
          </a:xfrm>
          <a:prstGeom prst="rect">
            <a:avLst/>
          </a:prstGeom>
          <a:effectLst/>
        </p:spPr>
      </p:pic>
      <p:sp>
        <p:nvSpPr>
          <p:cNvPr id="14" name="TextBox 13"/>
          <p:cNvSpPr txBox="1"/>
          <p:nvPr/>
        </p:nvSpPr>
        <p:spPr>
          <a:xfrm>
            <a:off x="8339327" y="2157984"/>
            <a:ext cx="3246120" cy="274320"/>
          </a:xfrm>
          <a:prstGeom prst="rect">
            <a:avLst/>
          </a:prstGeom>
          <a:noFill/>
          <a:effectLst/>
        </p:spPr>
        <p:txBody>
          <a:bodyPr wrap="square" lIns="0" rIns="0" tIns="0" bIns="0">
            <a:spAutoFit/>
          </a:bodyPr>
          <a:lstStyle/>
          <a:p>
            <a:pPr>
              <a:lnSpc>
                <a:spcPct val="110000"/>
              </a:lnSpc>
              <a:spcAft>
                <a:spcPts val="0"/>
              </a:spcAft>
              <a:defRPr sz="1400" b="1">
                <a:solidFill>
                  <a:srgbClr val="2D76C5"/>
                </a:solidFill>
                <a:latin typeface="Arial"/>
              </a:defRPr>
            </a:pPr>
            <a:r>
              <a:t>Luồng xử lý đăng ký</a:t>
            </a:r>
          </a:p>
        </p:txBody>
      </p:sp>
      <p:sp>
        <p:nvSpPr>
          <p:cNvPr id="15" name="TextBox 14"/>
          <p:cNvSpPr txBox="1"/>
          <p:nvPr/>
        </p:nvSpPr>
        <p:spPr>
          <a:xfrm>
            <a:off x="8348472" y="2734056"/>
            <a:ext cx="41148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01</a:t>
            </a:r>
          </a:p>
        </p:txBody>
      </p:sp>
      <p:sp>
        <p:nvSpPr>
          <p:cNvPr id="16" name="TextBox 15"/>
          <p:cNvSpPr txBox="1"/>
          <p:nvPr/>
        </p:nvSpPr>
        <p:spPr>
          <a:xfrm>
            <a:off x="8842248" y="2734056"/>
            <a:ext cx="2743200" cy="256032"/>
          </a:xfrm>
          <a:prstGeom prst="rect">
            <a:avLst/>
          </a:prstGeom>
          <a:noFill/>
          <a:effectLst/>
        </p:spPr>
        <p:txBody>
          <a:bodyPr wrap="square" lIns="0" rIns="0" tIns="0" bIns="0">
            <a:spAutoFit/>
          </a:bodyPr>
          <a:lstStyle/>
          <a:p>
            <a:pPr>
              <a:lnSpc>
                <a:spcPct val="110000"/>
              </a:lnSpc>
              <a:spcAft>
                <a:spcPts val="0"/>
              </a:spcAft>
              <a:defRPr sz="1200" b="1">
                <a:solidFill>
                  <a:srgbClr val="164B80"/>
                </a:solidFill>
                <a:latin typeface="Arial"/>
              </a:defRPr>
            </a:pPr>
            <a:r>
              <a:t>NGƯỜI DÂN THAO TÁC</a:t>
            </a:r>
          </a:p>
        </p:txBody>
      </p:sp>
      <p:sp>
        <p:nvSpPr>
          <p:cNvPr id="17" name="TextBox 16"/>
          <p:cNvSpPr txBox="1"/>
          <p:nvPr/>
        </p:nvSpPr>
        <p:spPr>
          <a:xfrm>
            <a:off x="8357616" y="3044952"/>
            <a:ext cx="3227832" cy="941832"/>
          </a:xfrm>
          <a:prstGeom prst="rect">
            <a:avLst/>
          </a:prstGeom>
          <a:noFill/>
          <a:effectLst/>
        </p:spPr>
        <p:txBody>
          <a:bodyPr wrap="square" lIns="0" rIns="0" tIns="0" bIns="0">
            <a:spAutoFit/>
          </a:bodyPr>
          <a:lstStyle/>
          <a:p>
            <a:pPr>
              <a:lnSpc>
                <a:spcPct val="107000"/>
              </a:lnSpc>
              <a:spcAft>
                <a:spcPts val="0"/>
              </a:spcAft>
              <a:defRPr sz="1650" b="0">
                <a:solidFill>
                  <a:srgbClr val="294B6D"/>
                </a:solidFill>
                <a:latin typeface="Arial"/>
              </a:defRPr>
            </a:pPr>
            <a:r>
              <a:t>Chọn vaccine, ngày giờ, cơ sở tiêm và gửi yêu cầu đăng ký.</a:t>
            </a:r>
          </a:p>
        </p:txBody>
      </p:sp>
      <p:sp>
        <p:nvSpPr>
          <p:cNvPr id="18" name="TextBox 17"/>
          <p:cNvSpPr txBox="1"/>
          <p:nvPr/>
        </p:nvSpPr>
        <p:spPr>
          <a:xfrm>
            <a:off x="8348472" y="3831336"/>
            <a:ext cx="41148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02</a:t>
            </a:r>
          </a:p>
        </p:txBody>
      </p:sp>
      <p:sp>
        <p:nvSpPr>
          <p:cNvPr id="19" name="TextBox 18"/>
          <p:cNvSpPr txBox="1"/>
          <p:nvPr/>
        </p:nvSpPr>
        <p:spPr>
          <a:xfrm>
            <a:off x="8842248" y="3831336"/>
            <a:ext cx="2743200" cy="256032"/>
          </a:xfrm>
          <a:prstGeom prst="rect">
            <a:avLst/>
          </a:prstGeom>
          <a:noFill/>
          <a:effectLst/>
        </p:spPr>
        <p:txBody>
          <a:bodyPr wrap="square" lIns="0" rIns="0" tIns="0" bIns="0">
            <a:spAutoFit/>
          </a:bodyPr>
          <a:lstStyle/>
          <a:p>
            <a:pPr>
              <a:lnSpc>
                <a:spcPct val="110000"/>
              </a:lnSpc>
              <a:spcAft>
                <a:spcPts val="0"/>
              </a:spcAft>
              <a:defRPr sz="1200" b="1">
                <a:solidFill>
                  <a:srgbClr val="164B80"/>
                </a:solidFill>
                <a:latin typeface="Arial"/>
              </a:defRPr>
            </a:pPr>
            <a:r>
              <a:t>HỆ THỐNG XỬ LÝ</a:t>
            </a:r>
          </a:p>
        </p:txBody>
      </p:sp>
      <p:sp>
        <p:nvSpPr>
          <p:cNvPr id="20" name="TextBox 19"/>
          <p:cNvSpPr txBox="1"/>
          <p:nvPr/>
        </p:nvSpPr>
        <p:spPr>
          <a:xfrm>
            <a:off x="8357616" y="4142232"/>
            <a:ext cx="3227832" cy="941832"/>
          </a:xfrm>
          <a:prstGeom prst="rect">
            <a:avLst/>
          </a:prstGeom>
          <a:noFill/>
          <a:effectLst/>
        </p:spPr>
        <p:txBody>
          <a:bodyPr wrap="square" lIns="0" rIns="0" tIns="0" bIns="0">
            <a:spAutoFit/>
          </a:bodyPr>
          <a:lstStyle/>
          <a:p>
            <a:pPr>
              <a:lnSpc>
                <a:spcPct val="107000"/>
              </a:lnSpc>
              <a:spcAft>
                <a:spcPts val="0"/>
              </a:spcAft>
              <a:defRPr sz="1650" b="0">
                <a:solidFill>
                  <a:srgbClr val="294B6D"/>
                </a:solidFill>
                <a:latin typeface="Arial"/>
              </a:defRPr>
            </a:pPr>
            <a:r>
              <a:t>Kiểm tra thông tin, kiểm tra điều kiện và tạo lịch tiêm nếu hợp lệ.</a:t>
            </a:r>
          </a:p>
        </p:txBody>
      </p:sp>
      <p:sp>
        <p:nvSpPr>
          <p:cNvPr id="21" name="TextBox 20"/>
          <p:cNvSpPr txBox="1"/>
          <p:nvPr/>
        </p:nvSpPr>
        <p:spPr>
          <a:xfrm>
            <a:off x="8348472" y="4928616"/>
            <a:ext cx="41148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03</a:t>
            </a:r>
          </a:p>
        </p:txBody>
      </p:sp>
      <p:sp>
        <p:nvSpPr>
          <p:cNvPr id="22" name="TextBox 21"/>
          <p:cNvSpPr txBox="1"/>
          <p:nvPr/>
        </p:nvSpPr>
        <p:spPr>
          <a:xfrm>
            <a:off x="8842248" y="4928616"/>
            <a:ext cx="2743200" cy="256032"/>
          </a:xfrm>
          <a:prstGeom prst="rect">
            <a:avLst/>
          </a:prstGeom>
          <a:noFill/>
          <a:effectLst/>
        </p:spPr>
        <p:txBody>
          <a:bodyPr wrap="square" lIns="0" rIns="0" tIns="0" bIns="0">
            <a:spAutoFit/>
          </a:bodyPr>
          <a:lstStyle/>
          <a:p>
            <a:pPr>
              <a:lnSpc>
                <a:spcPct val="110000"/>
              </a:lnSpc>
              <a:spcAft>
                <a:spcPts val="0"/>
              </a:spcAft>
              <a:defRPr sz="1200" b="1">
                <a:solidFill>
                  <a:srgbClr val="164B80"/>
                </a:solidFill>
                <a:latin typeface="Arial"/>
              </a:defRPr>
            </a:pPr>
            <a:r>
              <a:t>LƯU VÀ PHẢN HỒI</a:t>
            </a:r>
          </a:p>
        </p:txBody>
      </p:sp>
      <p:sp>
        <p:nvSpPr>
          <p:cNvPr id="23" name="TextBox 22"/>
          <p:cNvSpPr txBox="1"/>
          <p:nvPr/>
        </p:nvSpPr>
        <p:spPr>
          <a:xfrm>
            <a:off x="8357616" y="5239512"/>
            <a:ext cx="3227832" cy="941832"/>
          </a:xfrm>
          <a:prstGeom prst="rect">
            <a:avLst/>
          </a:prstGeom>
          <a:noFill/>
          <a:effectLst/>
        </p:spPr>
        <p:txBody>
          <a:bodyPr wrap="square" lIns="0" rIns="0" tIns="0" bIns="0">
            <a:spAutoFit/>
          </a:bodyPr>
          <a:lstStyle/>
          <a:p>
            <a:pPr>
              <a:lnSpc>
                <a:spcPct val="107000"/>
              </a:lnSpc>
              <a:spcAft>
                <a:spcPts val="0"/>
              </a:spcAft>
              <a:defRPr sz="1650" b="0">
                <a:solidFill>
                  <a:srgbClr val="294B6D"/>
                </a:solidFill>
                <a:latin typeface="Arial"/>
              </a:defRPr>
            </a:pPr>
            <a:r>
              <a:t>Lưu lịch vào cơ sở dữ liệu, sau đó thông báo đăng ký thành công cho người dân.</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fill="hold"/>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fill="hold"/>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fill="hold"/>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fill="hold"/>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fill="hold"/>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00" fill="hold"/>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00" fill="hold"/>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600" fill="hold"/>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600" fill="hold"/>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600" fill="hold"/>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600" fill="hold"/>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600" fill="hold"/>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600" fill="hold"/>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00" fill="hold"/>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60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56" dur="indefinite" fill="hold">
                <p:stCondLst>
                  <p:cond delay="750"/>
                </p:stCondLst>
                <p:childTnLst>
                  <p:animMotion origin="layout" path="M 0 0 L 0 -0.006000 E" pathEditMode="relative" rAng="0">
                    <p:cBhvr additive="base">
                      <p:cTn id="57" dur="2900" repeatCount="indefinite" autoRev="1" accel="50000" decel="50000" fill="hold"/>
                      <p:tgtEl>
                        <p:spTgt spid="10"/>
                      </p:tgtEl>
                    </p:cBhvr>
                  </p:animMotion>
                </p:childTnLst>
              </p:cTn>
            </p:par>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06</a:t>
            </a:r>
          </a:p>
        </p:txBody>
      </p:sp>
      <p:sp>
        <p:nvSpPr>
          <p:cNvPr id="6" name="Rounded Rectangle 5"/>
          <p:cNvSpPr/>
          <p:nvPr/>
        </p:nvSpPr>
        <p:spPr>
          <a:xfrm>
            <a:off x="566928" y="320040"/>
            <a:ext cx="2286000" cy="283464"/>
          </a:xfrm>
          <a:prstGeom prst="roundRect">
            <a:avLst>
              <a:gd name="adj" fmla="val 10000"/>
            </a:avLst>
          </a:prstGeom>
          <a:solidFill>
            <a:srgbClr val="E1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04088" y="383133"/>
            <a:ext cx="7315200" cy="182880"/>
          </a:xfrm>
          <a:prstGeom prst="rect">
            <a:avLst/>
          </a:prstGeom>
          <a:noFill/>
          <a:effectLst/>
        </p:spPr>
        <p:txBody>
          <a:bodyPr wrap="square" lIns="0" rIns="0" tIns="0" bIns="0">
            <a:spAutoFit/>
          </a:bodyPr>
          <a:lstStyle/>
          <a:p>
            <a:pPr>
              <a:lnSpc>
                <a:spcPct val="110000"/>
              </a:lnSpc>
              <a:spcAft>
                <a:spcPts val="0"/>
              </a:spcAft>
              <a:defRPr sz="1000" b="1">
                <a:solidFill>
                  <a:srgbClr val="2D76C5"/>
                </a:solidFill>
                <a:latin typeface="Arial"/>
              </a:defRPr>
            </a:pPr>
            <a:r>
              <a:t>04 / CẤU TRÚC HỆ THỐNG</a:t>
            </a:r>
          </a:p>
        </p:txBody>
      </p:sp>
      <p:sp>
        <p:nvSpPr>
          <p:cNvPr id="8" name="TextBox 7"/>
          <p:cNvSpPr txBox="1"/>
          <p:nvPr/>
        </p:nvSpPr>
        <p:spPr>
          <a:xfrm>
            <a:off x="566928" y="804672"/>
            <a:ext cx="10241280" cy="521207"/>
          </a:xfrm>
          <a:prstGeom prst="rect">
            <a:avLst/>
          </a:prstGeom>
          <a:noFill/>
          <a:effectLst/>
        </p:spPr>
        <p:txBody>
          <a:bodyPr wrap="square" lIns="0" rIns="0" tIns="0" bIns="0">
            <a:spAutoFit/>
          </a:bodyPr>
          <a:lstStyle/>
          <a:p>
            <a:pPr>
              <a:lnSpc>
                <a:spcPct val="110000"/>
              </a:lnSpc>
              <a:spcAft>
                <a:spcPts val="0"/>
              </a:spcAft>
              <a:defRPr sz="3100" b="1">
                <a:solidFill>
                  <a:srgbClr val="164B80"/>
                </a:solidFill>
                <a:latin typeface="Arial"/>
              </a:defRPr>
            </a:pPr>
            <a:r>
              <a:t>CLASS DIAGRAM</a:t>
            </a:r>
          </a:p>
        </p:txBody>
      </p:sp>
      <p:sp>
        <p:nvSpPr>
          <p:cNvPr id="9" name="TextBox 8"/>
          <p:cNvSpPr txBox="1"/>
          <p:nvPr/>
        </p:nvSpPr>
        <p:spPr>
          <a:xfrm>
            <a:off x="594360" y="1463040"/>
            <a:ext cx="10058400" cy="502920"/>
          </a:xfrm>
          <a:prstGeom prst="rect">
            <a:avLst/>
          </a:prstGeom>
          <a:noFill/>
          <a:effectLst/>
        </p:spPr>
        <p:txBody>
          <a:bodyPr wrap="square" lIns="0" rIns="0" tIns="0" bIns="0">
            <a:spAutoFit/>
          </a:bodyPr>
          <a:lstStyle/>
          <a:p>
            <a:pPr>
              <a:lnSpc>
                <a:spcPct val="110000"/>
              </a:lnSpc>
              <a:spcAft>
                <a:spcPts val="0"/>
              </a:spcAft>
              <a:defRPr sz="1700" b="0">
                <a:solidFill>
                  <a:srgbClr val="617E99"/>
                </a:solidFill>
                <a:latin typeface="Arial"/>
              </a:defRPr>
            </a:pPr>
            <a:r>
              <a:t>Các lớp được tổ chức theo trách nhiệm và liên kết trực tiếp với nghiệp vụ tiêm chủng.</a:t>
            </a:r>
          </a:p>
        </p:txBody>
      </p:sp>
      <p:pic>
        <p:nvPicPr>
          <p:cNvPr id="10" name="Picture 9" descr="vaccine_3d.png"/>
          <p:cNvPicPr>
            <a:picLocks noChangeAspect="1"/>
          </p:cNvPicPr>
          <p:nvPr/>
        </p:nvPicPr>
        <p:blipFill>
          <a:blip r:embed="rId2"/>
          <a:stretch>
            <a:fillRect/>
          </a:stretch>
        </p:blipFill>
        <p:spPr>
          <a:xfrm>
            <a:off x="10725912" y="385571"/>
            <a:ext cx="1005840" cy="838200"/>
          </a:xfrm>
          <a:prstGeom prst="rect">
            <a:avLst/>
          </a:prstGeom>
          <a:effectLst/>
        </p:spPr>
      </p:pic>
      <p:sp>
        <p:nvSpPr>
          <p:cNvPr id="11" name="TextBox 10"/>
          <p:cNvSpPr txBox="1"/>
          <p:nvPr/>
        </p:nvSpPr>
        <p:spPr>
          <a:xfrm>
            <a:off x="621792" y="2139696"/>
            <a:ext cx="4297680" cy="265176"/>
          </a:xfrm>
          <a:prstGeom prst="rect">
            <a:avLst/>
          </a:prstGeom>
          <a:noFill/>
          <a:effectLst/>
        </p:spPr>
        <p:txBody>
          <a:bodyPr wrap="square" lIns="0" rIns="0" tIns="0" bIns="0">
            <a:spAutoFit/>
          </a:bodyPr>
          <a:lstStyle/>
          <a:p>
            <a:pPr>
              <a:lnSpc>
                <a:spcPct val="110000"/>
              </a:lnSpc>
              <a:spcAft>
                <a:spcPts val="0"/>
              </a:spcAft>
              <a:defRPr sz="1300" b="1">
                <a:solidFill>
                  <a:srgbClr val="2D76C5"/>
                </a:solidFill>
                <a:latin typeface="Arial"/>
              </a:defRPr>
            </a:pPr>
            <a:r>
              <a:t>9 LỚP CHÍNH  /  Ba nhóm lớp</a:t>
            </a:r>
          </a:p>
        </p:txBody>
      </p:sp>
      <p:sp>
        <p:nvSpPr>
          <p:cNvPr id="12" name="TextBox 11"/>
          <p:cNvSpPr txBox="1"/>
          <p:nvPr/>
        </p:nvSpPr>
        <p:spPr>
          <a:xfrm>
            <a:off x="621792" y="2651760"/>
            <a:ext cx="4251960" cy="228600"/>
          </a:xfrm>
          <a:prstGeom prst="rect">
            <a:avLst/>
          </a:prstGeom>
          <a:noFill/>
          <a:effectLst/>
        </p:spPr>
        <p:txBody>
          <a:bodyPr wrap="square" lIns="0" rIns="0" tIns="0" bIns="0">
            <a:spAutoFit/>
          </a:bodyPr>
          <a:lstStyle/>
          <a:p>
            <a:pPr>
              <a:lnSpc>
                <a:spcPct val="110000"/>
              </a:lnSpc>
              <a:spcAft>
                <a:spcPts val="0"/>
              </a:spcAft>
              <a:defRPr sz="1200" b="1">
                <a:solidFill>
                  <a:srgbClr val="2D76C5"/>
                </a:solidFill>
                <a:latin typeface="Arial"/>
              </a:defRPr>
            </a:pPr>
            <a:r>
              <a:t>NGƯỜI DÙNG</a:t>
            </a:r>
          </a:p>
        </p:txBody>
      </p:sp>
      <p:sp>
        <p:nvSpPr>
          <p:cNvPr id="13" name="TextBox 12"/>
          <p:cNvSpPr txBox="1"/>
          <p:nvPr/>
        </p:nvSpPr>
        <p:spPr>
          <a:xfrm>
            <a:off x="621792" y="2926079"/>
            <a:ext cx="4160520" cy="484632"/>
          </a:xfrm>
          <a:prstGeom prst="rect">
            <a:avLst/>
          </a:prstGeom>
          <a:noFill/>
          <a:effectLst/>
        </p:spPr>
        <p:txBody>
          <a:bodyPr wrap="square" lIns="0" rIns="0" tIns="0" bIns="0">
            <a:spAutoFit/>
          </a:bodyPr>
          <a:lstStyle/>
          <a:p>
            <a:pPr>
              <a:lnSpc>
                <a:spcPct val="104000"/>
              </a:lnSpc>
              <a:spcAft>
                <a:spcPts val="0"/>
              </a:spcAft>
              <a:defRPr sz="1650" b="1">
                <a:solidFill>
                  <a:srgbClr val="294B6D"/>
                </a:solidFill>
                <a:latin typeface="Arial"/>
              </a:defRPr>
            </a:pPr>
            <a:r>
              <a:t>TaiKhoan • NguoiDan</a:t>
            </a:r>
          </a:p>
        </p:txBody>
      </p:sp>
      <p:sp>
        <p:nvSpPr>
          <p:cNvPr id="14" name="TextBox 13"/>
          <p:cNvSpPr txBox="1"/>
          <p:nvPr/>
        </p:nvSpPr>
        <p:spPr>
          <a:xfrm>
            <a:off x="621792" y="3456432"/>
            <a:ext cx="4206240" cy="256032"/>
          </a:xfrm>
          <a:prstGeom prst="rect">
            <a:avLst/>
          </a:prstGeom>
          <a:noFill/>
          <a:effectLst/>
        </p:spPr>
        <p:txBody>
          <a:bodyPr wrap="square" lIns="0" rIns="0" tIns="0" bIns="0">
            <a:spAutoFit/>
          </a:bodyPr>
          <a:lstStyle/>
          <a:p>
            <a:pPr>
              <a:lnSpc>
                <a:spcPct val="102000"/>
              </a:lnSpc>
              <a:spcAft>
                <a:spcPts val="0"/>
              </a:spcAft>
              <a:defRPr sz="1400" b="0">
                <a:solidFill>
                  <a:srgbClr val="617E99"/>
                </a:solidFill>
                <a:latin typeface="Arial"/>
              </a:defRPr>
            </a:pPr>
            <a:r>
              <a:t>Xác thực, hồ sơ và quyền truy cập</a:t>
            </a:r>
          </a:p>
        </p:txBody>
      </p:sp>
      <p:sp>
        <p:nvSpPr>
          <p:cNvPr id="15" name="TextBox 14"/>
          <p:cNvSpPr txBox="1"/>
          <p:nvPr/>
        </p:nvSpPr>
        <p:spPr>
          <a:xfrm>
            <a:off x="621792" y="3749039"/>
            <a:ext cx="4251960" cy="228600"/>
          </a:xfrm>
          <a:prstGeom prst="rect">
            <a:avLst/>
          </a:prstGeom>
          <a:noFill/>
          <a:effectLst/>
        </p:spPr>
        <p:txBody>
          <a:bodyPr wrap="square" lIns="0" rIns="0" tIns="0" bIns="0">
            <a:spAutoFit/>
          </a:bodyPr>
          <a:lstStyle/>
          <a:p>
            <a:pPr>
              <a:lnSpc>
                <a:spcPct val="110000"/>
              </a:lnSpc>
              <a:spcAft>
                <a:spcPts val="0"/>
              </a:spcAft>
              <a:defRPr sz="1200" b="1">
                <a:solidFill>
                  <a:srgbClr val="2D76C5"/>
                </a:solidFill>
                <a:latin typeface="Arial"/>
              </a:defRPr>
            </a:pPr>
            <a:r>
              <a:t>NGHIỆP VỤ TIÊM</a:t>
            </a:r>
          </a:p>
        </p:txBody>
      </p:sp>
      <p:sp>
        <p:nvSpPr>
          <p:cNvPr id="16" name="TextBox 15"/>
          <p:cNvSpPr txBox="1"/>
          <p:nvPr/>
        </p:nvSpPr>
        <p:spPr>
          <a:xfrm>
            <a:off x="621792" y="4023359"/>
            <a:ext cx="4160520" cy="484632"/>
          </a:xfrm>
          <a:prstGeom prst="rect">
            <a:avLst/>
          </a:prstGeom>
          <a:noFill/>
          <a:effectLst/>
        </p:spPr>
        <p:txBody>
          <a:bodyPr wrap="square" lIns="0" rIns="0" tIns="0" bIns="0">
            <a:spAutoFit/>
          </a:bodyPr>
          <a:lstStyle/>
          <a:p>
            <a:pPr>
              <a:lnSpc>
                <a:spcPct val="104000"/>
              </a:lnSpc>
              <a:spcAft>
                <a:spcPts val="0"/>
              </a:spcAft>
              <a:defRPr sz="1650" b="1">
                <a:solidFill>
                  <a:srgbClr val="294B6D"/>
                </a:solidFill>
                <a:latin typeface="Arial"/>
              </a:defRPr>
            </a:pPr>
            <a:r>
              <a:t>LichTiem • MuiTiem • Vaccine • LoVaccine</a:t>
            </a:r>
          </a:p>
        </p:txBody>
      </p:sp>
      <p:sp>
        <p:nvSpPr>
          <p:cNvPr id="17" name="TextBox 16"/>
          <p:cNvSpPr txBox="1"/>
          <p:nvPr/>
        </p:nvSpPr>
        <p:spPr>
          <a:xfrm>
            <a:off x="621792" y="4553712"/>
            <a:ext cx="4206240" cy="256032"/>
          </a:xfrm>
          <a:prstGeom prst="rect">
            <a:avLst/>
          </a:prstGeom>
          <a:noFill/>
          <a:effectLst/>
        </p:spPr>
        <p:txBody>
          <a:bodyPr wrap="square" lIns="0" rIns="0" tIns="0" bIns="0">
            <a:spAutoFit/>
          </a:bodyPr>
          <a:lstStyle/>
          <a:p>
            <a:pPr>
              <a:lnSpc>
                <a:spcPct val="102000"/>
              </a:lnSpc>
              <a:spcAft>
                <a:spcPts val="0"/>
              </a:spcAft>
              <a:defRPr sz="1400" b="0">
                <a:solidFill>
                  <a:srgbClr val="617E99"/>
                </a:solidFill>
                <a:latin typeface="Arial"/>
              </a:defRPr>
            </a:pPr>
            <a:r>
              <a:t>Theo dõi lịch, mũi tiêm và truy vết lô</a:t>
            </a:r>
          </a:p>
        </p:txBody>
      </p:sp>
      <p:sp>
        <p:nvSpPr>
          <p:cNvPr id="18" name="TextBox 17"/>
          <p:cNvSpPr txBox="1"/>
          <p:nvPr/>
        </p:nvSpPr>
        <p:spPr>
          <a:xfrm>
            <a:off x="621792" y="4846320"/>
            <a:ext cx="4251960" cy="228600"/>
          </a:xfrm>
          <a:prstGeom prst="rect">
            <a:avLst/>
          </a:prstGeom>
          <a:noFill/>
          <a:effectLst/>
        </p:spPr>
        <p:txBody>
          <a:bodyPr wrap="square" lIns="0" rIns="0" tIns="0" bIns="0">
            <a:spAutoFit/>
          </a:bodyPr>
          <a:lstStyle/>
          <a:p>
            <a:pPr>
              <a:lnSpc>
                <a:spcPct val="110000"/>
              </a:lnSpc>
              <a:spcAft>
                <a:spcPts val="0"/>
              </a:spcAft>
              <a:defRPr sz="1200" b="1">
                <a:solidFill>
                  <a:srgbClr val="2D76C5"/>
                </a:solidFill>
                <a:latin typeface="Arial"/>
              </a:defRPr>
            </a:pPr>
            <a:r>
              <a:t>KIỂM SOÁT</a:t>
            </a:r>
          </a:p>
        </p:txBody>
      </p:sp>
      <p:sp>
        <p:nvSpPr>
          <p:cNvPr id="19" name="TextBox 18"/>
          <p:cNvSpPr txBox="1"/>
          <p:nvPr/>
        </p:nvSpPr>
        <p:spPr>
          <a:xfrm>
            <a:off x="621792" y="5120640"/>
            <a:ext cx="4160520" cy="484632"/>
          </a:xfrm>
          <a:prstGeom prst="rect">
            <a:avLst/>
          </a:prstGeom>
          <a:noFill/>
          <a:effectLst/>
        </p:spPr>
        <p:txBody>
          <a:bodyPr wrap="square" lIns="0" rIns="0" tIns="0" bIns="0">
            <a:spAutoFit/>
          </a:bodyPr>
          <a:lstStyle/>
          <a:p>
            <a:pPr>
              <a:lnSpc>
                <a:spcPct val="104000"/>
              </a:lnSpc>
              <a:spcAft>
                <a:spcPts val="0"/>
              </a:spcAft>
              <a:defRPr sz="1650" b="1">
                <a:solidFill>
                  <a:srgbClr val="294B6D"/>
                </a:solidFill>
                <a:latin typeface="Arial"/>
              </a:defRPr>
            </a:pPr>
            <a:r>
              <a:t>ChongChiDinh • ThongBao • LichSuHieuChinh</a:t>
            </a:r>
          </a:p>
        </p:txBody>
      </p:sp>
      <p:sp>
        <p:nvSpPr>
          <p:cNvPr id="20" name="TextBox 19"/>
          <p:cNvSpPr txBox="1"/>
          <p:nvPr/>
        </p:nvSpPr>
        <p:spPr>
          <a:xfrm>
            <a:off x="621792" y="5715000"/>
            <a:ext cx="4206240" cy="256032"/>
          </a:xfrm>
          <a:prstGeom prst="rect">
            <a:avLst/>
          </a:prstGeom>
          <a:noFill/>
          <a:effectLst/>
        </p:spPr>
        <p:txBody>
          <a:bodyPr wrap="square" lIns="0" rIns="0" tIns="0" bIns="0">
            <a:spAutoFit/>
          </a:bodyPr>
          <a:lstStyle/>
          <a:p>
            <a:pPr>
              <a:lnSpc>
                <a:spcPct val="102000"/>
              </a:lnSpc>
              <a:spcAft>
                <a:spcPts val="0"/>
              </a:spcAft>
              <a:defRPr sz="1400" b="0">
                <a:solidFill>
                  <a:srgbClr val="617E99"/>
                </a:solidFill>
                <a:latin typeface="Arial"/>
              </a:defRPr>
            </a:pPr>
            <a:r>
              <a:t>An toàn, nhắc lịch và lưu vết thay đổi</a:t>
            </a:r>
          </a:p>
        </p:txBody>
      </p:sp>
      <p:sp>
        <p:nvSpPr>
          <p:cNvPr id="21" name="TextBox 20"/>
          <p:cNvSpPr txBox="1"/>
          <p:nvPr/>
        </p:nvSpPr>
        <p:spPr>
          <a:xfrm>
            <a:off x="640080" y="6080760"/>
            <a:ext cx="4023360" cy="219456"/>
          </a:xfrm>
          <a:prstGeom prst="rect">
            <a:avLst/>
          </a:prstGeom>
          <a:noFill/>
          <a:effectLst/>
        </p:spPr>
        <p:txBody>
          <a:bodyPr wrap="square" lIns="0" rIns="0" tIns="0" bIns="0">
            <a:spAutoFit/>
          </a:bodyPr>
          <a:lstStyle/>
          <a:p>
            <a:pPr>
              <a:lnSpc>
                <a:spcPct val="110000"/>
              </a:lnSpc>
              <a:spcAft>
                <a:spcPts val="0"/>
              </a:spcAft>
              <a:defRPr sz="1250" b="0">
                <a:solidFill>
                  <a:srgbClr val="2D76C5"/>
                </a:solidFill>
                <a:latin typeface="Arial"/>
              </a:defRPr>
            </a:pPr>
            <a:r>
              <a:t>Mỗi lớp đóng gói dữ liệu + hành vi.</a:t>
            </a:r>
          </a:p>
        </p:txBody>
      </p:sp>
      <p:sp>
        <p:nvSpPr>
          <p:cNvPr id="22" name="Rounded Rectangle 21"/>
          <p:cNvSpPr/>
          <p:nvPr/>
        </p:nvSpPr>
        <p:spPr>
          <a:xfrm>
            <a:off x="5006340" y="2153412"/>
            <a:ext cx="6611112" cy="3931920"/>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965192" y="2093976"/>
            <a:ext cx="6611112" cy="3931920"/>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3"/>
          <a:stretch>
            <a:fillRect/>
          </a:stretch>
        </p:blipFill>
        <p:spPr>
          <a:xfrm>
            <a:off x="6060465" y="2148840"/>
            <a:ext cx="4420565" cy="3822191"/>
          </a:xfrm>
          <a:prstGeom prst="rect">
            <a:avLst/>
          </a:prstGeom>
          <a:effectLst/>
        </p:spPr>
      </p:pic>
      <p:sp>
        <p:nvSpPr>
          <p:cNvPr id="25" name="TextBox 24"/>
          <p:cNvSpPr txBox="1"/>
          <p:nvPr/>
        </p:nvSpPr>
        <p:spPr>
          <a:xfrm>
            <a:off x="4992624" y="6126480"/>
            <a:ext cx="6556248" cy="192024"/>
          </a:xfrm>
          <a:prstGeom prst="rect">
            <a:avLst/>
          </a:prstGeom>
          <a:noFill/>
          <a:effectLst/>
        </p:spPr>
        <p:txBody>
          <a:bodyPr wrap="square" lIns="0" rIns="0" tIns="0" bIns="0">
            <a:spAutoFit/>
          </a:bodyPr>
          <a:lstStyle/>
          <a:p>
            <a:pPr>
              <a:lnSpc>
                <a:spcPct val="110000"/>
              </a:lnSpc>
              <a:spcAft>
                <a:spcPts val="0"/>
              </a:spcAft>
              <a:defRPr sz="1000" b="0">
                <a:solidFill>
                  <a:srgbClr val="617E99"/>
                </a:solidFill>
                <a:latin typeface="Arial"/>
              </a:defRPr>
            </a:pPr>
            <a:r>
              <a:t>Class Diagram – cấu trúc dữ liệu và quan hệ giữa các đối tượng trong miền tiêm chủng.</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fill="hold"/>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fill="hold"/>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fill="hold"/>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fill="hold"/>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fill="hold"/>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600" fill="hold"/>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600" fill="hold"/>
                                        <p:tgtEl>
                                          <p:spTgt spid="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fill="hold"/>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fill="hold"/>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fill="hold"/>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600" fill="hold"/>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600" fill="hold"/>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600" fill="hold"/>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00" fill="hold"/>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fill="hold"/>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fill="hold"/>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600" fill="hold"/>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62" dur="indefinite" fill="hold">
                <p:stCondLst>
                  <p:cond delay="750"/>
                </p:stCondLst>
                <p:childTnLst>
                  <p:animMotion origin="layout" path="M 0 0 L 0 -0.006000 E" pathEditMode="relative" rAng="0">
                    <p:cBhvr additive="base">
                      <p:cTn id="63" dur="2900" repeatCount="indefinite" autoRev="1" accel="50000" decel="50000" fill="hold"/>
                      <p:tgtEl>
                        <p:spTgt spid="10"/>
                      </p:tgtEl>
                    </p:cBhvr>
                  </p:animMotion>
                </p:childTnLst>
              </p:cTn>
            </p:par>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07</a:t>
            </a:r>
          </a:p>
        </p:txBody>
      </p:sp>
      <p:sp>
        <p:nvSpPr>
          <p:cNvPr id="6" name="Rounded Rectangle 5"/>
          <p:cNvSpPr/>
          <p:nvPr/>
        </p:nvSpPr>
        <p:spPr>
          <a:xfrm>
            <a:off x="566928" y="320040"/>
            <a:ext cx="2286000" cy="283464"/>
          </a:xfrm>
          <a:prstGeom prst="roundRect">
            <a:avLst>
              <a:gd name="adj" fmla="val 10000"/>
            </a:avLst>
          </a:prstGeom>
          <a:solidFill>
            <a:srgbClr val="E1EE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04088" y="383133"/>
            <a:ext cx="7315200" cy="182880"/>
          </a:xfrm>
          <a:prstGeom prst="rect">
            <a:avLst/>
          </a:prstGeom>
          <a:noFill/>
          <a:effectLst/>
        </p:spPr>
        <p:txBody>
          <a:bodyPr wrap="square" lIns="0" rIns="0" tIns="0" bIns="0">
            <a:spAutoFit/>
          </a:bodyPr>
          <a:lstStyle/>
          <a:p>
            <a:pPr>
              <a:lnSpc>
                <a:spcPct val="110000"/>
              </a:lnSpc>
              <a:spcAft>
                <a:spcPts val="0"/>
              </a:spcAft>
              <a:defRPr sz="1000" b="1">
                <a:solidFill>
                  <a:srgbClr val="2D76C5"/>
                </a:solidFill>
                <a:latin typeface="Arial"/>
              </a:defRPr>
            </a:pPr>
            <a:r>
              <a:t>05 / TỪ THIẾT KẾ ĐẾN GIAO DIỆN</a:t>
            </a:r>
          </a:p>
        </p:txBody>
      </p:sp>
      <p:sp>
        <p:nvSpPr>
          <p:cNvPr id="8" name="TextBox 7"/>
          <p:cNvSpPr txBox="1"/>
          <p:nvPr/>
        </p:nvSpPr>
        <p:spPr>
          <a:xfrm>
            <a:off x="566928" y="804672"/>
            <a:ext cx="10241280" cy="521207"/>
          </a:xfrm>
          <a:prstGeom prst="rect">
            <a:avLst/>
          </a:prstGeom>
          <a:noFill/>
          <a:effectLst/>
        </p:spPr>
        <p:txBody>
          <a:bodyPr wrap="square" lIns="0" rIns="0" tIns="0" bIns="0">
            <a:spAutoFit/>
          </a:bodyPr>
          <a:lstStyle/>
          <a:p>
            <a:pPr>
              <a:lnSpc>
                <a:spcPct val="110000"/>
              </a:lnSpc>
              <a:spcAft>
                <a:spcPts val="0"/>
              </a:spcAft>
              <a:defRPr sz="3100" b="1">
                <a:solidFill>
                  <a:srgbClr val="164B80"/>
                </a:solidFill>
                <a:latin typeface="Arial"/>
              </a:defRPr>
            </a:pPr>
            <a:r>
              <a:t>GIAO DIỆN EXCEL</a:t>
            </a:r>
          </a:p>
        </p:txBody>
      </p:sp>
      <p:pic>
        <p:nvPicPr>
          <p:cNvPr id="9" name="Picture 8" descr="vaccine_3d.png"/>
          <p:cNvPicPr>
            <a:picLocks noChangeAspect="1"/>
          </p:cNvPicPr>
          <p:nvPr/>
        </p:nvPicPr>
        <p:blipFill>
          <a:blip r:embed="rId2"/>
          <a:stretch>
            <a:fillRect/>
          </a:stretch>
        </p:blipFill>
        <p:spPr>
          <a:xfrm>
            <a:off x="10725912" y="385571"/>
            <a:ext cx="1005840" cy="838200"/>
          </a:xfrm>
          <a:prstGeom prst="rect">
            <a:avLst/>
          </a:prstGeom>
          <a:effectLst/>
        </p:spPr>
      </p:pic>
      <p:sp>
        <p:nvSpPr>
          <p:cNvPr id="10" name="TextBox 9"/>
          <p:cNvSpPr txBox="1"/>
          <p:nvPr/>
        </p:nvSpPr>
        <p:spPr>
          <a:xfrm>
            <a:off x="594360" y="1472184"/>
            <a:ext cx="10058400" cy="310896"/>
          </a:xfrm>
          <a:prstGeom prst="rect">
            <a:avLst/>
          </a:prstGeom>
          <a:noFill/>
          <a:effectLst/>
        </p:spPr>
        <p:txBody>
          <a:bodyPr wrap="square" lIns="0" rIns="0" tIns="0" bIns="0">
            <a:spAutoFit/>
          </a:bodyPr>
          <a:lstStyle/>
          <a:p>
            <a:pPr>
              <a:lnSpc>
                <a:spcPct val="110000"/>
              </a:lnSpc>
              <a:spcAft>
                <a:spcPts val="0"/>
              </a:spcAft>
              <a:defRPr sz="1800" b="1">
                <a:solidFill>
                  <a:srgbClr val="2D76C5"/>
                </a:solidFill>
                <a:latin typeface="Arial"/>
              </a:defRPr>
            </a:pPr>
            <a:r>
              <a:t>UC15: ĐĂNG KÝ LỊCH TIÊM</a:t>
            </a:r>
          </a:p>
        </p:txBody>
      </p:sp>
      <p:sp>
        <p:nvSpPr>
          <p:cNvPr id="11" name="TextBox 10"/>
          <p:cNvSpPr txBox="1"/>
          <p:nvPr/>
        </p:nvSpPr>
        <p:spPr>
          <a:xfrm>
            <a:off x="594360" y="1901952"/>
            <a:ext cx="10789920" cy="365760"/>
          </a:xfrm>
          <a:prstGeom prst="rect">
            <a:avLst/>
          </a:prstGeom>
          <a:noFill/>
          <a:effectLst/>
        </p:spPr>
        <p:txBody>
          <a:bodyPr wrap="square" lIns="0" rIns="0" tIns="0" bIns="0">
            <a:spAutoFit/>
          </a:bodyPr>
          <a:lstStyle/>
          <a:p>
            <a:pPr>
              <a:lnSpc>
                <a:spcPct val="110000"/>
              </a:lnSpc>
              <a:spcAft>
                <a:spcPts val="0"/>
              </a:spcAft>
              <a:defRPr sz="1700" b="0">
                <a:solidFill>
                  <a:srgbClr val="617E99"/>
                </a:solidFill>
                <a:latin typeface="Arial"/>
              </a:defRPr>
            </a:pPr>
            <a:r>
              <a:t>Giao diện được mô phỏng bằng Excel từ đặc tả nghiệp vụ.</a:t>
            </a:r>
          </a:p>
        </p:txBody>
      </p:sp>
      <p:sp>
        <p:nvSpPr>
          <p:cNvPr id="12" name="Rounded Rectangle 11"/>
          <p:cNvSpPr/>
          <p:nvPr/>
        </p:nvSpPr>
        <p:spPr>
          <a:xfrm>
            <a:off x="635508" y="2628900"/>
            <a:ext cx="7232904" cy="3648456"/>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94360" y="2569464"/>
            <a:ext cx="7232904" cy="3648456"/>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3"/>
          <a:stretch>
            <a:fillRect/>
          </a:stretch>
        </p:blipFill>
        <p:spPr>
          <a:xfrm>
            <a:off x="2074745" y="2651760"/>
            <a:ext cx="4272132" cy="3483864"/>
          </a:xfrm>
          <a:prstGeom prst="rect">
            <a:avLst/>
          </a:prstGeom>
          <a:effectLst/>
        </p:spPr>
      </p:pic>
      <p:sp>
        <p:nvSpPr>
          <p:cNvPr id="15" name="TextBox 14"/>
          <p:cNvSpPr txBox="1"/>
          <p:nvPr/>
        </p:nvSpPr>
        <p:spPr>
          <a:xfrm>
            <a:off x="8257031" y="2596896"/>
            <a:ext cx="3291840" cy="274320"/>
          </a:xfrm>
          <a:prstGeom prst="rect">
            <a:avLst/>
          </a:prstGeom>
          <a:noFill/>
          <a:effectLst/>
        </p:spPr>
        <p:txBody>
          <a:bodyPr wrap="square" lIns="0" rIns="0" tIns="0" bIns="0">
            <a:spAutoFit/>
          </a:bodyPr>
          <a:lstStyle/>
          <a:p>
            <a:pPr>
              <a:lnSpc>
                <a:spcPct val="110000"/>
              </a:lnSpc>
              <a:spcAft>
                <a:spcPts val="0"/>
              </a:spcAft>
              <a:defRPr sz="1300" b="1">
                <a:solidFill>
                  <a:srgbClr val="2D76C5"/>
                </a:solidFill>
                <a:latin typeface="Arial"/>
              </a:defRPr>
            </a:pPr>
            <a:r>
              <a:t>Từ mô hình → giao diện</a:t>
            </a:r>
          </a:p>
        </p:txBody>
      </p:sp>
      <p:sp>
        <p:nvSpPr>
          <p:cNvPr id="16" name="TextBox 15"/>
          <p:cNvSpPr txBox="1"/>
          <p:nvPr/>
        </p:nvSpPr>
        <p:spPr>
          <a:xfrm>
            <a:off x="8257031" y="3063240"/>
            <a:ext cx="36576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01</a:t>
            </a:r>
          </a:p>
        </p:txBody>
      </p:sp>
      <p:sp>
        <p:nvSpPr>
          <p:cNvPr id="17" name="TextBox 16"/>
          <p:cNvSpPr txBox="1"/>
          <p:nvPr/>
        </p:nvSpPr>
        <p:spPr>
          <a:xfrm>
            <a:off x="8759952" y="3044952"/>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294B6D"/>
                </a:solidFill>
                <a:latin typeface="Arial"/>
              </a:defRPr>
            </a:pPr>
            <a:r>
              <a:t>Các trường nhập bám đúng thông tin đăng ký lịch tiêm.</a:t>
            </a:r>
          </a:p>
        </p:txBody>
      </p:sp>
      <p:sp>
        <p:nvSpPr>
          <p:cNvPr id="18" name="TextBox 17"/>
          <p:cNvSpPr txBox="1"/>
          <p:nvPr/>
        </p:nvSpPr>
        <p:spPr>
          <a:xfrm>
            <a:off x="8257031" y="3867912"/>
            <a:ext cx="36576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02</a:t>
            </a:r>
          </a:p>
        </p:txBody>
      </p:sp>
      <p:sp>
        <p:nvSpPr>
          <p:cNvPr id="19" name="TextBox 18"/>
          <p:cNvSpPr txBox="1"/>
          <p:nvPr/>
        </p:nvSpPr>
        <p:spPr>
          <a:xfrm>
            <a:off x="8759952" y="3849624"/>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294B6D"/>
                </a:solidFill>
                <a:latin typeface="Arial"/>
              </a:defRPr>
            </a:pPr>
            <a:r>
              <a:t>Người dân chọn Vaccine, Mũi tiêm, Ngày giờ và Cơ sở tiêm.</a:t>
            </a:r>
          </a:p>
        </p:txBody>
      </p:sp>
      <p:sp>
        <p:nvSpPr>
          <p:cNvPr id="20" name="TextBox 19"/>
          <p:cNvSpPr txBox="1"/>
          <p:nvPr/>
        </p:nvSpPr>
        <p:spPr>
          <a:xfrm>
            <a:off x="8257031" y="4672584"/>
            <a:ext cx="36576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03</a:t>
            </a:r>
          </a:p>
        </p:txBody>
      </p:sp>
      <p:sp>
        <p:nvSpPr>
          <p:cNvPr id="21" name="TextBox 20"/>
          <p:cNvSpPr txBox="1"/>
          <p:nvPr/>
        </p:nvSpPr>
        <p:spPr>
          <a:xfrm>
            <a:off x="8759952" y="4654296"/>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294B6D"/>
                </a:solidFill>
                <a:latin typeface="Arial"/>
              </a:defRPr>
            </a:pPr>
            <a:r>
              <a:t>Nút Đăng ký gửi yêu cầu và tạo lịch tiêm mới.</a:t>
            </a:r>
          </a:p>
        </p:txBody>
      </p:sp>
      <p:sp>
        <p:nvSpPr>
          <p:cNvPr id="22" name="TextBox 21"/>
          <p:cNvSpPr txBox="1"/>
          <p:nvPr/>
        </p:nvSpPr>
        <p:spPr>
          <a:xfrm>
            <a:off x="8257031" y="5477256"/>
            <a:ext cx="365760" cy="228600"/>
          </a:xfrm>
          <a:prstGeom prst="rect">
            <a:avLst/>
          </a:prstGeom>
          <a:noFill/>
          <a:effectLst/>
        </p:spPr>
        <p:txBody>
          <a:bodyPr wrap="square" lIns="0" rIns="0" tIns="0" bIns="0">
            <a:spAutoFit/>
          </a:bodyPr>
          <a:lstStyle/>
          <a:p>
            <a:pPr>
              <a:lnSpc>
                <a:spcPct val="110000"/>
              </a:lnSpc>
              <a:spcAft>
                <a:spcPts val="0"/>
              </a:spcAft>
              <a:defRPr sz="1100" b="1">
                <a:solidFill>
                  <a:srgbClr val="2D76C5"/>
                </a:solidFill>
                <a:latin typeface="Arial"/>
              </a:defRPr>
            </a:pPr>
            <a:r>
              <a:t>04</a:t>
            </a:r>
          </a:p>
        </p:txBody>
      </p:sp>
      <p:sp>
        <p:nvSpPr>
          <p:cNvPr id="23" name="TextBox 22"/>
          <p:cNvSpPr txBox="1"/>
          <p:nvPr/>
        </p:nvSpPr>
        <p:spPr>
          <a:xfrm>
            <a:off x="8759952" y="5458968"/>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294B6D"/>
                </a:solidFill>
                <a:latin typeface="Arial"/>
              </a:defRPr>
            </a:pPr>
            <a:r>
              <a:t>Lịch được lưu trạng thái “Đã lên lịch” để nhân viên tiếp nhận.</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fill="hold"/>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fill="hold"/>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600" fill="hold"/>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fill="hold"/>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600" fill="hold"/>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600" fill="hold"/>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600" fill="hold"/>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600" fill="hold"/>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600" fill="hold"/>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600" fill="hold"/>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600" fill="hold"/>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600" fill="hold"/>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600" fill="hold"/>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600" fill="hold"/>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60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58" dur="indefinite" fill="hold">
                <p:stCondLst>
                  <p:cond delay="750"/>
                </p:stCondLst>
                <p:childTnLst>
                  <p:animMotion origin="layout" path="M 0 0 L 0 -0.006000 E" pathEditMode="relative" rAng="0">
                    <p:cBhvr additive="base">
                      <p:cTn id="59" dur="2900" repeatCount="indefinite" autoRev="1" accel="50000" decel="50000" fill="hold"/>
                      <p:tgtEl>
                        <p:spTgt spid="9"/>
                      </p:tgtEl>
                    </p:cBhvr>
                  </p:animMotion>
                </p:childTnLst>
              </p:cTn>
            </p:par>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gradFill>
          <a:gsLst>
            <a:gs pos="0">
              <a:srgbClr val="F8FCFF"/>
            </a:gs>
            <a:gs pos="62000">
              <a:srgbClr val="EDF6FF"/>
            </a:gs>
            <a:gs pos="100000">
              <a:srgbClr val="DEEDFF"/>
            </a:gs>
          </a:gsLst>
          <a:lin ang="2700000" scaled="1"/>
        </a:gradFill>
        <a:effectLst/>
      </p:bgPr>
    </p:bg>
    <p:spTree>
      <p:nvGrpSpPr>
        <p:cNvPr id="1" name=""/>
        <p:cNvGrpSpPr/>
        <p:nvPr/>
      </p:nvGrpSpPr>
      <p:grpSpPr/>
      <p:cxnSp>
        <p:nvCxnSpPr>
          <p:cNvPr id="2" name="Connector 1"/>
          <p:cNvCxnSpPr/>
          <p:nvPr/>
        </p:nvCxnSpPr>
        <p:spPr>
          <a:xfrm>
            <a:off x="548640" y="6382512"/>
            <a:ext cx="11073384" cy="0"/>
          </a:xfrm>
          <a:prstGeom prst="line">
            <a:avLst/>
          </a:prstGeom>
          <a:ln w="7620">
            <a:solidFill>
              <a:srgbClr val="CDDFEF"/>
            </a:solidFill>
          </a:ln>
          <a:effectLst/>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66928" y="6519672"/>
            <a:ext cx="9144000" cy="182880"/>
          </a:xfrm>
          <a:prstGeom prst="rect">
            <a:avLst/>
          </a:prstGeom>
          <a:noFill/>
          <a:effectLst/>
        </p:spPr>
        <p:txBody>
          <a:bodyPr wrap="square" lIns="0" rIns="0" tIns="0" bIns="0">
            <a:spAutoFit/>
          </a:bodyPr>
          <a:lstStyle/>
          <a:p>
            <a:pPr>
              <a:lnSpc>
                <a:spcPct val="110000"/>
              </a:lnSpc>
              <a:spcAft>
                <a:spcPts val="0"/>
              </a:spcAft>
              <a:defRPr sz="900" b="0">
                <a:solidFill>
                  <a:srgbClr val="617E99"/>
                </a:solidFill>
                <a:latin typeface="Arial"/>
              </a:defRPr>
            </a:pPr>
            <a:r>
              <a:t>PHAN TRỌNG PHÚC  /  12CNPM2  /  1250080148</a:t>
            </a:r>
          </a:p>
        </p:txBody>
      </p:sp>
      <p:sp>
        <p:nvSpPr>
          <p:cNvPr id="4" name="Rounded Rectangle 3"/>
          <p:cNvSpPr/>
          <p:nvPr/>
        </p:nvSpPr>
        <p:spPr>
          <a:xfrm>
            <a:off x="11073384" y="6473952"/>
            <a:ext cx="493776" cy="265176"/>
          </a:xfrm>
          <a:prstGeom prst="roundRect">
            <a:avLst>
              <a:gd name="adj" fmla="val 10000"/>
            </a:avLst>
          </a:prstGeom>
          <a:solidFill>
            <a:srgbClr val="2D76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11073384" y="6505956"/>
            <a:ext cx="493776" cy="182880"/>
          </a:xfrm>
          <a:prstGeom prst="rect">
            <a:avLst/>
          </a:prstGeom>
          <a:noFill/>
          <a:effectLst/>
        </p:spPr>
        <p:txBody>
          <a:bodyPr wrap="square" lIns="0" rIns="0" tIns="0" bIns="0">
            <a:spAutoFit/>
          </a:bodyPr>
          <a:lstStyle/>
          <a:p>
            <a:pPr algn="ctr">
              <a:lnSpc>
                <a:spcPct val="110000"/>
              </a:lnSpc>
              <a:spcAft>
                <a:spcPts val="0"/>
              </a:spcAft>
              <a:defRPr sz="1000" b="1">
                <a:solidFill>
                  <a:srgbClr val="FFFFFF"/>
                </a:solidFill>
                <a:latin typeface="Arial"/>
              </a:defRPr>
            </a:pPr>
            <a:r>
              <a:t>08</a:t>
            </a:r>
          </a:p>
        </p:txBody>
      </p:sp>
      <p:sp>
        <p:nvSpPr>
          <p:cNvPr id="6" name="Oval 5"/>
          <p:cNvSpPr/>
          <p:nvPr/>
        </p:nvSpPr>
        <p:spPr>
          <a:xfrm>
            <a:off x="7498079" y="1280160"/>
            <a:ext cx="4343400" cy="4343400"/>
          </a:xfrm>
          <a:prstGeom prst="ellipse">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7772400" y="1554480"/>
            <a:ext cx="3794760" cy="3794760"/>
          </a:xfrm>
          <a:prstGeom prst="ellipse">
            <a:avLst/>
          </a:prstGeom>
          <a:solidFill>
            <a:srgbClr val="EBF5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612648" y="429768"/>
            <a:ext cx="1508760" cy="310896"/>
          </a:xfrm>
          <a:prstGeom prst="roundRect">
            <a:avLst>
              <a:gd name="adj" fmla="val 10000"/>
            </a:avLst>
          </a:prstGeom>
          <a:solidFill>
            <a:srgbClr val="D8EA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12648" y="512064"/>
            <a:ext cx="1508760" cy="164592"/>
          </a:xfrm>
          <a:prstGeom prst="rect">
            <a:avLst/>
          </a:prstGeom>
          <a:noFill/>
          <a:effectLst/>
        </p:spPr>
        <p:txBody>
          <a:bodyPr wrap="square" lIns="0" rIns="0" tIns="0" bIns="0">
            <a:spAutoFit/>
          </a:bodyPr>
          <a:lstStyle/>
          <a:p>
            <a:pPr algn="ctr">
              <a:lnSpc>
                <a:spcPct val="110000"/>
              </a:lnSpc>
              <a:spcAft>
                <a:spcPts val="0"/>
              </a:spcAft>
              <a:defRPr sz="1100" b="1">
                <a:solidFill>
                  <a:srgbClr val="2D76C5"/>
                </a:solidFill>
                <a:latin typeface="Arial"/>
              </a:defRPr>
            </a:pPr>
            <a:r>
              <a:t>CẢM ƠN</a:t>
            </a:r>
          </a:p>
        </p:txBody>
      </p:sp>
      <p:sp>
        <p:nvSpPr>
          <p:cNvPr id="10" name="TextBox 9"/>
          <p:cNvSpPr txBox="1"/>
          <p:nvPr/>
        </p:nvSpPr>
        <p:spPr>
          <a:xfrm>
            <a:off x="630936" y="1828800"/>
            <a:ext cx="6400800" cy="2103120"/>
          </a:xfrm>
          <a:prstGeom prst="rect">
            <a:avLst/>
          </a:prstGeom>
          <a:noFill/>
          <a:effectLst/>
        </p:spPr>
        <p:txBody>
          <a:bodyPr wrap="square" lIns="0" rIns="0" tIns="0" bIns="0">
            <a:spAutoFit/>
          </a:bodyPr>
          <a:lstStyle/>
          <a:p>
            <a:pPr>
              <a:lnSpc>
                <a:spcPct val="104000"/>
              </a:lnSpc>
              <a:spcAft>
                <a:spcPts val="0"/>
              </a:spcAft>
              <a:defRPr sz="4000" b="1">
                <a:solidFill>
                  <a:srgbClr val="164B80"/>
                </a:solidFill>
                <a:latin typeface="Arial"/>
              </a:defRPr>
            </a:pPr>
            <a:r>
              <a:t>Cảm ơn thầy</a:t>
            </a:r>
          </a:p>
          <a:p>
            <a:pPr>
              <a:lnSpc>
                <a:spcPct val="104000"/>
              </a:lnSpc>
              <a:spcAft>
                <a:spcPts val="0"/>
              </a:spcAft>
              <a:defRPr sz="4000" b="1">
                <a:solidFill>
                  <a:srgbClr val="164B80"/>
                </a:solidFill>
                <a:latin typeface="Arial"/>
              </a:defRPr>
            </a:pPr>
            <a:r>
              <a:t>và các bạn</a:t>
            </a:r>
          </a:p>
          <a:p>
            <a:pPr>
              <a:lnSpc>
                <a:spcPct val="104000"/>
              </a:lnSpc>
              <a:spcAft>
                <a:spcPts val="0"/>
              </a:spcAft>
              <a:defRPr sz="4000" b="1">
                <a:solidFill>
                  <a:srgbClr val="164B80"/>
                </a:solidFill>
                <a:latin typeface="Arial"/>
              </a:defRPr>
            </a:pPr>
            <a:r>
              <a:t>đã lắng nghe</a:t>
            </a:r>
          </a:p>
        </p:txBody>
      </p:sp>
      <p:pic>
        <p:nvPicPr>
          <p:cNvPr id="11" name="Picture 10" descr="bac_si_tiem_chung_3d.png"/>
          <p:cNvPicPr>
            <a:picLocks noChangeAspect="1"/>
          </p:cNvPicPr>
          <p:nvPr/>
        </p:nvPicPr>
        <p:blipFill>
          <a:blip r:embed="rId2"/>
          <a:stretch>
            <a:fillRect/>
          </a:stretch>
        </p:blipFill>
        <p:spPr>
          <a:xfrm>
            <a:off x="7365492" y="1325880"/>
            <a:ext cx="4526280" cy="4526280"/>
          </a:xfrm>
          <a:prstGeom prst="rect">
            <a:avLst/>
          </a:prstGeom>
          <a:effectLst/>
        </p:spPr>
      </p:pic>
      <p:sp>
        <p:nvSpPr>
          <p:cNvPr id="12" name="Rounded Rectangle 11"/>
          <p:cNvSpPr/>
          <p:nvPr/>
        </p:nvSpPr>
        <p:spPr>
          <a:xfrm>
            <a:off x="681228" y="4768596"/>
            <a:ext cx="5870448" cy="950976"/>
          </a:xfrm>
          <a:prstGeom prst="roundRect">
            <a:avLst>
              <a:gd name="adj" fmla="val 10000"/>
            </a:avLst>
          </a:prstGeom>
          <a:solidFill>
            <a:srgbClr val="D8E8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640080" y="4709160"/>
            <a:ext cx="5870448" cy="950976"/>
          </a:xfrm>
          <a:prstGeom prst="roundRect">
            <a:avLst>
              <a:gd name="adj" fmla="val 10000"/>
            </a:avLst>
          </a:prstGeom>
          <a:solidFill>
            <a:srgbClr val="FFFFFF"/>
          </a:solidFill>
          <a:ln w="7620">
            <a:solidFill>
              <a:srgbClr val="D3E5F7"/>
            </a:solidFill>
          </a:ln>
          <a:effectLst>
            <a:outerShdw blurRad="180000" dist="45000" dir="5400000" algn="ctr" rotWithShape="0">
              <a:srgbClr val="7DA9D5">
                <a:alpha val="20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4937760"/>
            <a:ext cx="5303520" cy="292608"/>
          </a:xfrm>
          <a:prstGeom prst="rect">
            <a:avLst/>
          </a:prstGeom>
          <a:noFill/>
          <a:effectLst/>
        </p:spPr>
        <p:txBody>
          <a:bodyPr wrap="square" lIns="0" rIns="0" tIns="0" bIns="0">
            <a:spAutoFit/>
          </a:bodyPr>
          <a:lstStyle/>
          <a:p>
            <a:pPr>
              <a:lnSpc>
                <a:spcPct val="110000"/>
              </a:lnSpc>
              <a:spcAft>
                <a:spcPts val="0"/>
              </a:spcAft>
              <a:defRPr sz="1800" b="1">
                <a:solidFill>
                  <a:srgbClr val="164B80"/>
                </a:solidFill>
                <a:latin typeface="Arial"/>
              </a:defRPr>
            </a:pPr>
            <a:r>
              <a:t>PHAN TRỌNG PHÚC</a:t>
            </a:r>
          </a:p>
        </p:txBody>
      </p:sp>
      <p:sp>
        <p:nvSpPr>
          <p:cNvPr id="15" name="TextBox 14"/>
          <p:cNvSpPr txBox="1"/>
          <p:nvPr/>
        </p:nvSpPr>
        <p:spPr>
          <a:xfrm>
            <a:off x="896112" y="5358384"/>
            <a:ext cx="5303520" cy="237744"/>
          </a:xfrm>
          <a:prstGeom prst="rect">
            <a:avLst/>
          </a:prstGeom>
          <a:noFill/>
          <a:effectLst/>
        </p:spPr>
        <p:txBody>
          <a:bodyPr wrap="square" lIns="0" rIns="0" tIns="0" bIns="0">
            <a:spAutoFit/>
          </a:bodyPr>
          <a:lstStyle/>
          <a:p>
            <a:pPr>
              <a:lnSpc>
                <a:spcPct val="110000"/>
              </a:lnSpc>
              <a:spcAft>
                <a:spcPts val="0"/>
              </a:spcAft>
              <a:defRPr sz="1400" b="0">
                <a:solidFill>
                  <a:srgbClr val="617E99"/>
                </a:solidFill>
                <a:latin typeface="Arial"/>
              </a:defRPr>
            </a:pPr>
            <a:r>
              <a:t>12CNPM2  /  1250080148</a:t>
            </a:r>
          </a:p>
        </p:txBody>
      </p:sp>
    </p:spTree>
  </p:cSld>
  <p:clrMapOvr>
    <a:masterClrMapping/>
  </p:clrMapOvr>
  <p:transition spd="slow"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fill="hold"/>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fill="hold"/>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600" fill="hold"/>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00" fill="hold"/>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600" fill="hold"/>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00" fill="hold"/>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600" fill="hold"/>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par>
              <p:cTn id="28" dur="indefinite" fill="hold">
                <p:stCondLst>
                  <p:cond delay="750"/>
                </p:stCondLst>
                <p:childTnLst>
                  <p:animMotion origin="layout" path="M 0 0 L 0 -0.006000 E" pathEditMode="relative" rAng="0">
                    <p:cBhvr additive="base">
                      <p:cTn id="29" dur="2900" repeatCount="indefinite" autoRev="1" accel="50000" decel="50000" fill="hold"/>
                      <p:tgtEl>
                        <p:spTgt spid="11"/>
                      </p:tgtEl>
                    </p:cBhvr>
                  </p:animMotion>
                </p:childTnLst>
              </p:cTn>
            </p:par>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Cổng theo dõi tiêm chủng cộng đồng – 3D Blue</dc:title>
  <dc:subject>Bản trình chiếu minh họa 3D, hiệu ứng đối tượng và tông xanh dương</dc:subject>
  <dc:creator>Phan Trọng Phúc</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