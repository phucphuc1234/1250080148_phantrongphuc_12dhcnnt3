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ĐỀ TÀI</a:t>
            </a:r>
          </a:p>
          <a:p>
            <a:r>
              <a:t>CỔNG THEO DÕI</a:t>
            </a:r>
          </a:p>
          <a:p>
            <a:r>
              <a:t>TIÊM CHỦNG CỘNG ĐỒNG</a:t>
            </a:r>
          </a:p>
          <a:p>
            <a:r>
              <a:t>Phân tích và thiết kế hệ thống theo phương pháp lập trình hướng đối tượng</a:t>
            </a:r>
          </a:p>
          <a:p>
            <a:r>
              <a:t>SINH VIÊN</a:t>
            </a:r>
          </a:p>
          <a:p>
            <a:r>
              <a:t>Phan Trọng Phúc</a:t>
            </a:r>
          </a:p>
          <a:p>
            <a:r>
              <a:t>LỚP</a:t>
            </a:r>
          </a:p>
          <a:p>
            <a:r>
              <a:t>12CNPM2</a:t>
            </a:r>
          </a:p>
          <a:p>
            <a:r>
              <a:t>MSSV</a:t>
            </a:r>
          </a:p>
          <a:p>
            <a:r>
              <a:t>1250080148</a:t>
            </a:r>
          </a:p>
          <a:p>
            <a:r>
              <a:t>MÔN HỌC</a:t>
            </a:r>
          </a:p>
          <a:p>
            <a:r>
              <a:t>Phương pháp lập trình hướng đối tượng</a:t>
            </a:r>
          </a:p>
          <a:p>
            <a:r>
              <a:t>GIẢNG VIÊN</a:t>
            </a:r>
          </a:p>
          <a:p>
            <a:r>
              <a:t>Phạm Trọng Huynh</a:t>
            </a:r>
          </a:p>
          <a:p>
            <a:r>
              <a:t>01</a:t>
            </a:r>
          </a:p>
          <a:p>
            <a:r>
              <a:t>USE CASE</a:t>
            </a:r>
          </a:p>
          <a:p>
            <a:r>
              <a:t>02</a:t>
            </a:r>
          </a:p>
          <a:p>
            <a:r>
              <a:t>ACTIVITY</a:t>
            </a:r>
          </a:p>
          <a:p>
            <a:r>
              <a:t>03</a:t>
            </a:r>
          </a:p>
          <a:p>
            <a:r>
              <a:t>SEQUENCE</a:t>
            </a:r>
          </a:p>
          <a:p>
            <a:r>
              <a:t>04</a:t>
            </a:r>
          </a:p>
          <a:p>
            <a:r>
              <a:t>CLASS</a:t>
            </a:r>
          </a:p>
          <a:p>
            <a:r>
              <a:t>05</a:t>
            </a:r>
          </a:p>
          <a:p>
            <a:r>
              <a:t>GIAO DIỆN</a:t>
            </a:r>
          </a:p>
          <a:p>
            <a:r>
              <a:t>06</a:t>
            </a:r>
          </a:p>
          <a:p>
            <a:r>
              <a:t>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của đề tài là số hóa quy trình theo dõi tiêm chủng cộng đồng theo hướng tập trung, chính xác và thuận tiện. Hệ thống giúp người dân, nhân viên và quản trị viên cùng theo dõi toàn bộ vòng đời tiêm chủng trên một nền tảng. Người dân có thể đăng ký lịch, tra cứu lịch sử và nhận nhắc lịch. Nhân viên quản lý lịch, vaccine, lô vaccine và ghi nhận mũi tiêm. Quản trị viên quản lý tài khoản, phân quyền và truy vết vaccine. Dữ liệu được kết nối xuyên suốt từ đăng ký, xác nhận, tiêm đến theo dõi.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 • USE CASE</a:t>
            </a:r>
          </a:p>
          <a:p>
            <a:r>
              <a:t>USE CASE</a:t>
            </a:r>
          </a:p>
          <a:p>
            <a:r>
              <a:t>15 Use Case được phân chia rõ theo 3 nhóm người dùng chính.</a:t>
            </a:r>
          </a:p>
          <a:p>
            <a:r>
              <a:t>01</a:t>
            </a:r>
          </a:p>
          <a:p>
            <a:r>
              <a:t>PHAN TRỌNG PHÚC • 12CNPM2 • 1250080148</a:t>
            </a:r>
          </a:p>
          <a:p>
            <a:r>
              <a:t>15 UC</a:t>
            </a:r>
          </a:p>
          <a:p>
            <a:r>
              <a:t>Ba tác nhân chính</a:t>
            </a:r>
          </a:p>
          <a:p>
            <a:r>
              <a:t>NGƯỜI DÂN</a:t>
            </a:r>
          </a:p>
          <a:p>
            <a:r>
              <a:t>Đăng ký/đăng nhập, hồ sơ, lịch tiêm, lịch sử, nhắc lịch</a:t>
            </a:r>
          </a:p>
          <a:p>
            <a:r>
              <a:t>NHÂN VIÊN</a:t>
            </a:r>
          </a:p>
          <a:p>
            <a:r>
              <a:t>Quản lý lịch, vaccine, lô, chống chỉ định, ghi nhận mũi tiêm</a:t>
            </a:r>
          </a:p>
          <a:p>
            <a:r>
              <a:t>QUẢN TRỊ VIÊN</a:t>
            </a:r>
          </a:p>
          <a:p>
            <a:r>
              <a:t>Tài khoản, phân quyền, vaccine/lô và truy vết</a:t>
            </a:r>
          </a:p>
          <a:p>
            <a:r>
              <a:t>Trọng tâm nghiệp vụ</a:t>
            </a:r>
          </a:p>
          <a:p>
            <a:r>
              <a:t>Đăng ký lịch → xác nhận → ghi nhận mũi → lịch sử/truy vết</a:t>
            </a:r>
          </a:p>
          <a:p>
            <a:r>
              <a:t>Use Case tổng quát – ánh xạ đầy đủ quyền của Người dân, Nhân viên và Quản trị viên.</a:t>
            </a:r>
          </a:p>
          <a:p>
            <a:r>
              <a:t>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 • ACTIVITY DIAGRAM</a:t>
            </a:r>
          </a:p>
          <a:p>
            <a:r>
              <a:t>ACTIVITY DIAGRAM</a:t>
            </a:r>
          </a:p>
          <a:p>
            <a:r>
              <a:t>Mô tả luồng nghiệp vụ giữa hai swimlane: Người dân và Hệ thống.</a:t>
            </a:r>
          </a:p>
          <a:p>
            <a:r>
              <a:t>02</a:t>
            </a:r>
          </a:p>
          <a:p>
            <a:r>
              <a:t>PHAN TRỌNG PHÚC • 12CNPM2 • 1250080148</a:t>
            </a:r>
          </a:p>
          <a:p>
            <a:r>
              <a:t>Luồng chính</a:t>
            </a:r>
          </a:p>
          <a:p>
            <a:r>
              <a:t>Người dân chọn chức năng đăng ký lịch tiêm.</a:t>
            </a:r>
          </a:p>
          <a:p>
            <a:r>
              <a:t>Chọn vaccine, ngày và cơ sở tiêm mong muốn.</a:t>
            </a:r>
          </a:p>
          <a:p>
            <a:r>
              <a:t>Hệ thống kiểm tra suất tiêm và điều kiện tồn kho.</a:t>
            </a:r>
          </a:p>
          <a:p>
            <a:r>
              <a:t>Còn suất → tạo LichTiem; hết suất → yêu cầu chọn lại.</a:t>
            </a:r>
          </a:p>
          <a:p>
            <a:r>
              <a:t>Điểm quyết định</a:t>
            </a:r>
          </a:p>
          <a:p>
            <a:r>
              <a:t>“Còn suất tiêm?” giúp tách rõ luồng thành công và luồng chọn lại.</a:t>
            </a:r>
          </a:p>
          <a:p>
            <a:r>
              <a:t>Activity Diagram – tập trung vào trình tự nghiệp vụ và nhánh quyết định.</a:t>
            </a:r>
          </a:p>
          <a:p>
            <a:r>
              <a:t>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 • SEQUENCE DIAGRAM</a:t>
            </a:r>
          </a:p>
          <a:p>
            <a:r>
              <a:t>SEQUENCE DIAGRAM</a:t>
            </a:r>
          </a:p>
          <a:p>
            <a:r>
              <a:t>Sequence Diagram thể hiện thứ tự tương tác giữa Người dân, giao diện, hệ thống xử lý và cơ sở dữ liệu.</a:t>
            </a:r>
          </a:p>
          <a:p>
            <a:r>
              <a:t>03</a:t>
            </a:r>
          </a:p>
          <a:p>
            <a:r>
              <a:t>PHAN TRỌNG PHÚC • 12CNPM2 • 1250080148</a:t>
            </a:r>
          </a:p>
          <a:p>
            <a:r>
              <a:t>Luồng xử lý đăng ký</a:t>
            </a:r>
          </a:p>
          <a:p>
            <a:r>
              <a:t>NGƯỜI DÂN THAO TÁC</a:t>
            </a:r>
          </a:p>
          <a:p>
            <a:r>
              <a:t>Chọn vaccine, ngày giờ, cơ sở tiêm và gửi yêu cầu đăng ký.</a:t>
            </a:r>
          </a:p>
          <a:p>
            <a:r>
              <a:t>HỆ THỐNG XỬ LÝ</a:t>
            </a:r>
          </a:p>
          <a:p>
            <a:r>
              <a:t>Kiểm tra thông tin, kiểm tra điều kiện và tạo lịch tiêm nếu hợp lệ.</a:t>
            </a:r>
          </a:p>
          <a:p>
            <a:r>
              <a:t>LƯU VÀ PHẢN HỒI</a:t>
            </a:r>
          </a:p>
          <a:p>
            <a:r>
              <a:t>Lưu lịch vào cơ sở dữ liệu, sau đó thông báo đăng ký thành công cho người dân.</a:t>
            </a:r>
          </a:p>
          <a:p>
            <a:r>
              <a:t>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 • CLASS DIAGRAM</a:t>
            </a:r>
          </a:p>
          <a:p>
            <a:r>
              <a:t>CLASS DIAGRAM</a:t>
            </a:r>
          </a:p>
          <a:p>
            <a:r>
              <a:t>Các lớp được tổ chức theo trách nhiệm và liên kết trực tiếp với nghiệp vụ tiêm chủng.</a:t>
            </a:r>
          </a:p>
          <a:p>
            <a:r>
              <a:t>PHAN TRỌNG PHÚC • 12CNPM2 • 1250080148</a:t>
            </a:r>
          </a:p>
          <a:p>
            <a:r>
              <a:t>9 LỚP CHÍNH</a:t>
            </a:r>
          </a:p>
          <a:p>
            <a:r>
              <a:t>Ba nhóm lớp</a:t>
            </a:r>
          </a:p>
          <a:p>
            <a:r>
              <a:t>NGƯỜI DÙNG</a:t>
            </a:r>
          </a:p>
          <a:p>
            <a:r>
              <a:t>TaiKhoan • NguoiDan</a:t>
            </a:r>
          </a:p>
          <a:p>
            <a:r>
              <a:t>Xác thực, hồ sơ và quyền truy cập</a:t>
            </a:r>
          </a:p>
          <a:p>
            <a:r>
              <a:t>NGHIỆP VỤ TIÊM</a:t>
            </a:r>
          </a:p>
          <a:p>
            <a:r>
              <a:t>LichTiem • MuiTiem • Vaccine • LoVaccine</a:t>
            </a:r>
          </a:p>
          <a:p>
            <a:r>
              <a:t>Theo dõi lịch, mũi tiêm và truy vết lô</a:t>
            </a:r>
          </a:p>
          <a:p>
            <a:r>
              <a:t>KIỂM SOÁT</a:t>
            </a:r>
          </a:p>
          <a:p>
            <a:r>
              <a:t>ChongChiDinh • ThongBao • LichSuHieuChinh</a:t>
            </a:r>
          </a:p>
          <a:p>
            <a:r>
              <a:t>An toàn, nhắc lịch và lưu vết thay đổi</a:t>
            </a:r>
          </a:p>
          <a:p>
            <a:r>
              <a:t>Mỗi lớp đóng gói dữ liệu + hành vi.</a:t>
            </a:r>
          </a:p>
          <a:p>
            <a:r>
              <a:t>Class Diagram – cấu trúc dữ liệu và quan hệ giữa các đối tượng trong miền tiêm chủng.</a:t>
            </a:r>
          </a:p>
          <a:p>
            <a:r>
              <a:t>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 • GIAO DIỆN EXCEL</a:t>
            </a:r>
          </a:p>
          <a:p>
            <a:r>
              <a:t>GIAO DIỆN EXCEL-UC15:ĐĂNG KÝ LỊCH TIÊM</a:t>
            </a:r>
          </a:p>
          <a:p>
            <a:r>
              <a:t>Giao diện được mô phỏng bằng Excel từ đặc tả nghiệp vụ, sau đó hiện thực trên ReactJS.</a:t>
            </a:r>
          </a:p>
          <a:p>
            <a:r>
              <a:t>PHAN TRỌNG PHÚC • 12CNPM2 • 1250080148</a:t>
            </a:r>
          </a:p>
          <a:p>
            <a:r>
              <a:t>Từ mô hình → giao diện</a:t>
            </a:r>
          </a:p>
          <a:p>
            <a:r>
              <a:t>Các trường nhập bám đúng thông tin đăng ký lịch tiêm.</a:t>
            </a:r>
          </a:p>
          <a:p>
            <a:r>
              <a:t>Người dân chọn Vaccine, Mũi tiêm, Ngày giờ và Cơ sở tiêm.</a:t>
            </a:r>
          </a:p>
          <a:p>
            <a:r>
              <a:t>Nút Đăng ký gửi yêu cầu và tạo lịch tiêm mới.</a:t>
            </a:r>
          </a:p>
          <a:p>
            <a:r>
              <a:t>Lịch được lưu trạng thái “Đã lên lịch” để nhân viên tiếp nhận.</a:t>
            </a:r>
          </a:p>
          <a:p>
            <a:r>
              <a:t>7</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CẢM ƠN THẦY VÀ CÁC BẠN ĐÃ LẮNG NGHE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82E"/>
        </a:solidFill>
        <a:effectLst/>
      </p:bgPr>
    </p:bg>
    <p:spTree>
      <p:nvGrpSpPr>
        <p:cNvPr id="1" name=""/>
        <p:cNvGrpSpPr/>
        <p:nvPr/>
      </p:nvGrpSpPr>
      <p:grpSpPr/>
      <p:sp>
        <p:nvSpPr>
          <p:cNvPr id="2" name="TextBox 1"/>
          <p:cNvSpPr txBox="1"/>
          <p:nvPr/>
        </p:nvSpPr>
        <p:spPr>
          <a:xfrm>
            <a:off x="566928" y="6492240"/>
            <a:ext cx="8961120" cy="201168"/>
          </a:xfrm>
          <a:prstGeom prst="rect">
            <a:avLst/>
          </a:prstGeom>
          <a:noFill/>
          <a:effectLst/>
        </p:spPr>
        <p:txBody>
          <a:bodyPr wrap="square" lIns="0" rIns="0" tIns="0" bIns="0">
            <a:spAutoFit/>
          </a:bodyPr>
          <a:lstStyle/>
          <a:p>
            <a:pPr>
              <a:lnSpc>
                <a:spcPct val="112000"/>
              </a:lnSpc>
              <a:spcAft>
                <a:spcPts val="0"/>
              </a:spcAft>
              <a:defRPr sz="900" b="0">
                <a:solidFill>
                  <a:srgbClr val="B8CFCA"/>
                </a:solidFill>
                <a:latin typeface="Arial"/>
              </a:defRPr>
            </a:pPr>
            <a:r>
              <a:t>PHAN TRỌNG PHÚC  /  12CNPM2  /  1250080148</a:t>
            </a:r>
          </a:p>
        </p:txBody>
      </p:sp>
      <p:sp>
        <p:nvSpPr>
          <p:cNvPr id="3" name="TextBox 2"/>
          <p:cNvSpPr txBox="1"/>
          <p:nvPr/>
        </p:nvSpPr>
        <p:spPr>
          <a:xfrm>
            <a:off x="11000232" y="6437376"/>
            <a:ext cx="603504" cy="274320"/>
          </a:xfrm>
          <a:prstGeom prst="rect">
            <a:avLst/>
          </a:prstGeom>
          <a:noFill/>
          <a:effectLst/>
        </p:spPr>
        <p:txBody>
          <a:bodyPr wrap="square" lIns="0" rIns="0" tIns="0" bIns="0">
            <a:spAutoFit/>
          </a:bodyPr>
          <a:lstStyle/>
          <a:p>
            <a:pPr algn="r">
              <a:lnSpc>
                <a:spcPct val="112000"/>
              </a:lnSpc>
              <a:spcAft>
                <a:spcPts val="0"/>
              </a:spcAft>
              <a:defRPr sz="1400" b="1">
                <a:solidFill>
                  <a:srgbClr val="BA965B"/>
                </a:solidFill>
                <a:latin typeface="Arial"/>
              </a:defRPr>
            </a:pPr>
            <a:r>
              <a:t>01</a:t>
            </a:r>
          </a:p>
        </p:txBody>
      </p:sp>
      <p:cxnSp>
        <p:nvCxnSpPr>
          <p:cNvPr id="4" name="Connector 3"/>
          <p:cNvCxnSpPr/>
          <p:nvPr/>
        </p:nvCxnSpPr>
        <p:spPr>
          <a:xfrm>
            <a:off x="566928" y="6345936"/>
            <a:ext cx="11045952" cy="0"/>
          </a:xfrm>
          <a:prstGeom prst="line">
            <a:avLst/>
          </a:prstGeom>
          <a:ln w="7620">
            <a:solidFill>
              <a:srgbClr val="285057"/>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0" y="0"/>
            <a:ext cx="109728" cy="6858000"/>
          </a:xfrm>
          <a:prstGeom prst="rect">
            <a:avLst/>
          </a:prstGeom>
          <a:solidFill>
            <a:srgbClr val="BA96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 y="438912"/>
            <a:ext cx="7315200" cy="228600"/>
          </a:xfrm>
          <a:prstGeom prst="rect">
            <a:avLst/>
          </a:prstGeom>
          <a:noFill/>
          <a:effectLst/>
        </p:spPr>
        <p:txBody>
          <a:bodyPr wrap="square" lIns="0" rIns="0" tIns="0" bIns="0">
            <a:spAutoFit/>
          </a:bodyPr>
          <a:lstStyle/>
          <a:p>
            <a:pPr>
              <a:lnSpc>
                <a:spcPct val="112000"/>
              </a:lnSpc>
              <a:spcAft>
                <a:spcPts val="0"/>
              </a:spcAft>
              <a:defRPr sz="1200" b="1">
                <a:solidFill>
                  <a:srgbClr val="BA965B"/>
                </a:solidFill>
                <a:latin typeface="Arial"/>
              </a:defRPr>
            </a:pPr>
            <a:r>
              <a:t>ĐỀ TÀI</a:t>
            </a:r>
          </a:p>
        </p:txBody>
      </p:sp>
      <p:cxnSp>
        <p:nvCxnSpPr>
          <p:cNvPr id="7" name="Connector 6"/>
          <p:cNvCxnSpPr/>
          <p:nvPr/>
        </p:nvCxnSpPr>
        <p:spPr>
          <a:xfrm>
            <a:off x="621792" y="932688"/>
            <a:ext cx="10927080" cy="0"/>
          </a:xfrm>
          <a:prstGeom prst="line">
            <a:avLst/>
          </a:prstGeom>
          <a:ln w="9525">
            <a:solidFill>
              <a:srgbClr val="37565A"/>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94360" y="1298448"/>
            <a:ext cx="7680960" cy="2157984"/>
          </a:xfrm>
          <a:prstGeom prst="rect">
            <a:avLst/>
          </a:prstGeom>
          <a:noFill/>
          <a:effectLst/>
        </p:spPr>
        <p:txBody>
          <a:bodyPr wrap="square" lIns="0" rIns="0" tIns="0" bIns="0">
            <a:spAutoFit/>
          </a:bodyPr>
          <a:lstStyle/>
          <a:p>
            <a:pPr>
              <a:lnSpc>
                <a:spcPct val="103000"/>
              </a:lnSpc>
              <a:spcAft>
                <a:spcPts val="0"/>
              </a:spcAft>
              <a:defRPr sz="4100" b="0">
                <a:solidFill>
                  <a:srgbClr val="FFFFFF"/>
                </a:solidFill>
                <a:latin typeface="Georgia"/>
              </a:defRPr>
            </a:pPr>
            <a:r>
              <a:t>CỔNG THEO DÕI</a:t>
            </a:r>
          </a:p>
          <a:p>
            <a:pPr>
              <a:lnSpc>
                <a:spcPct val="103000"/>
              </a:lnSpc>
              <a:spcAft>
                <a:spcPts val="0"/>
              </a:spcAft>
              <a:defRPr sz="4100" b="0">
                <a:solidFill>
                  <a:srgbClr val="FFFFFF"/>
                </a:solidFill>
                <a:latin typeface="Georgia"/>
              </a:defRPr>
            </a:pPr>
            <a:r>
              <a:t>TIÊM CHỦNG</a:t>
            </a:r>
          </a:p>
          <a:p>
            <a:pPr>
              <a:lnSpc>
                <a:spcPct val="103000"/>
              </a:lnSpc>
              <a:spcAft>
                <a:spcPts val="0"/>
              </a:spcAft>
              <a:defRPr sz="4100" b="0">
                <a:solidFill>
                  <a:srgbClr val="FFFFFF"/>
                </a:solidFill>
                <a:latin typeface="Georgia"/>
              </a:defRPr>
            </a:pPr>
            <a:r>
              <a:t>CỘNG ĐỒNG</a:t>
            </a:r>
          </a:p>
        </p:txBody>
      </p:sp>
      <p:sp>
        <p:nvSpPr>
          <p:cNvPr id="9" name="TextBox 8"/>
          <p:cNvSpPr txBox="1"/>
          <p:nvPr/>
        </p:nvSpPr>
        <p:spPr>
          <a:xfrm>
            <a:off x="658368" y="3675887"/>
            <a:ext cx="6949440" cy="640080"/>
          </a:xfrm>
          <a:prstGeom prst="rect">
            <a:avLst/>
          </a:prstGeom>
          <a:noFill/>
          <a:effectLst/>
        </p:spPr>
        <p:txBody>
          <a:bodyPr wrap="square" lIns="0" rIns="0" tIns="0" bIns="0">
            <a:spAutoFit/>
          </a:bodyPr>
          <a:lstStyle/>
          <a:p>
            <a:pPr>
              <a:lnSpc>
                <a:spcPct val="115000"/>
              </a:lnSpc>
              <a:spcAft>
                <a:spcPts val="0"/>
              </a:spcAft>
              <a:defRPr sz="1800" b="0">
                <a:solidFill>
                  <a:srgbClr val="B8CFCA"/>
                </a:solidFill>
                <a:latin typeface="Arial"/>
              </a:defRPr>
            </a:pPr>
            <a:r>
              <a:t>Phân tích và thiết kế hệ thống theo phương pháp lập trình hướng đối tượng</a:t>
            </a:r>
          </a:p>
        </p:txBody>
      </p:sp>
      <p:cxnSp>
        <p:nvCxnSpPr>
          <p:cNvPr id="10" name="Connector 9"/>
          <p:cNvCxnSpPr/>
          <p:nvPr/>
        </p:nvCxnSpPr>
        <p:spPr>
          <a:xfrm>
            <a:off x="658368" y="4526280"/>
            <a:ext cx="7059168" cy="0"/>
          </a:xfrm>
          <a:prstGeom prst="line">
            <a:avLst/>
          </a:prstGeom>
          <a:ln w="8890">
            <a:solidFill>
              <a:srgbClr val="37565A"/>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58368" y="4727448"/>
            <a:ext cx="3017520" cy="201168"/>
          </a:xfrm>
          <a:prstGeom prst="rect">
            <a:avLst/>
          </a:prstGeom>
          <a:noFill/>
          <a:effectLst/>
        </p:spPr>
        <p:txBody>
          <a:bodyPr wrap="square" lIns="0" rIns="0" tIns="0" bIns="0">
            <a:spAutoFit/>
          </a:bodyPr>
          <a:lstStyle/>
          <a:p>
            <a:pPr>
              <a:lnSpc>
                <a:spcPct val="112000"/>
              </a:lnSpc>
              <a:spcAft>
                <a:spcPts val="0"/>
              </a:spcAft>
              <a:defRPr sz="900" b="1">
                <a:solidFill>
                  <a:srgbClr val="BA965B"/>
                </a:solidFill>
                <a:latin typeface="Arial"/>
              </a:defRPr>
            </a:pPr>
            <a:r>
              <a:t>SINH VIÊN</a:t>
            </a:r>
          </a:p>
        </p:txBody>
      </p:sp>
      <p:sp>
        <p:nvSpPr>
          <p:cNvPr id="12" name="TextBox 11"/>
          <p:cNvSpPr txBox="1"/>
          <p:nvPr/>
        </p:nvSpPr>
        <p:spPr>
          <a:xfrm>
            <a:off x="658368" y="4946904"/>
            <a:ext cx="3017520" cy="310896"/>
          </a:xfrm>
          <a:prstGeom prst="rect">
            <a:avLst/>
          </a:prstGeom>
          <a:noFill/>
          <a:effectLst/>
        </p:spPr>
        <p:txBody>
          <a:bodyPr wrap="square" lIns="0" rIns="0" tIns="0" bIns="0">
            <a:spAutoFit/>
          </a:bodyPr>
          <a:lstStyle/>
          <a:p>
            <a:pPr>
              <a:lnSpc>
                <a:spcPct val="112000"/>
              </a:lnSpc>
              <a:spcAft>
                <a:spcPts val="0"/>
              </a:spcAft>
              <a:defRPr sz="1800" b="0">
                <a:solidFill>
                  <a:srgbClr val="FFFFFF"/>
                </a:solidFill>
                <a:latin typeface="Arial"/>
              </a:defRPr>
            </a:pPr>
            <a:r>
              <a:t>Phan Trọng Phúc</a:t>
            </a:r>
          </a:p>
        </p:txBody>
      </p:sp>
      <p:sp>
        <p:nvSpPr>
          <p:cNvPr id="13" name="TextBox 12"/>
          <p:cNvSpPr txBox="1"/>
          <p:nvPr/>
        </p:nvSpPr>
        <p:spPr>
          <a:xfrm>
            <a:off x="4206240" y="4727448"/>
            <a:ext cx="3291840" cy="201168"/>
          </a:xfrm>
          <a:prstGeom prst="rect">
            <a:avLst/>
          </a:prstGeom>
          <a:noFill/>
          <a:effectLst/>
        </p:spPr>
        <p:txBody>
          <a:bodyPr wrap="square" lIns="0" rIns="0" tIns="0" bIns="0">
            <a:spAutoFit/>
          </a:bodyPr>
          <a:lstStyle/>
          <a:p>
            <a:pPr>
              <a:lnSpc>
                <a:spcPct val="112000"/>
              </a:lnSpc>
              <a:spcAft>
                <a:spcPts val="0"/>
              </a:spcAft>
              <a:defRPr sz="900" b="1">
                <a:solidFill>
                  <a:srgbClr val="BA965B"/>
                </a:solidFill>
                <a:latin typeface="Arial"/>
              </a:defRPr>
            </a:pPr>
            <a:r>
              <a:t>MSSV</a:t>
            </a:r>
          </a:p>
        </p:txBody>
      </p:sp>
      <p:sp>
        <p:nvSpPr>
          <p:cNvPr id="14" name="TextBox 13"/>
          <p:cNvSpPr txBox="1"/>
          <p:nvPr/>
        </p:nvSpPr>
        <p:spPr>
          <a:xfrm>
            <a:off x="4206240" y="4946904"/>
            <a:ext cx="3291840" cy="310896"/>
          </a:xfrm>
          <a:prstGeom prst="rect">
            <a:avLst/>
          </a:prstGeom>
          <a:noFill/>
          <a:effectLst/>
        </p:spPr>
        <p:txBody>
          <a:bodyPr wrap="square" lIns="0" rIns="0" tIns="0" bIns="0">
            <a:spAutoFit/>
          </a:bodyPr>
          <a:lstStyle/>
          <a:p>
            <a:pPr>
              <a:lnSpc>
                <a:spcPct val="112000"/>
              </a:lnSpc>
              <a:spcAft>
                <a:spcPts val="0"/>
              </a:spcAft>
              <a:defRPr sz="1800" b="0">
                <a:solidFill>
                  <a:srgbClr val="FFFFFF"/>
                </a:solidFill>
                <a:latin typeface="Arial"/>
              </a:defRPr>
            </a:pPr>
            <a:r>
              <a:t>1250080148</a:t>
            </a:r>
          </a:p>
        </p:txBody>
      </p:sp>
      <p:sp>
        <p:nvSpPr>
          <p:cNvPr id="15" name="TextBox 14"/>
          <p:cNvSpPr txBox="1"/>
          <p:nvPr/>
        </p:nvSpPr>
        <p:spPr>
          <a:xfrm>
            <a:off x="658368" y="5376672"/>
            <a:ext cx="3017520" cy="201168"/>
          </a:xfrm>
          <a:prstGeom prst="rect">
            <a:avLst/>
          </a:prstGeom>
          <a:noFill/>
          <a:effectLst/>
        </p:spPr>
        <p:txBody>
          <a:bodyPr wrap="square" lIns="0" rIns="0" tIns="0" bIns="0">
            <a:spAutoFit/>
          </a:bodyPr>
          <a:lstStyle/>
          <a:p>
            <a:pPr>
              <a:lnSpc>
                <a:spcPct val="112000"/>
              </a:lnSpc>
              <a:spcAft>
                <a:spcPts val="0"/>
              </a:spcAft>
              <a:defRPr sz="900" b="1">
                <a:solidFill>
                  <a:srgbClr val="BA965B"/>
                </a:solidFill>
                <a:latin typeface="Arial"/>
              </a:defRPr>
            </a:pPr>
            <a:r>
              <a:t>LỚP</a:t>
            </a:r>
          </a:p>
        </p:txBody>
      </p:sp>
      <p:sp>
        <p:nvSpPr>
          <p:cNvPr id="16" name="TextBox 15"/>
          <p:cNvSpPr txBox="1"/>
          <p:nvPr/>
        </p:nvSpPr>
        <p:spPr>
          <a:xfrm>
            <a:off x="658368" y="5596128"/>
            <a:ext cx="3017520" cy="310896"/>
          </a:xfrm>
          <a:prstGeom prst="rect">
            <a:avLst/>
          </a:prstGeom>
          <a:noFill/>
          <a:effectLst/>
        </p:spPr>
        <p:txBody>
          <a:bodyPr wrap="square" lIns="0" rIns="0" tIns="0" bIns="0">
            <a:spAutoFit/>
          </a:bodyPr>
          <a:lstStyle/>
          <a:p>
            <a:pPr>
              <a:lnSpc>
                <a:spcPct val="112000"/>
              </a:lnSpc>
              <a:spcAft>
                <a:spcPts val="0"/>
              </a:spcAft>
              <a:defRPr sz="1800" b="0">
                <a:solidFill>
                  <a:srgbClr val="FFFFFF"/>
                </a:solidFill>
                <a:latin typeface="Arial"/>
              </a:defRPr>
            </a:pPr>
            <a:r>
              <a:t>12CNPM2</a:t>
            </a:r>
          </a:p>
        </p:txBody>
      </p:sp>
      <p:sp>
        <p:nvSpPr>
          <p:cNvPr id="17" name="TextBox 16"/>
          <p:cNvSpPr txBox="1"/>
          <p:nvPr/>
        </p:nvSpPr>
        <p:spPr>
          <a:xfrm>
            <a:off x="4206240" y="5376672"/>
            <a:ext cx="3291840" cy="201168"/>
          </a:xfrm>
          <a:prstGeom prst="rect">
            <a:avLst/>
          </a:prstGeom>
          <a:noFill/>
          <a:effectLst/>
        </p:spPr>
        <p:txBody>
          <a:bodyPr wrap="square" lIns="0" rIns="0" tIns="0" bIns="0">
            <a:spAutoFit/>
          </a:bodyPr>
          <a:lstStyle/>
          <a:p>
            <a:pPr>
              <a:lnSpc>
                <a:spcPct val="112000"/>
              </a:lnSpc>
              <a:spcAft>
                <a:spcPts val="0"/>
              </a:spcAft>
              <a:defRPr sz="900" b="1">
                <a:solidFill>
                  <a:srgbClr val="BA965B"/>
                </a:solidFill>
                <a:latin typeface="Arial"/>
              </a:defRPr>
            </a:pPr>
            <a:r>
              <a:t>GIẢNG VIÊN</a:t>
            </a:r>
          </a:p>
        </p:txBody>
      </p:sp>
      <p:sp>
        <p:nvSpPr>
          <p:cNvPr id="18" name="TextBox 17"/>
          <p:cNvSpPr txBox="1"/>
          <p:nvPr/>
        </p:nvSpPr>
        <p:spPr>
          <a:xfrm>
            <a:off x="4206240" y="5596128"/>
            <a:ext cx="3291840" cy="310896"/>
          </a:xfrm>
          <a:prstGeom prst="rect">
            <a:avLst/>
          </a:prstGeom>
          <a:noFill/>
          <a:effectLst/>
        </p:spPr>
        <p:txBody>
          <a:bodyPr wrap="square" lIns="0" rIns="0" tIns="0" bIns="0">
            <a:spAutoFit/>
          </a:bodyPr>
          <a:lstStyle/>
          <a:p>
            <a:pPr>
              <a:lnSpc>
                <a:spcPct val="112000"/>
              </a:lnSpc>
              <a:spcAft>
                <a:spcPts val="0"/>
              </a:spcAft>
              <a:defRPr sz="1800" b="0">
                <a:solidFill>
                  <a:srgbClr val="FFFFFF"/>
                </a:solidFill>
                <a:latin typeface="Arial"/>
              </a:defRPr>
            </a:pPr>
            <a:r>
              <a:t>Phạm Trọng Huynh</a:t>
            </a:r>
          </a:p>
        </p:txBody>
      </p:sp>
      <p:sp>
        <p:nvSpPr>
          <p:cNvPr id="19" name="TextBox 18"/>
          <p:cNvSpPr txBox="1"/>
          <p:nvPr/>
        </p:nvSpPr>
        <p:spPr>
          <a:xfrm>
            <a:off x="658368" y="6016752"/>
            <a:ext cx="1005840" cy="182880"/>
          </a:xfrm>
          <a:prstGeom prst="rect">
            <a:avLst/>
          </a:prstGeom>
          <a:noFill/>
          <a:effectLst/>
        </p:spPr>
        <p:txBody>
          <a:bodyPr wrap="square" lIns="0" rIns="0" tIns="0" bIns="0">
            <a:spAutoFit/>
          </a:bodyPr>
          <a:lstStyle/>
          <a:p>
            <a:pPr>
              <a:lnSpc>
                <a:spcPct val="112000"/>
              </a:lnSpc>
              <a:spcAft>
                <a:spcPts val="0"/>
              </a:spcAft>
              <a:defRPr sz="900" b="1">
                <a:solidFill>
                  <a:srgbClr val="BA965B"/>
                </a:solidFill>
                <a:latin typeface="Arial"/>
              </a:defRPr>
            </a:pPr>
            <a:r>
              <a:t>MÔN HỌC</a:t>
            </a:r>
          </a:p>
        </p:txBody>
      </p:sp>
      <p:sp>
        <p:nvSpPr>
          <p:cNvPr id="20" name="TextBox 19"/>
          <p:cNvSpPr txBox="1"/>
          <p:nvPr/>
        </p:nvSpPr>
        <p:spPr>
          <a:xfrm>
            <a:off x="1764792" y="5971032"/>
            <a:ext cx="6035040" cy="274320"/>
          </a:xfrm>
          <a:prstGeom prst="rect">
            <a:avLst/>
          </a:prstGeom>
          <a:noFill/>
          <a:effectLst/>
        </p:spPr>
        <p:txBody>
          <a:bodyPr wrap="square" lIns="0" rIns="0" tIns="0" bIns="0">
            <a:spAutoFit/>
          </a:bodyPr>
          <a:lstStyle/>
          <a:p>
            <a:pPr>
              <a:lnSpc>
                <a:spcPct val="112000"/>
              </a:lnSpc>
              <a:spcAft>
                <a:spcPts val="0"/>
              </a:spcAft>
              <a:defRPr sz="1400" b="0">
                <a:solidFill>
                  <a:srgbClr val="B8CFCA"/>
                </a:solidFill>
                <a:latin typeface="Arial"/>
              </a:defRPr>
            </a:pPr>
            <a:r>
              <a:t>Phương pháp lập trình hướng đối tượng</a:t>
            </a:r>
          </a:p>
        </p:txBody>
      </p:sp>
      <p:cxnSp>
        <p:nvCxnSpPr>
          <p:cNvPr id="21" name="Connector 20"/>
          <p:cNvCxnSpPr/>
          <p:nvPr/>
        </p:nvCxnSpPr>
        <p:spPr>
          <a:xfrm>
            <a:off x="8257031" y="1380744"/>
            <a:ext cx="0" cy="4636008"/>
          </a:xfrm>
          <a:prstGeom prst="line">
            <a:avLst/>
          </a:prstGeom>
          <a:ln w="10160">
            <a:solidFill>
              <a:srgbClr val="37565A"/>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732520" y="1444752"/>
            <a:ext cx="2560320" cy="274320"/>
          </a:xfrm>
          <a:prstGeom prst="rect">
            <a:avLst/>
          </a:prstGeom>
          <a:noFill/>
          <a:effectLst/>
        </p:spPr>
        <p:txBody>
          <a:bodyPr wrap="square" lIns="0" rIns="0" tIns="0" bIns="0">
            <a:spAutoFit/>
          </a:bodyPr>
          <a:lstStyle/>
          <a:p>
            <a:pPr>
              <a:lnSpc>
                <a:spcPct val="112000"/>
              </a:lnSpc>
              <a:spcAft>
                <a:spcPts val="0"/>
              </a:spcAft>
              <a:defRPr sz="1100" b="1">
                <a:solidFill>
                  <a:srgbClr val="BA965B"/>
                </a:solidFill>
                <a:latin typeface="Arial"/>
              </a:defRPr>
            </a:pPr>
            <a:r>
              <a:t>NỘI DUNG</a:t>
            </a:r>
          </a:p>
        </p:txBody>
      </p:sp>
      <p:sp>
        <p:nvSpPr>
          <p:cNvPr id="23" name="TextBox 22"/>
          <p:cNvSpPr txBox="1"/>
          <p:nvPr/>
        </p:nvSpPr>
        <p:spPr>
          <a:xfrm>
            <a:off x="8732520" y="2011680"/>
            <a:ext cx="411480" cy="292608"/>
          </a:xfrm>
          <a:prstGeom prst="rect">
            <a:avLst/>
          </a:prstGeom>
          <a:noFill/>
          <a:effectLst/>
        </p:spPr>
        <p:txBody>
          <a:bodyPr wrap="square" lIns="0" rIns="0" tIns="0" bIns="0">
            <a:spAutoFit/>
          </a:bodyPr>
          <a:lstStyle/>
          <a:p>
            <a:pPr>
              <a:lnSpc>
                <a:spcPct val="112000"/>
              </a:lnSpc>
              <a:spcAft>
                <a:spcPts val="0"/>
              </a:spcAft>
              <a:defRPr sz="1300" b="0">
                <a:solidFill>
                  <a:srgbClr val="BA965B"/>
                </a:solidFill>
                <a:latin typeface="Arial"/>
              </a:defRPr>
            </a:pPr>
            <a:r>
              <a:t>01</a:t>
            </a:r>
          </a:p>
        </p:txBody>
      </p:sp>
      <p:sp>
        <p:nvSpPr>
          <p:cNvPr id="24" name="TextBox 23"/>
          <p:cNvSpPr txBox="1"/>
          <p:nvPr/>
        </p:nvSpPr>
        <p:spPr>
          <a:xfrm>
            <a:off x="9345168" y="1997964"/>
            <a:ext cx="2148840" cy="365760"/>
          </a:xfrm>
          <a:prstGeom prst="rect">
            <a:avLst/>
          </a:prstGeom>
          <a:noFill/>
          <a:effectLst/>
        </p:spPr>
        <p:txBody>
          <a:bodyPr wrap="square" lIns="0" rIns="0" tIns="0" bIns="0">
            <a:spAutoFit/>
          </a:bodyPr>
          <a:lstStyle/>
          <a:p>
            <a:pPr>
              <a:lnSpc>
                <a:spcPct val="112000"/>
              </a:lnSpc>
              <a:spcAft>
                <a:spcPts val="0"/>
              </a:spcAft>
              <a:defRPr sz="1700" b="0">
                <a:solidFill>
                  <a:srgbClr val="FFFFFF"/>
                </a:solidFill>
                <a:latin typeface="Arial"/>
              </a:defRPr>
            </a:pPr>
            <a:r>
              <a:t>USE CASE</a:t>
            </a:r>
          </a:p>
        </p:txBody>
      </p:sp>
      <p:cxnSp>
        <p:nvCxnSpPr>
          <p:cNvPr id="25" name="Connector 24"/>
          <p:cNvCxnSpPr/>
          <p:nvPr/>
        </p:nvCxnSpPr>
        <p:spPr>
          <a:xfrm>
            <a:off x="8732520" y="2450592"/>
            <a:ext cx="2697480" cy="0"/>
          </a:xfrm>
          <a:prstGeom prst="line">
            <a:avLst/>
          </a:prstGeom>
          <a:ln w="7620">
            <a:solidFill>
              <a:srgbClr val="26484D"/>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732520" y="2624328"/>
            <a:ext cx="411480" cy="292608"/>
          </a:xfrm>
          <a:prstGeom prst="rect">
            <a:avLst/>
          </a:prstGeom>
          <a:noFill/>
          <a:effectLst/>
        </p:spPr>
        <p:txBody>
          <a:bodyPr wrap="square" lIns="0" rIns="0" tIns="0" bIns="0">
            <a:spAutoFit/>
          </a:bodyPr>
          <a:lstStyle/>
          <a:p>
            <a:pPr>
              <a:lnSpc>
                <a:spcPct val="112000"/>
              </a:lnSpc>
              <a:spcAft>
                <a:spcPts val="0"/>
              </a:spcAft>
              <a:defRPr sz="1300" b="0">
                <a:solidFill>
                  <a:srgbClr val="BA965B"/>
                </a:solidFill>
                <a:latin typeface="Arial"/>
              </a:defRPr>
            </a:pPr>
            <a:r>
              <a:t>02</a:t>
            </a:r>
          </a:p>
        </p:txBody>
      </p:sp>
      <p:sp>
        <p:nvSpPr>
          <p:cNvPr id="27" name="TextBox 26"/>
          <p:cNvSpPr txBox="1"/>
          <p:nvPr/>
        </p:nvSpPr>
        <p:spPr>
          <a:xfrm>
            <a:off x="9345168" y="2610612"/>
            <a:ext cx="2148840" cy="365760"/>
          </a:xfrm>
          <a:prstGeom prst="rect">
            <a:avLst/>
          </a:prstGeom>
          <a:noFill/>
          <a:effectLst/>
        </p:spPr>
        <p:txBody>
          <a:bodyPr wrap="square" lIns="0" rIns="0" tIns="0" bIns="0">
            <a:spAutoFit/>
          </a:bodyPr>
          <a:lstStyle/>
          <a:p>
            <a:pPr>
              <a:lnSpc>
                <a:spcPct val="112000"/>
              </a:lnSpc>
              <a:spcAft>
                <a:spcPts val="0"/>
              </a:spcAft>
              <a:defRPr sz="1700" b="0">
                <a:solidFill>
                  <a:srgbClr val="FFFFFF"/>
                </a:solidFill>
                <a:latin typeface="Arial"/>
              </a:defRPr>
            </a:pPr>
            <a:r>
              <a:t>ACTIVITY</a:t>
            </a:r>
          </a:p>
        </p:txBody>
      </p:sp>
      <p:cxnSp>
        <p:nvCxnSpPr>
          <p:cNvPr id="28" name="Connector 27"/>
          <p:cNvCxnSpPr/>
          <p:nvPr/>
        </p:nvCxnSpPr>
        <p:spPr>
          <a:xfrm>
            <a:off x="8732520" y="3063240"/>
            <a:ext cx="2697480" cy="0"/>
          </a:xfrm>
          <a:prstGeom prst="line">
            <a:avLst/>
          </a:prstGeom>
          <a:ln w="7620">
            <a:solidFill>
              <a:srgbClr val="26484D"/>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732520" y="3236976"/>
            <a:ext cx="411480" cy="292608"/>
          </a:xfrm>
          <a:prstGeom prst="rect">
            <a:avLst/>
          </a:prstGeom>
          <a:noFill/>
          <a:effectLst/>
        </p:spPr>
        <p:txBody>
          <a:bodyPr wrap="square" lIns="0" rIns="0" tIns="0" bIns="0">
            <a:spAutoFit/>
          </a:bodyPr>
          <a:lstStyle/>
          <a:p>
            <a:pPr>
              <a:lnSpc>
                <a:spcPct val="112000"/>
              </a:lnSpc>
              <a:spcAft>
                <a:spcPts val="0"/>
              </a:spcAft>
              <a:defRPr sz="1300" b="0">
                <a:solidFill>
                  <a:srgbClr val="BA965B"/>
                </a:solidFill>
                <a:latin typeface="Arial"/>
              </a:defRPr>
            </a:pPr>
            <a:r>
              <a:t>03</a:t>
            </a:r>
          </a:p>
        </p:txBody>
      </p:sp>
      <p:sp>
        <p:nvSpPr>
          <p:cNvPr id="30" name="TextBox 29"/>
          <p:cNvSpPr txBox="1"/>
          <p:nvPr/>
        </p:nvSpPr>
        <p:spPr>
          <a:xfrm>
            <a:off x="9345168" y="3223260"/>
            <a:ext cx="2148840" cy="365760"/>
          </a:xfrm>
          <a:prstGeom prst="rect">
            <a:avLst/>
          </a:prstGeom>
          <a:noFill/>
          <a:effectLst/>
        </p:spPr>
        <p:txBody>
          <a:bodyPr wrap="square" lIns="0" rIns="0" tIns="0" bIns="0">
            <a:spAutoFit/>
          </a:bodyPr>
          <a:lstStyle/>
          <a:p>
            <a:pPr>
              <a:lnSpc>
                <a:spcPct val="112000"/>
              </a:lnSpc>
              <a:spcAft>
                <a:spcPts val="0"/>
              </a:spcAft>
              <a:defRPr sz="1700" b="0">
                <a:solidFill>
                  <a:srgbClr val="FFFFFF"/>
                </a:solidFill>
                <a:latin typeface="Arial"/>
              </a:defRPr>
            </a:pPr>
            <a:r>
              <a:t>SEQUENCE</a:t>
            </a:r>
          </a:p>
        </p:txBody>
      </p:sp>
      <p:cxnSp>
        <p:nvCxnSpPr>
          <p:cNvPr id="31" name="Connector 30"/>
          <p:cNvCxnSpPr/>
          <p:nvPr/>
        </p:nvCxnSpPr>
        <p:spPr>
          <a:xfrm>
            <a:off x="8732520" y="3675887"/>
            <a:ext cx="2697480" cy="0"/>
          </a:xfrm>
          <a:prstGeom prst="line">
            <a:avLst/>
          </a:prstGeom>
          <a:ln w="7620">
            <a:solidFill>
              <a:srgbClr val="26484D"/>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732520" y="3849624"/>
            <a:ext cx="411480" cy="292608"/>
          </a:xfrm>
          <a:prstGeom prst="rect">
            <a:avLst/>
          </a:prstGeom>
          <a:noFill/>
          <a:effectLst/>
        </p:spPr>
        <p:txBody>
          <a:bodyPr wrap="square" lIns="0" rIns="0" tIns="0" bIns="0">
            <a:spAutoFit/>
          </a:bodyPr>
          <a:lstStyle/>
          <a:p>
            <a:pPr>
              <a:lnSpc>
                <a:spcPct val="112000"/>
              </a:lnSpc>
              <a:spcAft>
                <a:spcPts val="0"/>
              </a:spcAft>
              <a:defRPr sz="1300" b="0">
                <a:solidFill>
                  <a:srgbClr val="BA965B"/>
                </a:solidFill>
                <a:latin typeface="Arial"/>
              </a:defRPr>
            </a:pPr>
            <a:r>
              <a:t>04</a:t>
            </a:r>
          </a:p>
        </p:txBody>
      </p:sp>
      <p:sp>
        <p:nvSpPr>
          <p:cNvPr id="33" name="TextBox 32"/>
          <p:cNvSpPr txBox="1"/>
          <p:nvPr/>
        </p:nvSpPr>
        <p:spPr>
          <a:xfrm>
            <a:off x="9345168" y="3835908"/>
            <a:ext cx="2148840" cy="365760"/>
          </a:xfrm>
          <a:prstGeom prst="rect">
            <a:avLst/>
          </a:prstGeom>
          <a:noFill/>
          <a:effectLst/>
        </p:spPr>
        <p:txBody>
          <a:bodyPr wrap="square" lIns="0" rIns="0" tIns="0" bIns="0">
            <a:spAutoFit/>
          </a:bodyPr>
          <a:lstStyle/>
          <a:p>
            <a:pPr>
              <a:lnSpc>
                <a:spcPct val="112000"/>
              </a:lnSpc>
              <a:spcAft>
                <a:spcPts val="0"/>
              </a:spcAft>
              <a:defRPr sz="1700" b="0">
                <a:solidFill>
                  <a:srgbClr val="FFFFFF"/>
                </a:solidFill>
                <a:latin typeface="Arial"/>
              </a:defRPr>
            </a:pPr>
            <a:r>
              <a:t>CLASS</a:t>
            </a:r>
          </a:p>
        </p:txBody>
      </p:sp>
      <p:cxnSp>
        <p:nvCxnSpPr>
          <p:cNvPr id="34" name="Connector 33"/>
          <p:cNvCxnSpPr/>
          <p:nvPr/>
        </p:nvCxnSpPr>
        <p:spPr>
          <a:xfrm>
            <a:off x="8732520" y="4288536"/>
            <a:ext cx="2697480" cy="0"/>
          </a:xfrm>
          <a:prstGeom prst="line">
            <a:avLst/>
          </a:prstGeom>
          <a:ln w="7620">
            <a:solidFill>
              <a:srgbClr val="26484D"/>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732520" y="4462272"/>
            <a:ext cx="411480" cy="292608"/>
          </a:xfrm>
          <a:prstGeom prst="rect">
            <a:avLst/>
          </a:prstGeom>
          <a:noFill/>
          <a:effectLst/>
        </p:spPr>
        <p:txBody>
          <a:bodyPr wrap="square" lIns="0" rIns="0" tIns="0" bIns="0">
            <a:spAutoFit/>
          </a:bodyPr>
          <a:lstStyle/>
          <a:p>
            <a:pPr>
              <a:lnSpc>
                <a:spcPct val="112000"/>
              </a:lnSpc>
              <a:spcAft>
                <a:spcPts val="0"/>
              </a:spcAft>
              <a:defRPr sz="1300" b="0">
                <a:solidFill>
                  <a:srgbClr val="BA965B"/>
                </a:solidFill>
                <a:latin typeface="Arial"/>
              </a:defRPr>
            </a:pPr>
            <a:r>
              <a:t>05</a:t>
            </a:r>
          </a:p>
        </p:txBody>
      </p:sp>
      <p:sp>
        <p:nvSpPr>
          <p:cNvPr id="36" name="TextBox 35"/>
          <p:cNvSpPr txBox="1"/>
          <p:nvPr/>
        </p:nvSpPr>
        <p:spPr>
          <a:xfrm>
            <a:off x="9345168" y="4448556"/>
            <a:ext cx="2148840" cy="365760"/>
          </a:xfrm>
          <a:prstGeom prst="rect">
            <a:avLst/>
          </a:prstGeom>
          <a:noFill/>
          <a:effectLst/>
        </p:spPr>
        <p:txBody>
          <a:bodyPr wrap="square" lIns="0" rIns="0" tIns="0" bIns="0">
            <a:spAutoFit/>
          </a:bodyPr>
          <a:lstStyle/>
          <a:p>
            <a:pPr>
              <a:lnSpc>
                <a:spcPct val="112000"/>
              </a:lnSpc>
              <a:spcAft>
                <a:spcPts val="0"/>
              </a:spcAft>
              <a:defRPr sz="1700" b="0">
                <a:solidFill>
                  <a:srgbClr val="FFFFFF"/>
                </a:solidFill>
                <a:latin typeface="Arial"/>
              </a:defRPr>
            </a:pPr>
            <a:r>
              <a:t>GIAO DIỆN</a:t>
            </a:r>
          </a:p>
        </p:txBody>
      </p:sp>
      <p:cxnSp>
        <p:nvCxnSpPr>
          <p:cNvPr id="37" name="Connector 36"/>
          <p:cNvCxnSpPr/>
          <p:nvPr/>
        </p:nvCxnSpPr>
        <p:spPr>
          <a:xfrm>
            <a:off x="8732520" y="4901184"/>
            <a:ext cx="2697480" cy="0"/>
          </a:xfrm>
          <a:prstGeom prst="line">
            <a:avLst/>
          </a:prstGeom>
          <a:ln w="7620">
            <a:solidFill>
              <a:srgbClr val="26484D"/>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8732520" y="5074920"/>
            <a:ext cx="411480" cy="292608"/>
          </a:xfrm>
          <a:prstGeom prst="rect">
            <a:avLst/>
          </a:prstGeom>
          <a:noFill/>
          <a:effectLst/>
        </p:spPr>
        <p:txBody>
          <a:bodyPr wrap="square" lIns="0" rIns="0" tIns="0" bIns="0">
            <a:spAutoFit/>
          </a:bodyPr>
          <a:lstStyle/>
          <a:p>
            <a:pPr>
              <a:lnSpc>
                <a:spcPct val="112000"/>
              </a:lnSpc>
              <a:spcAft>
                <a:spcPts val="0"/>
              </a:spcAft>
              <a:defRPr sz="1300" b="0">
                <a:solidFill>
                  <a:srgbClr val="BA965B"/>
                </a:solidFill>
                <a:latin typeface="Arial"/>
              </a:defRPr>
            </a:pPr>
            <a:r>
              <a:t>06</a:t>
            </a:r>
          </a:p>
        </p:txBody>
      </p:sp>
      <p:sp>
        <p:nvSpPr>
          <p:cNvPr id="39" name="TextBox 38"/>
          <p:cNvSpPr txBox="1"/>
          <p:nvPr/>
        </p:nvSpPr>
        <p:spPr>
          <a:xfrm>
            <a:off x="9345168" y="5061204"/>
            <a:ext cx="2148840" cy="365760"/>
          </a:xfrm>
          <a:prstGeom prst="rect">
            <a:avLst/>
          </a:prstGeom>
          <a:noFill/>
          <a:effectLst/>
        </p:spPr>
        <p:txBody>
          <a:bodyPr wrap="square" lIns="0" rIns="0" tIns="0" bIns="0">
            <a:spAutoFit/>
          </a:bodyPr>
          <a:lstStyle/>
          <a:p>
            <a:pPr>
              <a:lnSpc>
                <a:spcPct val="112000"/>
              </a:lnSpc>
              <a:spcAft>
                <a:spcPts val="0"/>
              </a:spcAft>
              <a:defRPr sz="1700" b="0">
                <a:solidFill>
                  <a:srgbClr val="FFFFFF"/>
                </a:solidFill>
                <a:latin typeface="Arial"/>
              </a:defRPr>
            </a:pPr>
            <a:r>
              <a:t>KẾT LUẬN</a:t>
            </a:r>
          </a:p>
        </p:txBody>
      </p:sp>
    </p:spTree>
  </p:cSld>
  <p:clrMapOvr>
    <a:masterClrMapping/>
  </p:clrMapOvr>
  <p:transition spd="slow">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566928" y="6492240"/>
            <a:ext cx="8961120" cy="201168"/>
          </a:xfrm>
          <a:prstGeom prst="rect">
            <a:avLst/>
          </a:prstGeom>
          <a:noFill/>
          <a:effectLst/>
        </p:spPr>
        <p:txBody>
          <a:bodyPr wrap="square" lIns="0" rIns="0" tIns="0" bIns="0">
            <a:spAutoFit/>
          </a:bodyPr>
          <a:lstStyle/>
          <a:p>
            <a:pPr>
              <a:lnSpc>
                <a:spcPct val="112000"/>
              </a:lnSpc>
              <a:spcAft>
                <a:spcPts val="0"/>
              </a:spcAft>
              <a:defRPr sz="900" b="0">
                <a:solidFill>
                  <a:srgbClr val="637776"/>
                </a:solidFill>
                <a:latin typeface="Arial"/>
              </a:defRPr>
            </a:pPr>
            <a:r>
              <a:t>PHAN TRỌNG PHÚC  /  12CNPM2  /  1250080148</a:t>
            </a:r>
          </a:p>
        </p:txBody>
      </p:sp>
      <p:sp>
        <p:nvSpPr>
          <p:cNvPr id="3" name="TextBox 2"/>
          <p:cNvSpPr txBox="1"/>
          <p:nvPr/>
        </p:nvSpPr>
        <p:spPr>
          <a:xfrm>
            <a:off x="11000232" y="6437376"/>
            <a:ext cx="603504" cy="274320"/>
          </a:xfrm>
          <a:prstGeom prst="rect">
            <a:avLst/>
          </a:prstGeom>
          <a:noFill/>
          <a:effectLst/>
        </p:spPr>
        <p:txBody>
          <a:bodyPr wrap="square" lIns="0" rIns="0" tIns="0" bIns="0">
            <a:spAutoFit/>
          </a:bodyPr>
          <a:lstStyle/>
          <a:p>
            <a:pPr algn="r">
              <a:lnSpc>
                <a:spcPct val="112000"/>
              </a:lnSpc>
              <a:spcAft>
                <a:spcPts val="0"/>
              </a:spcAft>
              <a:defRPr sz="1400" b="1">
                <a:solidFill>
                  <a:srgbClr val="BA965B"/>
                </a:solidFill>
                <a:latin typeface="Arial"/>
              </a:defRPr>
            </a:pPr>
            <a:r>
              <a:t>02</a:t>
            </a:r>
          </a:p>
        </p:txBody>
      </p:sp>
      <p:cxnSp>
        <p:nvCxnSpPr>
          <p:cNvPr id="4" name="Connector 3"/>
          <p:cNvCxnSpPr/>
          <p:nvPr/>
        </p:nvCxnSpPr>
        <p:spPr>
          <a:xfrm>
            <a:off x="566928" y="6345936"/>
            <a:ext cx="11045952" cy="0"/>
          </a:xfrm>
          <a:prstGeom prst="line">
            <a:avLst/>
          </a:prstGeom>
          <a:ln w="7620">
            <a:solidFill>
              <a:srgbClr val="D2DAD3"/>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5216" y="365760"/>
            <a:ext cx="10607040" cy="201168"/>
          </a:xfrm>
          <a:prstGeom prst="rect">
            <a:avLst/>
          </a:prstGeom>
          <a:noFill/>
          <a:effectLst/>
        </p:spPr>
        <p:txBody>
          <a:bodyPr wrap="square" lIns="0" rIns="0" tIns="0" bIns="0">
            <a:spAutoFit/>
          </a:bodyPr>
          <a:lstStyle/>
          <a:p>
            <a:pPr>
              <a:lnSpc>
                <a:spcPct val="112000"/>
              </a:lnSpc>
              <a:spcAft>
                <a:spcPts val="0"/>
              </a:spcAft>
              <a:defRPr sz="1000" b="1">
                <a:solidFill>
                  <a:srgbClr val="BA965B"/>
                </a:solidFill>
                <a:latin typeface="Arial"/>
              </a:defRPr>
            </a:pPr>
            <a:r>
              <a:t>MỤC ĐÍCH &amp; PHẠM VI</a:t>
            </a:r>
          </a:p>
        </p:txBody>
      </p:sp>
      <p:sp>
        <p:nvSpPr>
          <p:cNvPr id="6" name="TextBox 5"/>
          <p:cNvSpPr txBox="1"/>
          <p:nvPr/>
        </p:nvSpPr>
        <p:spPr>
          <a:xfrm>
            <a:off x="566928" y="758952"/>
            <a:ext cx="10991088" cy="640080"/>
          </a:xfrm>
          <a:prstGeom prst="rect">
            <a:avLst/>
          </a:prstGeom>
          <a:noFill/>
          <a:effectLst/>
        </p:spPr>
        <p:txBody>
          <a:bodyPr wrap="square" lIns="0" rIns="0" tIns="0" bIns="0">
            <a:spAutoFit/>
          </a:bodyPr>
          <a:lstStyle/>
          <a:p>
            <a:pPr>
              <a:lnSpc>
                <a:spcPct val="112000"/>
              </a:lnSpc>
              <a:spcAft>
                <a:spcPts val="0"/>
              </a:spcAft>
              <a:defRPr sz="3100" b="1">
                <a:solidFill>
                  <a:srgbClr val="193C42"/>
                </a:solidFill>
                <a:latin typeface="Arial"/>
              </a:defRPr>
            </a:pPr>
            <a:r>
              <a:t>MỤC TIÊU ĐỀ TÀI</a:t>
            </a:r>
          </a:p>
        </p:txBody>
      </p:sp>
      <p:cxnSp>
        <p:nvCxnSpPr>
          <p:cNvPr id="7" name="Connector 6"/>
          <p:cNvCxnSpPr/>
          <p:nvPr/>
        </p:nvCxnSpPr>
        <p:spPr>
          <a:xfrm>
            <a:off x="594360" y="1307592"/>
            <a:ext cx="640080" cy="0"/>
          </a:xfrm>
          <a:prstGeom prst="line">
            <a:avLst/>
          </a:prstGeom>
          <a:ln w="25400">
            <a:solidFill>
              <a:srgbClr val="BA965B"/>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12648" y="1600200"/>
            <a:ext cx="10881360" cy="457200"/>
          </a:xfrm>
          <a:prstGeom prst="rect">
            <a:avLst/>
          </a:prstGeom>
          <a:noFill/>
          <a:effectLst/>
        </p:spPr>
        <p:txBody>
          <a:bodyPr wrap="square" lIns="0" rIns="0" tIns="0" bIns="0">
            <a:spAutoFit/>
          </a:bodyPr>
          <a:lstStyle/>
          <a:p>
            <a:pPr>
              <a:lnSpc>
                <a:spcPct val="112000"/>
              </a:lnSpc>
              <a:spcAft>
                <a:spcPts val="0"/>
              </a:spcAft>
              <a:defRPr sz="2700" b="1">
                <a:solidFill>
                  <a:srgbClr val="193C42"/>
                </a:solidFill>
                <a:latin typeface="Arial"/>
              </a:defRPr>
            </a:pPr>
            <a:r>
              <a:t>Số hóa quy trình theo dõi tiêm chủng cộng đồng</a:t>
            </a:r>
          </a:p>
        </p:txBody>
      </p:sp>
      <p:sp>
        <p:nvSpPr>
          <p:cNvPr id="9" name="TextBox 8"/>
          <p:cNvSpPr txBox="1"/>
          <p:nvPr/>
        </p:nvSpPr>
        <p:spPr>
          <a:xfrm>
            <a:off x="621792" y="2139696"/>
            <a:ext cx="10789920" cy="347472"/>
          </a:xfrm>
          <a:prstGeom prst="rect">
            <a:avLst/>
          </a:prstGeom>
          <a:noFill/>
          <a:effectLst/>
        </p:spPr>
        <p:txBody>
          <a:bodyPr wrap="square" lIns="0" rIns="0" tIns="0" bIns="0">
            <a:spAutoFit/>
          </a:bodyPr>
          <a:lstStyle/>
          <a:p>
            <a:pPr>
              <a:lnSpc>
                <a:spcPct val="112000"/>
              </a:lnSpc>
              <a:spcAft>
                <a:spcPts val="0"/>
              </a:spcAft>
              <a:defRPr sz="2100" b="0">
                <a:solidFill>
                  <a:srgbClr val="237B73"/>
                </a:solidFill>
                <a:latin typeface="Arial"/>
              </a:defRPr>
            </a:pPr>
            <a:r>
              <a:t>Tập trung, chính xác và thuận tiện.</a:t>
            </a:r>
          </a:p>
        </p:txBody>
      </p:sp>
      <p:sp>
        <p:nvSpPr>
          <p:cNvPr id="10" name="TextBox 9"/>
          <p:cNvSpPr txBox="1"/>
          <p:nvPr/>
        </p:nvSpPr>
        <p:spPr>
          <a:xfrm>
            <a:off x="621792" y="2761488"/>
            <a:ext cx="10789920" cy="749808"/>
          </a:xfrm>
          <a:prstGeom prst="rect">
            <a:avLst/>
          </a:prstGeom>
          <a:noFill/>
          <a:effectLst/>
        </p:spPr>
        <p:txBody>
          <a:bodyPr wrap="square" lIns="0" rIns="0" tIns="0" bIns="0">
            <a:spAutoFit/>
          </a:bodyPr>
          <a:lstStyle/>
          <a:p>
            <a:pPr>
              <a:lnSpc>
                <a:spcPct val="112000"/>
              </a:lnSpc>
              <a:spcAft>
                <a:spcPts val="0"/>
              </a:spcAft>
              <a:defRPr sz="2200" b="0">
                <a:solidFill>
                  <a:srgbClr val="193C42"/>
                </a:solidFill>
                <a:latin typeface="Arial"/>
              </a:defRPr>
            </a:pPr>
            <a:r>
              <a:t>Xây dựng một hệ thống giúp người dân, nhân viên và quản trị viên cùng theo dõi toàn bộ vòng đời tiêm chủng trên một nền tảng.</a:t>
            </a:r>
          </a:p>
        </p:txBody>
      </p:sp>
      <p:cxnSp>
        <p:nvCxnSpPr>
          <p:cNvPr id="11" name="Connector 10"/>
          <p:cNvCxnSpPr/>
          <p:nvPr/>
        </p:nvCxnSpPr>
        <p:spPr>
          <a:xfrm>
            <a:off x="621792" y="3675887"/>
            <a:ext cx="10899648" cy="0"/>
          </a:xfrm>
          <a:prstGeom prst="line">
            <a:avLst/>
          </a:prstGeom>
          <a:ln w="8890">
            <a:solidFill>
              <a:srgbClr val="CBD5CE"/>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21792" y="3913632"/>
            <a:ext cx="2304288" cy="384048"/>
          </a:xfrm>
          <a:prstGeom prst="rect">
            <a:avLst/>
          </a:prstGeom>
          <a:noFill/>
          <a:effectLst/>
        </p:spPr>
        <p:txBody>
          <a:bodyPr wrap="square" lIns="0" rIns="0" tIns="0" bIns="0">
            <a:spAutoFit/>
          </a:bodyPr>
          <a:lstStyle/>
          <a:p>
            <a:pPr>
              <a:lnSpc>
                <a:spcPct val="112000"/>
              </a:lnSpc>
              <a:spcAft>
                <a:spcPts val="0"/>
              </a:spcAft>
              <a:defRPr sz="2200" b="1">
                <a:solidFill>
                  <a:srgbClr val="193C42"/>
                </a:solidFill>
                <a:latin typeface="Arial"/>
              </a:defRPr>
            </a:pPr>
            <a:r>
              <a:t>Người dân</a:t>
            </a:r>
          </a:p>
        </p:txBody>
      </p:sp>
      <p:sp>
        <p:nvSpPr>
          <p:cNvPr id="13" name="TextBox 12"/>
          <p:cNvSpPr txBox="1"/>
          <p:nvPr/>
        </p:nvSpPr>
        <p:spPr>
          <a:xfrm>
            <a:off x="3063240" y="3913632"/>
            <a:ext cx="8321040" cy="438912"/>
          </a:xfrm>
          <a:prstGeom prst="rect">
            <a:avLst/>
          </a:prstGeom>
          <a:noFill/>
          <a:effectLst/>
        </p:spPr>
        <p:txBody>
          <a:bodyPr wrap="square" lIns="0" rIns="0" tIns="0" bIns="0">
            <a:spAutoFit/>
          </a:bodyPr>
          <a:lstStyle/>
          <a:p>
            <a:pPr>
              <a:lnSpc>
                <a:spcPct val="112000"/>
              </a:lnSpc>
              <a:spcAft>
                <a:spcPts val="0"/>
              </a:spcAft>
              <a:defRPr sz="2200" b="0">
                <a:solidFill>
                  <a:srgbClr val="193C42"/>
                </a:solidFill>
                <a:latin typeface="Arial"/>
              </a:defRPr>
            </a:pPr>
            <a:r>
              <a:t>Đăng ký lịch, tra cứu lịch sử và nhận nhắc lịch.</a:t>
            </a:r>
          </a:p>
        </p:txBody>
      </p:sp>
      <p:sp>
        <p:nvSpPr>
          <p:cNvPr id="14" name="TextBox 13"/>
          <p:cNvSpPr txBox="1"/>
          <p:nvPr/>
        </p:nvSpPr>
        <p:spPr>
          <a:xfrm>
            <a:off x="621792" y="4498848"/>
            <a:ext cx="2304288" cy="384048"/>
          </a:xfrm>
          <a:prstGeom prst="rect">
            <a:avLst/>
          </a:prstGeom>
          <a:noFill/>
          <a:effectLst/>
        </p:spPr>
        <p:txBody>
          <a:bodyPr wrap="square" lIns="0" rIns="0" tIns="0" bIns="0">
            <a:spAutoFit/>
          </a:bodyPr>
          <a:lstStyle/>
          <a:p>
            <a:pPr>
              <a:lnSpc>
                <a:spcPct val="112000"/>
              </a:lnSpc>
              <a:spcAft>
                <a:spcPts val="0"/>
              </a:spcAft>
              <a:defRPr sz="2200" b="1">
                <a:solidFill>
                  <a:srgbClr val="193C42"/>
                </a:solidFill>
                <a:latin typeface="Arial"/>
              </a:defRPr>
            </a:pPr>
            <a:r>
              <a:t>Nhân viên</a:t>
            </a:r>
          </a:p>
        </p:txBody>
      </p:sp>
      <p:sp>
        <p:nvSpPr>
          <p:cNvPr id="15" name="TextBox 14"/>
          <p:cNvSpPr txBox="1"/>
          <p:nvPr/>
        </p:nvSpPr>
        <p:spPr>
          <a:xfrm>
            <a:off x="3063240" y="4498848"/>
            <a:ext cx="8321040" cy="438912"/>
          </a:xfrm>
          <a:prstGeom prst="rect">
            <a:avLst/>
          </a:prstGeom>
          <a:noFill/>
          <a:effectLst/>
        </p:spPr>
        <p:txBody>
          <a:bodyPr wrap="square" lIns="0" rIns="0" tIns="0" bIns="0">
            <a:spAutoFit/>
          </a:bodyPr>
          <a:lstStyle/>
          <a:p>
            <a:pPr>
              <a:lnSpc>
                <a:spcPct val="112000"/>
              </a:lnSpc>
              <a:spcAft>
                <a:spcPts val="0"/>
              </a:spcAft>
              <a:defRPr sz="2200" b="0">
                <a:solidFill>
                  <a:srgbClr val="193C42"/>
                </a:solidFill>
                <a:latin typeface="Arial"/>
              </a:defRPr>
            </a:pPr>
            <a:r>
              <a:t>Quản lý lịch, vaccine/lô và ghi nhận mũi tiêm.</a:t>
            </a:r>
          </a:p>
        </p:txBody>
      </p:sp>
      <p:sp>
        <p:nvSpPr>
          <p:cNvPr id="16" name="TextBox 15"/>
          <p:cNvSpPr txBox="1"/>
          <p:nvPr/>
        </p:nvSpPr>
        <p:spPr>
          <a:xfrm>
            <a:off x="621792" y="5084064"/>
            <a:ext cx="2304288" cy="384048"/>
          </a:xfrm>
          <a:prstGeom prst="rect">
            <a:avLst/>
          </a:prstGeom>
          <a:noFill/>
          <a:effectLst/>
        </p:spPr>
        <p:txBody>
          <a:bodyPr wrap="square" lIns="0" rIns="0" tIns="0" bIns="0">
            <a:spAutoFit/>
          </a:bodyPr>
          <a:lstStyle/>
          <a:p>
            <a:pPr>
              <a:lnSpc>
                <a:spcPct val="112000"/>
              </a:lnSpc>
              <a:spcAft>
                <a:spcPts val="0"/>
              </a:spcAft>
              <a:defRPr sz="2200" b="1">
                <a:solidFill>
                  <a:srgbClr val="193C42"/>
                </a:solidFill>
                <a:latin typeface="Arial"/>
              </a:defRPr>
            </a:pPr>
            <a:r>
              <a:t>Quản trị viên</a:t>
            </a:r>
          </a:p>
        </p:txBody>
      </p:sp>
      <p:sp>
        <p:nvSpPr>
          <p:cNvPr id="17" name="TextBox 16"/>
          <p:cNvSpPr txBox="1"/>
          <p:nvPr/>
        </p:nvSpPr>
        <p:spPr>
          <a:xfrm>
            <a:off x="3063240" y="5084064"/>
            <a:ext cx="8321040" cy="438912"/>
          </a:xfrm>
          <a:prstGeom prst="rect">
            <a:avLst/>
          </a:prstGeom>
          <a:noFill/>
          <a:effectLst/>
        </p:spPr>
        <p:txBody>
          <a:bodyPr wrap="square" lIns="0" rIns="0" tIns="0" bIns="0">
            <a:spAutoFit/>
          </a:bodyPr>
          <a:lstStyle/>
          <a:p>
            <a:pPr>
              <a:lnSpc>
                <a:spcPct val="112000"/>
              </a:lnSpc>
              <a:spcAft>
                <a:spcPts val="0"/>
              </a:spcAft>
              <a:defRPr sz="2200" b="0">
                <a:solidFill>
                  <a:srgbClr val="193C42"/>
                </a:solidFill>
                <a:latin typeface="Arial"/>
              </a:defRPr>
            </a:pPr>
            <a:r>
              <a:t>Quản lý tài khoản, phân quyền và truy vết vaccine.</a:t>
            </a:r>
          </a:p>
        </p:txBody>
      </p:sp>
      <p:cxnSp>
        <p:nvCxnSpPr>
          <p:cNvPr id="18" name="Connector 17"/>
          <p:cNvCxnSpPr/>
          <p:nvPr/>
        </p:nvCxnSpPr>
        <p:spPr>
          <a:xfrm>
            <a:off x="621792" y="5833872"/>
            <a:ext cx="0" cy="365760"/>
          </a:xfrm>
          <a:prstGeom prst="line">
            <a:avLst/>
          </a:prstGeom>
          <a:ln w="25400">
            <a:solidFill>
              <a:srgbClr val="BA965B"/>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50392" y="5833872"/>
            <a:ext cx="10698480" cy="365760"/>
          </a:xfrm>
          <a:prstGeom prst="rect">
            <a:avLst/>
          </a:prstGeom>
          <a:noFill/>
          <a:effectLst/>
        </p:spPr>
        <p:txBody>
          <a:bodyPr wrap="square" lIns="0" rIns="0" tIns="0" bIns="0">
            <a:spAutoFit/>
          </a:bodyPr>
          <a:lstStyle/>
          <a:p>
            <a:pPr>
              <a:lnSpc>
                <a:spcPct val="112000"/>
              </a:lnSpc>
              <a:spcAft>
                <a:spcPts val="0"/>
              </a:spcAft>
              <a:defRPr sz="1600" b="0">
                <a:solidFill>
                  <a:srgbClr val="237B73"/>
                </a:solidFill>
                <a:latin typeface="Arial"/>
              </a:defRPr>
            </a:pPr>
            <a:r>
              <a:t>Kết nối dữ liệu tiêm chủng xuyên suốt từ đăng ký → xác nhận → tiêm → theo dõi.</a:t>
            </a:r>
          </a:p>
        </p:txBody>
      </p:sp>
    </p:spTree>
  </p:cSld>
  <p:clrMapOvr>
    <a:masterClrMapping/>
  </p:clrMapOvr>
  <p:transition spd="slow">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566928" y="6492240"/>
            <a:ext cx="8961120" cy="201168"/>
          </a:xfrm>
          <a:prstGeom prst="rect">
            <a:avLst/>
          </a:prstGeom>
          <a:noFill/>
          <a:effectLst/>
        </p:spPr>
        <p:txBody>
          <a:bodyPr wrap="square" lIns="0" rIns="0" tIns="0" bIns="0">
            <a:spAutoFit/>
          </a:bodyPr>
          <a:lstStyle/>
          <a:p>
            <a:pPr>
              <a:lnSpc>
                <a:spcPct val="112000"/>
              </a:lnSpc>
              <a:spcAft>
                <a:spcPts val="0"/>
              </a:spcAft>
              <a:defRPr sz="900" b="0">
                <a:solidFill>
                  <a:srgbClr val="637776"/>
                </a:solidFill>
                <a:latin typeface="Arial"/>
              </a:defRPr>
            </a:pPr>
            <a:r>
              <a:t>PHAN TRỌNG PHÚC  /  12CNPM2  /  1250080148</a:t>
            </a:r>
          </a:p>
        </p:txBody>
      </p:sp>
      <p:sp>
        <p:nvSpPr>
          <p:cNvPr id="3" name="TextBox 2"/>
          <p:cNvSpPr txBox="1"/>
          <p:nvPr/>
        </p:nvSpPr>
        <p:spPr>
          <a:xfrm>
            <a:off x="11000232" y="6437376"/>
            <a:ext cx="603504" cy="274320"/>
          </a:xfrm>
          <a:prstGeom prst="rect">
            <a:avLst/>
          </a:prstGeom>
          <a:noFill/>
          <a:effectLst/>
        </p:spPr>
        <p:txBody>
          <a:bodyPr wrap="square" lIns="0" rIns="0" tIns="0" bIns="0">
            <a:spAutoFit/>
          </a:bodyPr>
          <a:lstStyle/>
          <a:p>
            <a:pPr algn="r">
              <a:lnSpc>
                <a:spcPct val="112000"/>
              </a:lnSpc>
              <a:spcAft>
                <a:spcPts val="0"/>
              </a:spcAft>
              <a:defRPr sz="1400" b="1">
                <a:solidFill>
                  <a:srgbClr val="BA965B"/>
                </a:solidFill>
                <a:latin typeface="Arial"/>
              </a:defRPr>
            </a:pPr>
            <a:r>
              <a:t>03</a:t>
            </a:r>
          </a:p>
        </p:txBody>
      </p:sp>
      <p:cxnSp>
        <p:nvCxnSpPr>
          <p:cNvPr id="4" name="Connector 3"/>
          <p:cNvCxnSpPr/>
          <p:nvPr/>
        </p:nvCxnSpPr>
        <p:spPr>
          <a:xfrm>
            <a:off x="566928" y="6345936"/>
            <a:ext cx="11045952" cy="0"/>
          </a:xfrm>
          <a:prstGeom prst="line">
            <a:avLst/>
          </a:prstGeom>
          <a:ln w="7620">
            <a:solidFill>
              <a:srgbClr val="D2DAD3"/>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5216" y="365760"/>
            <a:ext cx="10607040" cy="201168"/>
          </a:xfrm>
          <a:prstGeom prst="rect">
            <a:avLst/>
          </a:prstGeom>
          <a:noFill/>
          <a:effectLst/>
        </p:spPr>
        <p:txBody>
          <a:bodyPr wrap="square" lIns="0" rIns="0" tIns="0" bIns="0">
            <a:spAutoFit/>
          </a:bodyPr>
          <a:lstStyle/>
          <a:p>
            <a:pPr>
              <a:lnSpc>
                <a:spcPct val="112000"/>
              </a:lnSpc>
              <a:spcAft>
                <a:spcPts val="0"/>
              </a:spcAft>
              <a:defRPr sz="1000" b="1">
                <a:solidFill>
                  <a:srgbClr val="BA965B"/>
                </a:solidFill>
                <a:latin typeface="Arial"/>
              </a:defRPr>
            </a:pPr>
            <a:r>
              <a:t>01 / MÔ HÌNH CHỨC NĂNG</a:t>
            </a:r>
          </a:p>
        </p:txBody>
      </p:sp>
      <p:sp>
        <p:nvSpPr>
          <p:cNvPr id="6" name="TextBox 5"/>
          <p:cNvSpPr txBox="1"/>
          <p:nvPr/>
        </p:nvSpPr>
        <p:spPr>
          <a:xfrm>
            <a:off x="566928" y="758952"/>
            <a:ext cx="10991088" cy="640080"/>
          </a:xfrm>
          <a:prstGeom prst="rect">
            <a:avLst/>
          </a:prstGeom>
          <a:noFill/>
          <a:effectLst/>
        </p:spPr>
        <p:txBody>
          <a:bodyPr wrap="square" lIns="0" rIns="0" tIns="0" bIns="0">
            <a:spAutoFit/>
          </a:bodyPr>
          <a:lstStyle/>
          <a:p>
            <a:pPr>
              <a:lnSpc>
                <a:spcPct val="112000"/>
              </a:lnSpc>
              <a:spcAft>
                <a:spcPts val="0"/>
              </a:spcAft>
              <a:defRPr sz="3100" b="1">
                <a:solidFill>
                  <a:srgbClr val="193C42"/>
                </a:solidFill>
                <a:latin typeface="Arial"/>
              </a:defRPr>
            </a:pPr>
            <a:r>
              <a:t>USE CASE</a:t>
            </a:r>
          </a:p>
        </p:txBody>
      </p:sp>
      <p:sp>
        <p:nvSpPr>
          <p:cNvPr id="7" name="TextBox 6"/>
          <p:cNvSpPr txBox="1"/>
          <p:nvPr/>
        </p:nvSpPr>
        <p:spPr>
          <a:xfrm>
            <a:off x="594360" y="1463040"/>
            <a:ext cx="10789920" cy="521207"/>
          </a:xfrm>
          <a:prstGeom prst="rect">
            <a:avLst/>
          </a:prstGeom>
          <a:noFill/>
          <a:effectLst/>
        </p:spPr>
        <p:txBody>
          <a:bodyPr wrap="square" lIns="0" rIns="0" tIns="0" bIns="0">
            <a:spAutoFit/>
          </a:bodyPr>
          <a:lstStyle/>
          <a:p>
            <a:pPr>
              <a:lnSpc>
                <a:spcPct val="112000"/>
              </a:lnSpc>
              <a:spcAft>
                <a:spcPts val="0"/>
              </a:spcAft>
              <a:defRPr sz="1700" b="0">
                <a:solidFill>
                  <a:srgbClr val="637776"/>
                </a:solidFill>
                <a:latin typeface="Arial"/>
              </a:defRPr>
            </a:pPr>
            <a:r>
              <a:t>15 Use Case được phân chia rõ theo 3 nhóm người dùng chính.</a:t>
            </a:r>
          </a:p>
        </p:txBody>
      </p:sp>
      <p:cxnSp>
        <p:nvCxnSpPr>
          <p:cNvPr id="8" name="Connector 7"/>
          <p:cNvCxnSpPr/>
          <p:nvPr/>
        </p:nvCxnSpPr>
        <p:spPr>
          <a:xfrm>
            <a:off x="594360" y="1307592"/>
            <a:ext cx="640080" cy="0"/>
          </a:xfrm>
          <a:prstGeom prst="line">
            <a:avLst/>
          </a:prstGeom>
          <a:ln w="25400">
            <a:solidFill>
              <a:srgbClr val="BA965B"/>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85216" y="2103120"/>
            <a:ext cx="1188720" cy="731520"/>
          </a:xfrm>
          <a:prstGeom prst="rect">
            <a:avLst/>
          </a:prstGeom>
          <a:noFill/>
          <a:effectLst/>
        </p:spPr>
        <p:txBody>
          <a:bodyPr wrap="square" lIns="0" rIns="0" tIns="0" bIns="0">
            <a:spAutoFit/>
          </a:bodyPr>
          <a:lstStyle/>
          <a:p>
            <a:pPr>
              <a:lnSpc>
                <a:spcPct val="112000"/>
              </a:lnSpc>
              <a:spcAft>
                <a:spcPts val="0"/>
              </a:spcAft>
              <a:defRPr sz="4900" b="0">
                <a:solidFill>
                  <a:srgbClr val="237B73"/>
                </a:solidFill>
                <a:latin typeface="Georgia"/>
              </a:defRPr>
            </a:pPr>
            <a:r>
              <a:t>15</a:t>
            </a:r>
          </a:p>
        </p:txBody>
      </p:sp>
      <p:sp>
        <p:nvSpPr>
          <p:cNvPr id="10" name="TextBox 9"/>
          <p:cNvSpPr txBox="1"/>
          <p:nvPr/>
        </p:nvSpPr>
        <p:spPr>
          <a:xfrm>
            <a:off x="1755648" y="2221992"/>
            <a:ext cx="1783080" cy="621792"/>
          </a:xfrm>
          <a:prstGeom prst="rect">
            <a:avLst/>
          </a:prstGeom>
          <a:noFill/>
          <a:effectLst/>
        </p:spPr>
        <p:txBody>
          <a:bodyPr wrap="square" lIns="0" rIns="0" tIns="0" bIns="0">
            <a:spAutoFit/>
          </a:bodyPr>
          <a:lstStyle/>
          <a:p>
            <a:pPr>
              <a:lnSpc>
                <a:spcPct val="112000"/>
              </a:lnSpc>
              <a:spcAft>
                <a:spcPts val="0"/>
              </a:spcAft>
              <a:defRPr sz="1400" b="1">
                <a:solidFill>
                  <a:srgbClr val="193C42"/>
                </a:solidFill>
                <a:latin typeface="Arial"/>
              </a:defRPr>
            </a:pPr>
            <a:r>
              <a:t>USE CASE</a:t>
            </a:r>
          </a:p>
          <a:p>
            <a:pPr>
              <a:lnSpc>
                <a:spcPct val="112000"/>
              </a:lnSpc>
              <a:spcAft>
                <a:spcPts val="0"/>
              </a:spcAft>
              <a:defRPr sz="1400" b="1">
                <a:solidFill>
                  <a:srgbClr val="193C42"/>
                </a:solidFill>
                <a:latin typeface="Arial"/>
              </a:defRPr>
            </a:pPr>
            <a:r>
              <a:t>Ba tác nhân chính</a:t>
            </a:r>
          </a:p>
        </p:txBody>
      </p:sp>
      <p:sp>
        <p:nvSpPr>
          <p:cNvPr id="11" name="TextBox 10"/>
          <p:cNvSpPr txBox="1"/>
          <p:nvPr/>
        </p:nvSpPr>
        <p:spPr>
          <a:xfrm>
            <a:off x="621792" y="2999232"/>
            <a:ext cx="2926080" cy="274320"/>
          </a:xfrm>
          <a:prstGeom prst="rect">
            <a:avLst/>
          </a:prstGeom>
          <a:noFill/>
          <a:effectLst/>
        </p:spPr>
        <p:txBody>
          <a:bodyPr wrap="square" lIns="0" rIns="0" tIns="0" bIns="0">
            <a:spAutoFit/>
          </a:bodyPr>
          <a:lstStyle/>
          <a:p>
            <a:pPr>
              <a:lnSpc>
                <a:spcPct val="112000"/>
              </a:lnSpc>
              <a:spcAft>
                <a:spcPts val="0"/>
              </a:spcAft>
              <a:defRPr sz="1300" b="1">
                <a:solidFill>
                  <a:srgbClr val="237B73"/>
                </a:solidFill>
                <a:latin typeface="Arial"/>
              </a:defRPr>
            </a:pPr>
            <a:r>
              <a:t>NGƯỜI DÂN</a:t>
            </a:r>
          </a:p>
        </p:txBody>
      </p:sp>
      <p:sp>
        <p:nvSpPr>
          <p:cNvPr id="12" name="TextBox 11"/>
          <p:cNvSpPr txBox="1"/>
          <p:nvPr/>
        </p:nvSpPr>
        <p:spPr>
          <a:xfrm>
            <a:off x="621792" y="3291839"/>
            <a:ext cx="2926080" cy="731520"/>
          </a:xfrm>
          <a:prstGeom prst="rect">
            <a:avLst/>
          </a:prstGeom>
          <a:noFill/>
          <a:effectLst/>
        </p:spPr>
        <p:txBody>
          <a:bodyPr wrap="square" lIns="0" rIns="0" tIns="0" bIns="0">
            <a:spAutoFit/>
          </a:bodyPr>
          <a:lstStyle/>
          <a:p>
            <a:pPr>
              <a:lnSpc>
                <a:spcPct val="106000"/>
              </a:lnSpc>
              <a:spcAft>
                <a:spcPts val="0"/>
              </a:spcAft>
              <a:defRPr sz="1600" b="0">
                <a:solidFill>
                  <a:srgbClr val="193C42"/>
                </a:solidFill>
                <a:latin typeface="Arial"/>
              </a:defRPr>
            </a:pPr>
            <a:r>
              <a:t>Đăng ký/đăng nhập, hồ sơ, lịch tiêm, lịch sử, nhắc lịch</a:t>
            </a:r>
          </a:p>
        </p:txBody>
      </p:sp>
      <p:sp>
        <p:nvSpPr>
          <p:cNvPr id="13" name="TextBox 12"/>
          <p:cNvSpPr txBox="1"/>
          <p:nvPr/>
        </p:nvSpPr>
        <p:spPr>
          <a:xfrm>
            <a:off x="621792" y="4050791"/>
            <a:ext cx="2926080" cy="274320"/>
          </a:xfrm>
          <a:prstGeom prst="rect">
            <a:avLst/>
          </a:prstGeom>
          <a:noFill/>
          <a:effectLst/>
        </p:spPr>
        <p:txBody>
          <a:bodyPr wrap="square" lIns="0" rIns="0" tIns="0" bIns="0">
            <a:spAutoFit/>
          </a:bodyPr>
          <a:lstStyle/>
          <a:p>
            <a:pPr>
              <a:lnSpc>
                <a:spcPct val="112000"/>
              </a:lnSpc>
              <a:spcAft>
                <a:spcPts val="0"/>
              </a:spcAft>
              <a:defRPr sz="1300" b="1">
                <a:solidFill>
                  <a:srgbClr val="237B73"/>
                </a:solidFill>
                <a:latin typeface="Arial"/>
              </a:defRPr>
            </a:pPr>
            <a:r>
              <a:t>NHÂN VIÊN</a:t>
            </a:r>
          </a:p>
        </p:txBody>
      </p:sp>
      <p:sp>
        <p:nvSpPr>
          <p:cNvPr id="14" name="TextBox 13"/>
          <p:cNvSpPr txBox="1"/>
          <p:nvPr/>
        </p:nvSpPr>
        <p:spPr>
          <a:xfrm>
            <a:off x="621792" y="4343400"/>
            <a:ext cx="2926080" cy="731520"/>
          </a:xfrm>
          <a:prstGeom prst="rect">
            <a:avLst/>
          </a:prstGeom>
          <a:noFill/>
          <a:effectLst/>
        </p:spPr>
        <p:txBody>
          <a:bodyPr wrap="square" lIns="0" rIns="0" tIns="0" bIns="0">
            <a:spAutoFit/>
          </a:bodyPr>
          <a:lstStyle/>
          <a:p>
            <a:pPr>
              <a:lnSpc>
                <a:spcPct val="106000"/>
              </a:lnSpc>
              <a:spcAft>
                <a:spcPts val="0"/>
              </a:spcAft>
              <a:defRPr sz="1600" b="0">
                <a:solidFill>
                  <a:srgbClr val="193C42"/>
                </a:solidFill>
                <a:latin typeface="Arial"/>
              </a:defRPr>
            </a:pPr>
            <a:r>
              <a:t>Quản lý lịch, vaccine, lô, chống chỉ định, ghi nhận mũi tiêm</a:t>
            </a:r>
          </a:p>
        </p:txBody>
      </p:sp>
      <p:sp>
        <p:nvSpPr>
          <p:cNvPr id="15" name="TextBox 14"/>
          <p:cNvSpPr txBox="1"/>
          <p:nvPr/>
        </p:nvSpPr>
        <p:spPr>
          <a:xfrm>
            <a:off x="621792" y="5175504"/>
            <a:ext cx="2926080" cy="274320"/>
          </a:xfrm>
          <a:prstGeom prst="rect">
            <a:avLst/>
          </a:prstGeom>
          <a:noFill/>
          <a:effectLst/>
        </p:spPr>
        <p:txBody>
          <a:bodyPr wrap="square" lIns="0" rIns="0" tIns="0" bIns="0">
            <a:spAutoFit/>
          </a:bodyPr>
          <a:lstStyle/>
          <a:p>
            <a:pPr>
              <a:lnSpc>
                <a:spcPct val="112000"/>
              </a:lnSpc>
              <a:spcAft>
                <a:spcPts val="0"/>
              </a:spcAft>
              <a:defRPr sz="1300" b="1">
                <a:solidFill>
                  <a:srgbClr val="237B73"/>
                </a:solidFill>
                <a:latin typeface="Arial"/>
              </a:defRPr>
            </a:pPr>
            <a:r>
              <a:t>QUẢN TRỊ VIÊN</a:t>
            </a:r>
          </a:p>
        </p:txBody>
      </p:sp>
      <p:sp>
        <p:nvSpPr>
          <p:cNvPr id="16" name="TextBox 15"/>
          <p:cNvSpPr txBox="1"/>
          <p:nvPr/>
        </p:nvSpPr>
        <p:spPr>
          <a:xfrm>
            <a:off x="621792" y="5468112"/>
            <a:ext cx="2926080" cy="731520"/>
          </a:xfrm>
          <a:prstGeom prst="rect">
            <a:avLst/>
          </a:prstGeom>
          <a:noFill/>
          <a:effectLst/>
        </p:spPr>
        <p:txBody>
          <a:bodyPr wrap="square" lIns="0" rIns="0" tIns="0" bIns="0">
            <a:spAutoFit/>
          </a:bodyPr>
          <a:lstStyle/>
          <a:p>
            <a:pPr>
              <a:lnSpc>
                <a:spcPct val="106000"/>
              </a:lnSpc>
              <a:spcAft>
                <a:spcPts val="0"/>
              </a:spcAft>
              <a:defRPr sz="1600" b="0">
                <a:solidFill>
                  <a:srgbClr val="193C42"/>
                </a:solidFill>
                <a:latin typeface="Arial"/>
              </a:defRPr>
            </a:pPr>
            <a:r>
              <a:t>Tài khoản, phân quyền, vaccine/lô và truy vết</a:t>
            </a:r>
          </a:p>
        </p:txBody>
      </p:sp>
      <p:sp>
        <p:nvSpPr>
          <p:cNvPr id="17" name="Rectangle 16"/>
          <p:cNvSpPr/>
          <p:nvPr/>
        </p:nvSpPr>
        <p:spPr>
          <a:xfrm>
            <a:off x="3703320" y="2121408"/>
            <a:ext cx="4645152" cy="3822191"/>
          </a:xfrm>
          <a:prstGeom prst="rect">
            <a:avLst/>
          </a:prstGeom>
          <a:solidFill>
            <a:srgbClr val="FFFFFF"/>
          </a:solidFill>
          <a:ln w="7620">
            <a:solidFill>
              <a:srgbClr val="D8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3703320" y="2121408"/>
            <a:ext cx="164591" cy="0"/>
          </a:xfrm>
          <a:prstGeom prst="line">
            <a:avLst/>
          </a:prstGeom>
          <a:ln w="10160">
            <a:solidFill>
              <a:srgbClr val="BA965B"/>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8183879" y="2121408"/>
            <a:ext cx="164592" cy="0"/>
          </a:xfrm>
          <a:prstGeom prst="line">
            <a:avLst/>
          </a:prstGeom>
          <a:ln w="10160">
            <a:solidFill>
              <a:srgbClr val="BA965B"/>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703320" y="5943600"/>
            <a:ext cx="164591" cy="0"/>
          </a:xfrm>
          <a:prstGeom prst="line">
            <a:avLst/>
          </a:prstGeom>
          <a:ln w="10160">
            <a:solidFill>
              <a:srgbClr val="BA965B"/>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8183879" y="5943600"/>
            <a:ext cx="164592" cy="0"/>
          </a:xfrm>
          <a:prstGeom prst="line">
            <a:avLst/>
          </a:prstGeom>
          <a:ln w="10160">
            <a:solidFill>
              <a:srgbClr val="BA965B"/>
            </a:solidFill>
          </a:ln>
          <a:effectLst/>
        </p:spPr>
        <p:style>
          <a:lnRef idx="2">
            <a:schemeClr val="accent1"/>
          </a:lnRef>
          <a:fillRef idx="0">
            <a:schemeClr val="accent1"/>
          </a:fillRef>
          <a:effectRef idx="1">
            <a:schemeClr val="accent1"/>
          </a:effectRef>
          <a:fontRef idx="minor">
            <a:schemeClr val="tx1"/>
          </a:fontRef>
        </p:style>
      </p:cxnSp>
      <p:pic>
        <p:nvPicPr>
          <p:cNvPr id="22" name="Picture 21" descr="image.png"/>
          <p:cNvPicPr>
            <a:picLocks noChangeAspect="1"/>
          </p:cNvPicPr>
          <p:nvPr/>
        </p:nvPicPr>
        <p:blipFill>
          <a:blip r:embed="rId2"/>
          <a:stretch>
            <a:fillRect/>
          </a:stretch>
        </p:blipFill>
        <p:spPr>
          <a:xfrm>
            <a:off x="3767328" y="2219120"/>
            <a:ext cx="4517136" cy="3626767"/>
          </a:xfrm>
          <a:prstGeom prst="rect">
            <a:avLst/>
          </a:prstGeom>
          <a:effectLst/>
        </p:spPr>
      </p:pic>
      <p:sp>
        <p:nvSpPr>
          <p:cNvPr id="23" name="Rectangle 22"/>
          <p:cNvSpPr/>
          <p:nvPr/>
        </p:nvSpPr>
        <p:spPr>
          <a:xfrm>
            <a:off x="8531352" y="2121408"/>
            <a:ext cx="3063240" cy="2057400"/>
          </a:xfrm>
          <a:prstGeom prst="rect">
            <a:avLst/>
          </a:prstGeom>
          <a:solidFill>
            <a:srgbClr val="FFFFFF"/>
          </a:solidFill>
          <a:ln w="7620">
            <a:solidFill>
              <a:srgbClr val="D8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8531352" y="2121408"/>
            <a:ext cx="164592" cy="0"/>
          </a:xfrm>
          <a:prstGeom prst="line">
            <a:avLst/>
          </a:prstGeom>
          <a:ln w="10160">
            <a:solidFill>
              <a:srgbClr val="BA965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1430000" y="2121408"/>
            <a:ext cx="164592" cy="0"/>
          </a:xfrm>
          <a:prstGeom prst="line">
            <a:avLst/>
          </a:prstGeom>
          <a:ln w="10160">
            <a:solidFill>
              <a:srgbClr val="BA965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531352" y="4178808"/>
            <a:ext cx="164592" cy="0"/>
          </a:xfrm>
          <a:prstGeom prst="line">
            <a:avLst/>
          </a:prstGeom>
          <a:ln w="10160">
            <a:solidFill>
              <a:srgbClr val="BA965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11430000" y="4178808"/>
            <a:ext cx="164592" cy="0"/>
          </a:xfrm>
          <a:prstGeom prst="line">
            <a:avLst/>
          </a:prstGeom>
          <a:ln w="10160">
            <a:solidFill>
              <a:srgbClr val="BA965B"/>
            </a:solidFill>
          </a:ln>
          <a:effectLst/>
        </p:spPr>
        <p:style>
          <a:lnRef idx="2">
            <a:schemeClr val="accent1"/>
          </a:lnRef>
          <a:fillRef idx="0">
            <a:schemeClr val="accent1"/>
          </a:fillRef>
          <a:effectRef idx="1">
            <a:schemeClr val="accent1"/>
          </a:effectRef>
          <a:fontRef idx="minor">
            <a:schemeClr val="tx1"/>
          </a:fontRef>
        </p:style>
      </p:cxnSp>
      <p:pic>
        <p:nvPicPr>
          <p:cNvPr id="28" name="Picture 27" descr="image.png"/>
          <p:cNvPicPr>
            <a:picLocks noChangeAspect="1"/>
          </p:cNvPicPr>
          <p:nvPr/>
        </p:nvPicPr>
        <p:blipFill>
          <a:blip r:embed="rId3"/>
          <a:stretch>
            <a:fillRect/>
          </a:stretch>
        </p:blipFill>
        <p:spPr>
          <a:xfrm>
            <a:off x="8595360" y="2317833"/>
            <a:ext cx="2935224" cy="1664549"/>
          </a:xfrm>
          <a:prstGeom prst="rect">
            <a:avLst/>
          </a:prstGeom>
          <a:effectLst/>
        </p:spPr>
      </p:pic>
      <p:sp>
        <p:nvSpPr>
          <p:cNvPr id="29" name="TextBox 28"/>
          <p:cNvSpPr txBox="1"/>
          <p:nvPr/>
        </p:nvSpPr>
        <p:spPr>
          <a:xfrm>
            <a:off x="8558784" y="4517136"/>
            <a:ext cx="2971800" cy="274320"/>
          </a:xfrm>
          <a:prstGeom prst="rect">
            <a:avLst/>
          </a:prstGeom>
          <a:noFill/>
          <a:effectLst/>
        </p:spPr>
        <p:txBody>
          <a:bodyPr wrap="square" lIns="0" rIns="0" tIns="0" bIns="0">
            <a:spAutoFit/>
          </a:bodyPr>
          <a:lstStyle/>
          <a:p>
            <a:pPr>
              <a:lnSpc>
                <a:spcPct val="112000"/>
              </a:lnSpc>
              <a:spcAft>
                <a:spcPts val="0"/>
              </a:spcAft>
              <a:defRPr sz="1300" b="1">
                <a:solidFill>
                  <a:srgbClr val="237B73"/>
                </a:solidFill>
                <a:latin typeface="Arial"/>
              </a:defRPr>
            </a:pPr>
            <a:r>
              <a:t>Trọng tâm nghiệp vụ</a:t>
            </a:r>
          </a:p>
        </p:txBody>
      </p:sp>
      <p:sp>
        <p:nvSpPr>
          <p:cNvPr id="30" name="TextBox 29"/>
          <p:cNvSpPr txBox="1"/>
          <p:nvPr/>
        </p:nvSpPr>
        <p:spPr>
          <a:xfrm>
            <a:off x="8558784" y="4864608"/>
            <a:ext cx="2962656" cy="1005840"/>
          </a:xfrm>
          <a:prstGeom prst="rect">
            <a:avLst/>
          </a:prstGeom>
          <a:noFill/>
          <a:effectLst/>
        </p:spPr>
        <p:txBody>
          <a:bodyPr wrap="square" lIns="0" rIns="0" tIns="0" bIns="0">
            <a:spAutoFit/>
          </a:bodyPr>
          <a:lstStyle/>
          <a:p>
            <a:pPr>
              <a:lnSpc>
                <a:spcPct val="112000"/>
              </a:lnSpc>
              <a:spcAft>
                <a:spcPts val="0"/>
              </a:spcAft>
              <a:defRPr sz="1800" b="0">
                <a:solidFill>
                  <a:srgbClr val="193C42"/>
                </a:solidFill>
                <a:latin typeface="Arial"/>
              </a:defRPr>
            </a:pPr>
            <a:r>
              <a:t>Đăng ký lịch → xác nhận → ghi nhận mũi → lịch sử/truy vết</a:t>
            </a:r>
          </a:p>
        </p:txBody>
      </p:sp>
      <p:sp>
        <p:nvSpPr>
          <p:cNvPr id="31" name="TextBox 30"/>
          <p:cNvSpPr txBox="1"/>
          <p:nvPr/>
        </p:nvSpPr>
        <p:spPr>
          <a:xfrm>
            <a:off x="3712463" y="6035040"/>
            <a:ext cx="7818120" cy="228600"/>
          </a:xfrm>
          <a:prstGeom prst="rect">
            <a:avLst/>
          </a:prstGeom>
          <a:noFill/>
          <a:effectLst/>
        </p:spPr>
        <p:txBody>
          <a:bodyPr wrap="square" lIns="0" rIns="0" tIns="0" bIns="0">
            <a:spAutoFit/>
          </a:bodyPr>
          <a:lstStyle/>
          <a:p>
            <a:pPr>
              <a:lnSpc>
                <a:spcPct val="112000"/>
              </a:lnSpc>
              <a:spcAft>
                <a:spcPts val="0"/>
              </a:spcAft>
              <a:defRPr sz="1100" b="0">
                <a:solidFill>
                  <a:srgbClr val="637776"/>
                </a:solidFill>
                <a:latin typeface="Arial"/>
              </a:defRPr>
            </a:pPr>
            <a:r>
              <a:t>Use Case tổng quát – ánh xạ đầy đủ quyền của Người dân, Nhân viên và Quản trị viên.</a:t>
            </a:r>
          </a:p>
        </p:txBody>
      </p:sp>
    </p:spTree>
  </p:cSld>
  <p:clrMapOvr>
    <a:masterClrMapping/>
  </p:clrMapOvr>
  <p:transition spd="slow">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566928" y="6492240"/>
            <a:ext cx="8961120" cy="201168"/>
          </a:xfrm>
          <a:prstGeom prst="rect">
            <a:avLst/>
          </a:prstGeom>
          <a:noFill/>
          <a:effectLst/>
        </p:spPr>
        <p:txBody>
          <a:bodyPr wrap="square" lIns="0" rIns="0" tIns="0" bIns="0">
            <a:spAutoFit/>
          </a:bodyPr>
          <a:lstStyle/>
          <a:p>
            <a:pPr>
              <a:lnSpc>
                <a:spcPct val="112000"/>
              </a:lnSpc>
              <a:spcAft>
                <a:spcPts val="0"/>
              </a:spcAft>
              <a:defRPr sz="900" b="0">
                <a:solidFill>
                  <a:srgbClr val="637776"/>
                </a:solidFill>
                <a:latin typeface="Arial"/>
              </a:defRPr>
            </a:pPr>
            <a:r>
              <a:t>PHAN TRỌNG PHÚC  /  12CNPM2  /  1250080148</a:t>
            </a:r>
          </a:p>
        </p:txBody>
      </p:sp>
      <p:sp>
        <p:nvSpPr>
          <p:cNvPr id="3" name="TextBox 2"/>
          <p:cNvSpPr txBox="1"/>
          <p:nvPr/>
        </p:nvSpPr>
        <p:spPr>
          <a:xfrm>
            <a:off x="11000232" y="6437376"/>
            <a:ext cx="603504" cy="274320"/>
          </a:xfrm>
          <a:prstGeom prst="rect">
            <a:avLst/>
          </a:prstGeom>
          <a:noFill/>
          <a:effectLst/>
        </p:spPr>
        <p:txBody>
          <a:bodyPr wrap="square" lIns="0" rIns="0" tIns="0" bIns="0">
            <a:spAutoFit/>
          </a:bodyPr>
          <a:lstStyle/>
          <a:p>
            <a:pPr algn="r">
              <a:lnSpc>
                <a:spcPct val="112000"/>
              </a:lnSpc>
              <a:spcAft>
                <a:spcPts val="0"/>
              </a:spcAft>
              <a:defRPr sz="1400" b="1">
                <a:solidFill>
                  <a:srgbClr val="BA965B"/>
                </a:solidFill>
                <a:latin typeface="Arial"/>
              </a:defRPr>
            </a:pPr>
            <a:r>
              <a:t>04</a:t>
            </a:r>
          </a:p>
        </p:txBody>
      </p:sp>
      <p:cxnSp>
        <p:nvCxnSpPr>
          <p:cNvPr id="4" name="Connector 3"/>
          <p:cNvCxnSpPr/>
          <p:nvPr/>
        </p:nvCxnSpPr>
        <p:spPr>
          <a:xfrm>
            <a:off x="566928" y="6345936"/>
            <a:ext cx="11045952" cy="0"/>
          </a:xfrm>
          <a:prstGeom prst="line">
            <a:avLst/>
          </a:prstGeom>
          <a:ln w="7620">
            <a:solidFill>
              <a:srgbClr val="D2DAD3"/>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5216" y="365760"/>
            <a:ext cx="10607040" cy="201168"/>
          </a:xfrm>
          <a:prstGeom prst="rect">
            <a:avLst/>
          </a:prstGeom>
          <a:noFill/>
          <a:effectLst/>
        </p:spPr>
        <p:txBody>
          <a:bodyPr wrap="square" lIns="0" rIns="0" tIns="0" bIns="0">
            <a:spAutoFit/>
          </a:bodyPr>
          <a:lstStyle/>
          <a:p>
            <a:pPr>
              <a:lnSpc>
                <a:spcPct val="112000"/>
              </a:lnSpc>
              <a:spcAft>
                <a:spcPts val="0"/>
              </a:spcAft>
              <a:defRPr sz="1000" b="1">
                <a:solidFill>
                  <a:srgbClr val="BA965B"/>
                </a:solidFill>
                <a:latin typeface="Arial"/>
              </a:defRPr>
            </a:pPr>
            <a:r>
              <a:t>02 / LUỒNG NGHIỆP VỤ</a:t>
            </a:r>
          </a:p>
        </p:txBody>
      </p:sp>
      <p:sp>
        <p:nvSpPr>
          <p:cNvPr id="6" name="TextBox 5"/>
          <p:cNvSpPr txBox="1"/>
          <p:nvPr/>
        </p:nvSpPr>
        <p:spPr>
          <a:xfrm>
            <a:off x="566928" y="758952"/>
            <a:ext cx="10991088" cy="640080"/>
          </a:xfrm>
          <a:prstGeom prst="rect">
            <a:avLst/>
          </a:prstGeom>
          <a:noFill/>
          <a:effectLst/>
        </p:spPr>
        <p:txBody>
          <a:bodyPr wrap="square" lIns="0" rIns="0" tIns="0" bIns="0">
            <a:spAutoFit/>
          </a:bodyPr>
          <a:lstStyle/>
          <a:p>
            <a:pPr>
              <a:lnSpc>
                <a:spcPct val="112000"/>
              </a:lnSpc>
              <a:spcAft>
                <a:spcPts val="0"/>
              </a:spcAft>
              <a:defRPr sz="3100" b="1">
                <a:solidFill>
                  <a:srgbClr val="193C42"/>
                </a:solidFill>
                <a:latin typeface="Arial"/>
              </a:defRPr>
            </a:pPr>
            <a:r>
              <a:t>ACTIVITY DIAGRAM</a:t>
            </a:r>
          </a:p>
        </p:txBody>
      </p:sp>
      <p:sp>
        <p:nvSpPr>
          <p:cNvPr id="7" name="TextBox 6"/>
          <p:cNvSpPr txBox="1"/>
          <p:nvPr/>
        </p:nvSpPr>
        <p:spPr>
          <a:xfrm>
            <a:off x="594360" y="1463040"/>
            <a:ext cx="10789920" cy="521207"/>
          </a:xfrm>
          <a:prstGeom prst="rect">
            <a:avLst/>
          </a:prstGeom>
          <a:noFill/>
          <a:effectLst/>
        </p:spPr>
        <p:txBody>
          <a:bodyPr wrap="square" lIns="0" rIns="0" tIns="0" bIns="0">
            <a:spAutoFit/>
          </a:bodyPr>
          <a:lstStyle/>
          <a:p>
            <a:pPr>
              <a:lnSpc>
                <a:spcPct val="112000"/>
              </a:lnSpc>
              <a:spcAft>
                <a:spcPts val="0"/>
              </a:spcAft>
              <a:defRPr sz="1700" b="0">
                <a:solidFill>
                  <a:srgbClr val="637776"/>
                </a:solidFill>
                <a:latin typeface="Arial"/>
              </a:defRPr>
            </a:pPr>
            <a:r>
              <a:t>Mô tả luồng nghiệp vụ giữa hai swimlane: Người dân và Hệ thống.</a:t>
            </a:r>
          </a:p>
        </p:txBody>
      </p:sp>
      <p:cxnSp>
        <p:nvCxnSpPr>
          <p:cNvPr id="8" name="Connector 7"/>
          <p:cNvCxnSpPr/>
          <p:nvPr/>
        </p:nvCxnSpPr>
        <p:spPr>
          <a:xfrm>
            <a:off x="594360" y="1307592"/>
            <a:ext cx="640080" cy="0"/>
          </a:xfrm>
          <a:prstGeom prst="line">
            <a:avLst/>
          </a:prstGeom>
          <a:ln w="25400">
            <a:solidFill>
              <a:srgbClr val="BA965B"/>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21792" y="2121408"/>
            <a:ext cx="3657600" cy="274320"/>
          </a:xfrm>
          <a:prstGeom prst="rect">
            <a:avLst/>
          </a:prstGeom>
          <a:noFill/>
          <a:effectLst/>
        </p:spPr>
        <p:txBody>
          <a:bodyPr wrap="square" lIns="0" rIns="0" tIns="0" bIns="0">
            <a:spAutoFit/>
          </a:bodyPr>
          <a:lstStyle/>
          <a:p>
            <a:pPr>
              <a:lnSpc>
                <a:spcPct val="112000"/>
              </a:lnSpc>
              <a:spcAft>
                <a:spcPts val="0"/>
              </a:spcAft>
              <a:defRPr sz="1300" b="1">
                <a:solidFill>
                  <a:srgbClr val="237B73"/>
                </a:solidFill>
                <a:latin typeface="Arial"/>
              </a:defRPr>
            </a:pPr>
            <a:r>
              <a:t>Luồng chính</a:t>
            </a:r>
          </a:p>
        </p:txBody>
      </p:sp>
      <p:sp>
        <p:nvSpPr>
          <p:cNvPr id="10" name="TextBox 9"/>
          <p:cNvSpPr txBox="1"/>
          <p:nvPr/>
        </p:nvSpPr>
        <p:spPr>
          <a:xfrm>
            <a:off x="621792" y="2642616"/>
            <a:ext cx="411480" cy="274320"/>
          </a:xfrm>
          <a:prstGeom prst="rect">
            <a:avLst/>
          </a:prstGeom>
          <a:noFill/>
          <a:effectLst/>
        </p:spPr>
        <p:txBody>
          <a:bodyPr wrap="square" lIns="0" rIns="0" tIns="0" bIns="0">
            <a:spAutoFit/>
          </a:bodyPr>
          <a:lstStyle/>
          <a:p>
            <a:pPr>
              <a:lnSpc>
                <a:spcPct val="112000"/>
              </a:lnSpc>
              <a:spcAft>
                <a:spcPts val="0"/>
              </a:spcAft>
              <a:defRPr sz="1400" b="1">
                <a:solidFill>
                  <a:srgbClr val="BA965B"/>
                </a:solidFill>
                <a:latin typeface="Arial"/>
              </a:defRPr>
            </a:pPr>
            <a:r>
              <a:t>01</a:t>
            </a:r>
          </a:p>
        </p:txBody>
      </p:sp>
      <p:sp>
        <p:nvSpPr>
          <p:cNvPr id="11" name="TextBox 10"/>
          <p:cNvSpPr txBox="1"/>
          <p:nvPr/>
        </p:nvSpPr>
        <p:spPr>
          <a:xfrm>
            <a:off x="1161288" y="2624328"/>
            <a:ext cx="2990088" cy="530352"/>
          </a:xfrm>
          <a:prstGeom prst="rect">
            <a:avLst/>
          </a:prstGeom>
          <a:noFill/>
          <a:effectLst/>
        </p:spPr>
        <p:txBody>
          <a:bodyPr wrap="square" lIns="0" rIns="0" tIns="0" bIns="0">
            <a:spAutoFit/>
          </a:bodyPr>
          <a:lstStyle/>
          <a:p>
            <a:pPr>
              <a:lnSpc>
                <a:spcPct val="112000"/>
              </a:lnSpc>
              <a:spcAft>
                <a:spcPts val="0"/>
              </a:spcAft>
              <a:defRPr sz="1800" b="0">
                <a:solidFill>
                  <a:srgbClr val="193C42"/>
                </a:solidFill>
                <a:latin typeface="Arial"/>
              </a:defRPr>
            </a:pPr>
            <a:r>
              <a:t>Người dân chọn chức năng đăng ký lịch tiêm.</a:t>
            </a:r>
          </a:p>
        </p:txBody>
      </p:sp>
      <p:cxnSp>
        <p:nvCxnSpPr>
          <p:cNvPr id="12" name="Connector 11"/>
          <p:cNvCxnSpPr/>
          <p:nvPr/>
        </p:nvCxnSpPr>
        <p:spPr>
          <a:xfrm>
            <a:off x="786384" y="2962656"/>
            <a:ext cx="0" cy="192024"/>
          </a:xfrm>
          <a:prstGeom prst="line">
            <a:avLst/>
          </a:prstGeom>
          <a:ln w="7620">
            <a:solidFill>
              <a:srgbClr val="D0D9D1"/>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21792" y="3218688"/>
            <a:ext cx="411480" cy="274320"/>
          </a:xfrm>
          <a:prstGeom prst="rect">
            <a:avLst/>
          </a:prstGeom>
          <a:noFill/>
          <a:effectLst/>
        </p:spPr>
        <p:txBody>
          <a:bodyPr wrap="square" lIns="0" rIns="0" tIns="0" bIns="0">
            <a:spAutoFit/>
          </a:bodyPr>
          <a:lstStyle/>
          <a:p>
            <a:pPr>
              <a:lnSpc>
                <a:spcPct val="112000"/>
              </a:lnSpc>
              <a:spcAft>
                <a:spcPts val="0"/>
              </a:spcAft>
              <a:defRPr sz="1400" b="1">
                <a:solidFill>
                  <a:srgbClr val="BA965B"/>
                </a:solidFill>
                <a:latin typeface="Arial"/>
              </a:defRPr>
            </a:pPr>
            <a:r>
              <a:t>02</a:t>
            </a:r>
          </a:p>
        </p:txBody>
      </p:sp>
      <p:sp>
        <p:nvSpPr>
          <p:cNvPr id="14" name="TextBox 13"/>
          <p:cNvSpPr txBox="1"/>
          <p:nvPr/>
        </p:nvSpPr>
        <p:spPr>
          <a:xfrm>
            <a:off x="1161288" y="3200400"/>
            <a:ext cx="2990088" cy="530352"/>
          </a:xfrm>
          <a:prstGeom prst="rect">
            <a:avLst/>
          </a:prstGeom>
          <a:noFill/>
          <a:effectLst/>
        </p:spPr>
        <p:txBody>
          <a:bodyPr wrap="square" lIns="0" rIns="0" tIns="0" bIns="0">
            <a:spAutoFit/>
          </a:bodyPr>
          <a:lstStyle/>
          <a:p>
            <a:pPr>
              <a:lnSpc>
                <a:spcPct val="112000"/>
              </a:lnSpc>
              <a:spcAft>
                <a:spcPts val="0"/>
              </a:spcAft>
              <a:defRPr sz="1800" b="0">
                <a:solidFill>
                  <a:srgbClr val="193C42"/>
                </a:solidFill>
                <a:latin typeface="Arial"/>
              </a:defRPr>
            </a:pPr>
            <a:r>
              <a:t>Chọn vaccine, ngày và cơ sở tiêm mong muốn.</a:t>
            </a:r>
          </a:p>
        </p:txBody>
      </p:sp>
      <p:cxnSp>
        <p:nvCxnSpPr>
          <p:cNvPr id="15" name="Connector 14"/>
          <p:cNvCxnSpPr/>
          <p:nvPr/>
        </p:nvCxnSpPr>
        <p:spPr>
          <a:xfrm>
            <a:off x="786384" y="3538728"/>
            <a:ext cx="0" cy="192024"/>
          </a:xfrm>
          <a:prstGeom prst="line">
            <a:avLst/>
          </a:prstGeom>
          <a:ln w="7620">
            <a:solidFill>
              <a:srgbClr val="D0D9D1"/>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21792" y="3794760"/>
            <a:ext cx="411480" cy="274320"/>
          </a:xfrm>
          <a:prstGeom prst="rect">
            <a:avLst/>
          </a:prstGeom>
          <a:noFill/>
          <a:effectLst/>
        </p:spPr>
        <p:txBody>
          <a:bodyPr wrap="square" lIns="0" rIns="0" tIns="0" bIns="0">
            <a:spAutoFit/>
          </a:bodyPr>
          <a:lstStyle/>
          <a:p>
            <a:pPr>
              <a:lnSpc>
                <a:spcPct val="112000"/>
              </a:lnSpc>
              <a:spcAft>
                <a:spcPts val="0"/>
              </a:spcAft>
              <a:defRPr sz="1400" b="1">
                <a:solidFill>
                  <a:srgbClr val="BA965B"/>
                </a:solidFill>
                <a:latin typeface="Arial"/>
              </a:defRPr>
            </a:pPr>
            <a:r>
              <a:t>03</a:t>
            </a:r>
          </a:p>
        </p:txBody>
      </p:sp>
      <p:sp>
        <p:nvSpPr>
          <p:cNvPr id="17" name="TextBox 16"/>
          <p:cNvSpPr txBox="1"/>
          <p:nvPr/>
        </p:nvSpPr>
        <p:spPr>
          <a:xfrm>
            <a:off x="1161288" y="3776472"/>
            <a:ext cx="2990088" cy="530352"/>
          </a:xfrm>
          <a:prstGeom prst="rect">
            <a:avLst/>
          </a:prstGeom>
          <a:noFill/>
          <a:effectLst/>
        </p:spPr>
        <p:txBody>
          <a:bodyPr wrap="square" lIns="0" rIns="0" tIns="0" bIns="0">
            <a:spAutoFit/>
          </a:bodyPr>
          <a:lstStyle/>
          <a:p>
            <a:pPr>
              <a:lnSpc>
                <a:spcPct val="112000"/>
              </a:lnSpc>
              <a:spcAft>
                <a:spcPts val="0"/>
              </a:spcAft>
              <a:defRPr sz="1800" b="0">
                <a:solidFill>
                  <a:srgbClr val="193C42"/>
                </a:solidFill>
                <a:latin typeface="Arial"/>
              </a:defRPr>
            </a:pPr>
            <a:r>
              <a:t>Hệ thống kiểm tra suất tiêm và điều kiện tồn kho.</a:t>
            </a:r>
          </a:p>
        </p:txBody>
      </p:sp>
      <p:cxnSp>
        <p:nvCxnSpPr>
          <p:cNvPr id="18" name="Connector 17"/>
          <p:cNvCxnSpPr/>
          <p:nvPr/>
        </p:nvCxnSpPr>
        <p:spPr>
          <a:xfrm>
            <a:off x="786384" y="4114800"/>
            <a:ext cx="0" cy="192024"/>
          </a:xfrm>
          <a:prstGeom prst="line">
            <a:avLst/>
          </a:prstGeom>
          <a:ln w="7620">
            <a:solidFill>
              <a:srgbClr val="D0D9D1"/>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21792" y="4370832"/>
            <a:ext cx="411480" cy="274320"/>
          </a:xfrm>
          <a:prstGeom prst="rect">
            <a:avLst/>
          </a:prstGeom>
          <a:noFill/>
          <a:effectLst/>
        </p:spPr>
        <p:txBody>
          <a:bodyPr wrap="square" lIns="0" rIns="0" tIns="0" bIns="0">
            <a:spAutoFit/>
          </a:bodyPr>
          <a:lstStyle/>
          <a:p>
            <a:pPr>
              <a:lnSpc>
                <a:spcPct val="112000"/>
              </a:lnSpc>
              <a:spcAft>
                <a:spcPts val="0"/>
              </a:spcAft>
              <a:defRPr sz="1400" b="1">
                <a:solidFill>
                  <a:srgbClr val="BA965B"/>
                </a:solidFill>
                <a:latin typeface="Arial"/>
              </a:defRPr>
            </a:pPr>
            <a:r>
              <a:t>04</a:t>
            </a:r>
          </a:p>
        </p:txBody>
      </p:sp>
      <p:sp>
        <p:nvSpPr>
          <p:cNvPr id="20" name="TextBox 19"/>
          <p:cNvSpPr txBox="1"/>
          <p:nvPr/>
        </p:nvSpPr>
        <p:spPr>
          <a:xfrm>
            <a:off x="1161288" y="4352544"/>
            <a:ext cx="2990088" cy="530352"/>
          </a:xfrm>
          <a:prstGeom prst="rect">
            <a:avLst/>
          </a:prstGeom>
          <a:noFill/>
          <a:effectLst/>
        </p:spPr>
        <p:txBody>
          <a:bodyPr wrap="square" lIns="0" rIns="0" tIns="0" bIns="0">
            <a:spAutoFit/>
          </a:bodyPr>
          <a:lstStyle/>
          <a:p>
            <a:pPr>
              <a:lnSpc>
                <a:spcPct val="112000"/>
              </a:lnSpc>
              <a:spcAft>
                <a:spcPts val="0"/>
              </a:spcAft>
              <a:defRPr sz="1800" b="0">
                <a:solidFill>
                  <a:srgbClr val="193C42"/>
                </a:solidFill>
                <a:latin typeface="Arial"/>
              </a:defRPr>
            </a:pPr>
            <a:r>
              <a:t>Còn suất → tạo LichTiem; hết suất → yêu cầu chọn lại.</a:t>
            </a:r>
          </a:p>
        </p:txBody>
      </p:sp>
      <p:cxnSp>
        <p:nvCxnSpPr>
          <p:cNvPr id="21" name="Connector 20"/>
          <p:cNvCxnSpPr/>
          <p:nvPr/>
        </p:nvCxnSpPr>
        <p:spPr>
          <a:xfrm>
            <a:off x="621792" y="5148072"/>
            <a:ext cx="3529584" cy="0"/>
          </a:xfrm>
          <a:prstGeom prst="line">
            <a:avLst/>
          </a:prstGeom>
          <a:ln w="8890">
            <a:solidFill>
              <a:srgbClr val="CED8D0"/>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21792" y="5330952"/>
            <a:ext cx="3566160" cy="274320"/>
          </a:xfrm>
          <a:prstGeom prst="rect">
            <a:avLst/>
          </a:prstGeom>
          <a:noFill/>
          <a:effectLst/>
        </p:spPr>
        <p:txBody>
          <a:bodyPr wrap="square" lIns="0" rIns="0" tIns="0" bIns="0">
            <a:spAutoFit/>
          </a:bodyPr>
          <a:lstStyle/>
          <a:p>
            <a:pPr>
              <a:lnSpc>
                <a:spcPct val="112000"/>
              </a:lnSpc>
              <a:spcAft>
                <a:spcPts val="0"/>
              </a:spcAft>
              <a:defRPr sz="1300" b="1">
                <a:solidFill>
                  <a:srgbClr val="237B73"/>
                </a:solidFill>
                <a:latin typeface="Arial"/>
              </a:defRPr>
            </a:pPr>
            <a:r>
              <a:t>Điểm quyết định</a:t>
            </a:r>
          </a:p>
        </p:txBody>
      </p:sp>
      <p:sp>
        <p:nvSpPr>
          <p:cNvPr id="23" name="TextBox 22"/>
          <p:cNvSpPr txBox="1"/>
          <p:nvPr/>
        </p:nvSpPr>
        <p:spPr>
          <a:xfrm>
            <a:off x="621792" y="5641848"/>
            <a:ext cx="3593592" cy="521207"/>
          </a:xfrm>
          <a:prstGeom prst="rect">
            <a:avLst/>
          </a:prstGeom>
          <a:noFill/>
          <a:effectLst/>
        </p:spPr>
        <p:txBody>
          <a:bodyPr wrap="square" lIns="0" rIns="0" tIns="0" bIns="0">
            <a:spAutoFit/>
          </a:bodyPr>
          <a:lstStyle/>
          <a:p>
            <a:pPr>
              <a:lnSpc>
                <a:spcPct val="112000"/>
              </a:lnSpc>
              <a:spcAft>
                <a:spcPts val="0"/>
              </a:spcAft>
              <a:defRPr sz="1600" b="0">
                <a:solidFill>
                  <a:srgbClr val="193C42"/>
                </a:solidFill>
                <a:latin typeface="Arial"/>
              </a:defRPr>
            </a:pPr>
            <a:r>
              <a:t>“Còn suất tiêm?” giúp tách rõ luồng thành công và luồng chọn lại.</a:t>
            </a:r>
          </a:p>
        </p:txBody>
      </p:sp>
      <p:sp>
        <p:nvSpPr>
          <p:cNvPr id="24" name="Rectangle 23"/>
          <p:cNvSpPr/>
          <p:nvPr/>
        </p:nvSpPr>
        <p:spPr>
          <a:xfrm>
            <a:off x="4517136" y="2093976"/>
            <a:ext cx="7068312" cy="3950208"/>
          </a:xfrm>
          <a:prstGeom prst="rect">
            <a:avLst/>
          </a:prstGeom>
          <a:solidFill>
            <a:srgbClr val="FFFFFF"/>
          </a:solidFill>
          <a:ln w="7620">
            <a:solidFill>
              <a:srgbClr val="D8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4517136" y="2093976"/>
            <a:ext cx="164592" cy="0"/>
          </a:xfrm>
          <a:prstGeom prst="line">
            <a:avLst/>
          </a:prstGeom>
          <a:ln w="10160">
            <a:solidFill>
              <a:srgbClr val="BA965B"/>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1420856" y="2093976"/>
            <a:ext cx="164592" cy="0"/>
          </a:xfrm>
          <a:prstGeom prst="line">
            <a:avLst/>
          </a:prstGeom>
          <a:ln w="10160">
            <a:solidFill>
              <a:srgbClr val="BA965B"/>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517136" y="6044184"/>
            <a:ext cx="164592" cy="0"/>
          </a:xfrm>
          <a:prstGeom prst="line">
            <a:avLst/>
          </a:prstGeom>
          <a:ln w="10160">
            <a:solidFill>
              <a:srgbClr val="BA965B"/>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11420856" y="6044184"/>
            <a:ext cx="164592" cy="0"/>
          </a:xfrm>
          <a:prstGeom prst="line">
            <a:avLst/>
          </a:prstGeom>
          <a:ln w="10160">
            <a:solidFill>
              <a:srgbClr val="BA965B"/>
            </a:solidFill>
          </a:ln>
          <a:effectLst/>
        </p:spPr>
        <p:style>
          <a:lnRef idx="2">
            <a:schemeClr val="accent1"/>
          </a:lnRef>
          <a:fillRef idx="0">
            <a:schemeClr val="accent1"/>
          </a:fillRef>
          <a:effectRef idx="1">
            <a:schemeClr val="accent1"/>
          </a:effectRef>
          <a:fontRef idx="minor">
            <a:schemeClr val="tx1"/>
          </a:fontRef>
        </p:style>
      </p:cxnSp>
      <p:pic>
        <p:nvPicPr>
          <p:cNvPr id="29" name="Picture 28" descr="image.png"/>
          <p:cNvPicPr>
            <a:picLocks noChangeAspect="1"/>
          </p:cNvPicPr>
          <p:nvPr/>
        </p:nvPicPr>
        <p:blipFill>
          <a:blip r:embed="rId2"/>
          <a:stretch>
            <a:fillRect/>
          </a:stretch>
        </p:blipFill>
        <p:spPr>
          <a:xfrm>
            <a:off x="5952082" y="2167128"/>
            <a:ext cx="4198419" cy="3803904"/>
          </a:xfrm>
          <a:prstGeom prst="rect">
            <a:avLst/>
          </a:prstGeom>
          <a:effectLst/>
        </p:spPr>
      </p:pic>
      <p:sp>
        <p:nvSpPr>
          <p:cNvPr id="30" name="TextBox 29"/>
          <p:cNvSpPr txBox="1"/>
          <p:nvPr/>
        </p:nvSpPr>
        <p:spPr>
          <a:xfrm>
            <a:off x="4544568" y="6108192"/>
            <a:ext cx="7040880" cy="182880"/>
          </a:xfrm>
          <a:prstGeom prst="rect">
            <a:avLst/>
          </a:prstGeom>
          <a:noFill/>
          <a:effectLst/>
        </p:spPr>
        <p:txBody>
          <a:bodyPr wrap="square" lIns="0" rIns="0" tIns="0" bIns="0">
            <a:spAutoFit/>
          </a:bodyPr>
          <a:lstStyle/>
          <a:p>
            <a:pPr>
              <a:lnSpc>
                <a:spcPct val="112000"/>
              </a:lnSpc>
              <a:spcAft>
                <a:spcPts val="0"/>
              </a:spcAft>
              <a:defRPr sz="1000" b="0">
                <a:solidFill>
                  <a:srgbClr val="637776"/>
                </a:solidFill>
                <a:latin typeface="Arial"/>
              </a:defRPr>
            </a:pPr>
            <a:r>
              <a:t>Activity Diagram – tập trung vào trình tự nghiệp vụ và nhánh quyết định.</a:t>
            </a:r>
          </a:p>
        </p:txBody>
      </p:sp>
    </p:spTree>
  </p:cSld>
  <p:clrMapOvr>
    <a:masterClrMapping/>
  </p:clrMapOvr>
  <p:transition spd="slow">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82E"/>
        </a:solidFill>
        <a:effectLst/>
      </p:bgPr>
    </p:bg>
    <p:spTree>
      <p:nvGrpSpPr>
        <p:cNvPr id="1" name=""/>
        <p:cNvGrpSpPr/>
        <p:nvPr/>
      </p:nvGrpSpPr>
      <p:grpSpPr/>
      <p:sp>
        <p:nvSpPr>
          <p:cNvPr id="2" name="TextBox 1"/>
          <p:cNvSpPr txBox="1"/>
          <p:nvPr/>
        </p:nvSpPr>
        <p:spPr>
          <a:xfrm>
            <a:off x="566928" y="6492240"/>
            <a:ext cx="8961120" cy="201168"/>
          </a:xfrm>
          <a:prstGeom prst="rect">
            <a:avLst/>
          </a:prstGeom>
          <a:noFill/>
          <a:effectLst/>
        </p:spPr>
        <p:txBody>
          <a:bodyPr wrap="square" lIns="0" rIns="0" tIns="0" bIns="0">
            <a:spAutoFit/>
          </a:bodyPr>
          <a:lstStyle/>
          <a:p>
            <a:pPr>
              <a:lnSpc>
                <a:spcPct val="112000"/>
              </a:lnSpc>
              <a:spcAft>
                <a:spcPts val="0"/>
              </a:spcAft>
              <a:defRPr sz="900" b="0">
                <a:solidFill>
                  <a:srgbClr val="B8CFCA"/>
                </a:solidFill>
                <a:latin typeface="Arial"/>
              </a:defRPr>
            </a:pPr>
            <a:r>
              <a:t>PHAN TRỌNG PHÚC  /  12CNPM2  /  1250080148</a:t>
            </a:r>
          </a:p>
        </p:txBody>
      </p:sp>
      <p:sp>
        <p:nvSpPr>
          <p:cNvPr id="3" name="TextBox 2"/>
          <p:cNvSpPr txBox="1"/>
          <p:nvPr/>
        </p:nvSpPr>
        <p:spPr>
          <a:xfrm>
            <a:off x="11000232" y="6437376"/>
            <a:ext cx="603504" cy="274320"/>
          </a:xfrm>
          <a:prstGeom prst="rect">
            <a:avLst/>
          </a:prstGeom>
          <a:noFill/>
          <a:effectLst/>
        </p:spPr>
        <p:txBody>
          <a:bodyPr wrap="square" lIns="0" rIns="0" tIns="0" bIns="0">
            <a:spAutoFit/>
          </a:bodyPr>
          <a:lstStyle/>
          <a:p>
            <a:pPr algn="r">
              <a:lnSpc>
                <a:spcPct val="112000"/>
              </a:lnSpc>
              <a:spcAft>
                <a:spcPts val="0"/>
              </a:spcAft>
              <a:defRPr sz="1400" b="1">
                <a:solidFill>
                  <a:srgbClr val="BA965B"/>
                </a:solidFill>
                <a:latin typeface="Arial"/>
              </a:defRPr>
            </a:pPr>
            <a:r>
              <a:t>05</a:t>
            </a:r>
          </a:p>
        </p:txBody>
      </p:sp>
      <p:cxnSp>
        <p:nvCxnSpPr>
          <p:cNvPr id="4" name="Connector 3"/>
          <p:cNvCxnSpPr/>
          <p:nvPr/>
        </p:nvCxnSpPr>
        <p:spPr>
          <a:xfrm>
            <a:off x="566928" y="6345936"/>
            <a:ext cx="11045952" cy="0"/>
          </a:xfrm>
          <a:prstGeom prst="line">
            <a:avLst/>
          </a:prstGeom>
          <a:ln w="7620">
            <a:solidFill>
              <a:srgbClr val="285057"/>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5216" y="365760"/>
            <a:ext cx="10607040" cy="201168"/>
          </a:xfrm>
          <a:prstGeom prst="rect">
            <a:avLst/>
          </a:prstGeom>
          <a:noFill/>
          <a:effectLst/>
        </p:spPr>
        <p:txBody>
          <a:bodyPr wrap="square" lIns="0" rIns="0" tIns="0" bIns="0">
            <a:spAutoFit/>
          </a:bodyPr>
          <a:lstStyle/>
          <a:p>
            <a:pPr>
              <a:lnSpc>
                <a:spcPct val="112000"/>
              </a:lnSpc>
              <a:spcAft>
                <a:spcPts val="0"/>
              </a:spcAft>
              <a:defRPr sz="1000" b="1">
                <a:solidFill>
                  <a:srgbClr val="BA965B"/>
                </a:solidFill>
                <a:latin typeface="Arial"/>
              </a:defRPr>
            </a:pPr>
            <a:r>
              <a:t>03 / TƯƠNG TÁC ĐỐI TƯỢNG</a:t>
            </a:r>
          </a:p>
        </p:txBody>
      </p:sp>
      <p:sp>
        <p:nvSpPr>
          <p:cNvPr id="6" name="TextBox 5"/>
          <p:cNvSpPr txBox="1"/>
          <p:nvPr/>
        </p:nvSpPr>
        <p:spPr>
          <a:xfrm>
            <a:off x="566928" y="758952"/>
            <a:ext cx="10991088" cy="640080"/>
          </a:xfrm>
          <a:prstGeom prst="rect">
            <a:avLst/>
          </a:prstGeom>
          <a:noFill/>
          <a:effectLst/>
        </p:spPr>
        <p:txBody>
          <a:bodyPr wrap="square" lIns="0" rIns="0" tIns="0" bIns="0">
            <a:spAutoFit/>
          </a:bodyPr>
          <a:lstStyle/>
          <a:p>
            <a:pPr>
              <a:lnSpc>
                <a:spcPct val="112000"/>
              </a:lnSpc>
              <a:spcAft>
                <a:spcPts val="0"/>
              </a:spcAft>
              <a:defRPr sz="3100" b="1">
                <a:solidFill>
                  <a:srgbClr val="FFFFFF"/>
                </a:solidFill>
                <a:latin typeface="Arial"/>
              </a:defRPr>
            </a:pPr>
            <a:r>
              <a:t>SEQUENCE DIAGRAM</a:t>
            </a:r>
          </a:p>
        </p:txBody>
      </p:sp>
      <p:sp>
        <p:nvSpPr>
          <p:cNvPr id="7" name="TextBox 6"/>
          <p:cNvSpPr txBox="1"/>
          <p:nvPr/>
        </p:nvSpPr>
        <p:spPr>
          <a:xfrm>
            <a:off x="594360" y="1463040"/>
            <a:ext cx="10789920" cy="521207"/>
          </a:xfrm>
          <a:prstGeom prst="rect">
            <a:avLst/>
          </a:prstGeom>
          <a:noFill/>
          <a:effectLst/>
        </p:spPr>
        <p:txBody>
          <a:bodyPr wrap="square" lIns="0" rIns="0" tIns="0" bIns="0">
            <a:spAutoFit/>
          </a:bodyPr>
          <a:lstStyle/>
          <a:p>
            <a:pPr>
              <a:lnSpc>
                <a:spcPct val="112000"/>
              </a:lnSpc>
              <a:spcAft>
                <a:spcPts val="0"/>
              </a:spcAft>
              <a:defRPr sz="1700" b="0">
                <a:solidFill>
                  <a:srgbClr val="B8CFCA"/>
                </a:solidFill>
                <a:latin typeface="Arial"/>
              </a:defRPr>
            </a:pPr>
            <a:r>
              <a:t>Sequence Diagram thể hiện thứ tự tương tác giữa Người dân, giao diện, hệ thống xử lý và cơ sở dữ liệu.</a:t>
            </a:r>
          </a:p>
        </p:txBody>
      </p:sp>
      <p:cxnSp>
        <p:nvCxnSpPr>
          <p:cNvPr id="8" name="Connector 7"/>
          <p:cNvCxnSpPr/>
          <p:nvPr/>
        </p:nvCxnSpPr>
        <p:spPr>
          <a:xfrm>
            <a:off x="594360" y="1307592"/>
            <a:ext cx="640080" cy="0"/>
          </a:xfrm>
          <a:prstGeom prst="line">
            <a:avLst/>
          </a:prstGeom>
          <a:ln w="25400">
            <a:solidFill>
              <a:srgbClr val="BA965B"/>
            </a:solidFill>
          </a:ln>
          <a:effectLst/>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2148840"/>
            <a:ext cx="7360920" cy="3977639"/>
          </a:xfrm>
          <a:prstGeom prst="rect">
            <a:avLst/>
          </a:prstGeom>
          <a:solidFill>
            <a:srgbClr val="FFFFFF"/>
          </a:solidFill>
          <a:ln w="7620">
            <a:solidFill>
              <a:srgbClr val="D8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594360" y="2148840"/>
            <a:ext cx="164592" cy="0"/>
          </a:xfrm>
          <a:prstGeom prst="line">
            <a:avLst/>
          </a:prstGeom>
          <a:ln w="10160">
            <a:solidFill>
              <a:srgbClr val="BA965B"/>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7790688" y="2148840"/>
            <a:ext cx="164592" cy="0"/>
          </a:xfrm>
          <a:prstGeom prst="line">
            <a:avLst/>
          </a:prstGeom>
          <a:ln w="10160">
            <a:solidFill>
              <a:srgbClr val="BA965B"/>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94360" y="6126479"/>
            <a:ext cx="164592" cy="0"/>
          </a:xfrm>
          <a:prstGeom prst="line">
            <a:avLst/>
          </a:prstGeom>
          <a:ln w="10160">
            <a:solidFill>
              <a:srgbClr val="BA965B"/>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7790688" y="6126479"/>
            <a:ext cx="164592" cy="0"/>
          </a:xfrm>
          <a:prstGeom prst="line">
            <a:avLst/>
          </a:prstGeom>
          <a:ln w="10160">
            <a:solidFill>
              <a:srgbClr val="BA965B"/>
            </a:solidFill>
          </a:ln>
          <a:effectLst/>
        </p:spPr>
        <p:style>
          <a:lnRef idx="2">
            <a:schemeClr val="accent1"/>
          </a:lnRef>
          <a:fillRef idx="0">
            <a:schemeClr val="accent1"/>
          </a:fillRef>
          <a:effectRef idx="1">
            <a:schemeClr val="accent1"/>
          </a:effectRef>
          <a:fontRef idx="minor">
            <a:schemeClr val="tx1"/>
          </a:fontRef>
        </p:style>
      </p:cxnSp>
      <p:pic>
        <p:nvPicPr>
          <p:cNvPr id="14" name="Picture 13" descr="image.png"/>
          <p:cNvPicPr>
            <a:picLocks noChangeAspect="1"/>
          </p:cNvPicPr>
          <p:nvPr/>
        </p:nvPicPr>
        <p:blipFill>
          <a:blip r:embed="rId2"/>
          <a:stretch>
            <a:fillRect/>
          </a:stretch>
        </p:blipFill>
        <p:spPr>
          <a:xfrm>
            <a:off x="1629610" y="2212848"/>
            <a:ext cx="5290418" cy="3849624"/>
          </a:xfrm>
          <a:prstGeom prst="rect">
            <a:avLst/>
          </a:prstGeom>
          <a:effectLst/>
        </p:spPr>
      </p:pic>
      <p:sp>
        <p:nvSpPr>
          <p:cNvPr id="15" name="TextBox 14"/>
          <p:cNvSpPr txBox="1"/>
          <p:nvPr/>
        </p:nvSpPr>
        <p:spPr>
          <a:xfrm>
            <a:off x="8348472" y="2167128"/>
            <a:ext cx="3200400" cy="274320"/>
          </a:xfrm>
          <a:prstGeom prst="rect">
            <a:avLst/>
          </a:prstGeom>
          <a:noFill/>
          <a:effectLst/>
        </p:spPr>
        <p:txBody>
          <a:bodyPr wrap="square" lIns="0" rIns="0" tIns="0" bIns="0">
            <a:spAutoFit/>
          </a:bodyPr>
          <a:lstStyle/>
          <a:p>
            <a:pPr>
              <a:lnSpc>
                <a:spcPct val="112000"/>
              </a:lnSpc>
              <a:spcAft>
                <a:spcPts val="0"/>
              </a:spcAft>
              <a:defRPr sz="1300" b="1">
                <a:solidFill>
                  <a:srgbClr val="BA965B"/>
                </a:solidFill>
                <a:latin typeface="Arial"/>
              </a:defRPr>
            </a:pPr>
            <a:r>
              <a:t>Luồng xử lý đăng ký</a:t>
            </a:r>
          </a:p>
        </p:txBody>
      </p:sp>
      <p:sp>
        <p:nvSpPr>
          <p:cNvPr id="16" name="TextBox 15"/>
          <p:cNvSpPr txBox="1"/>
          <p:nvPr/>
        </p:nvSpPr>
        <p:spPr>
          <a:xfrm>
            <a:off x="8348472" y="2724912"/>
            <a:ext cx="365760" cy="274320"/>
          </a:xfrm>
          <a:prstGeom prst="rect">
            <a:avLst/>
          </a:prstGeom>
          <a:noFill/>
          <a:effectLst/>
        </p:spPr>
        <p:txBody>
          <a:bodyPr wrap="square" lIns="0" rIns="0" tIns="0" bIns="0">
            <a:spAutoFit/>
          </a:bodyPr>
          <a:lstStyle/>
          <a:p>
            <a:pPr>
              <a:lnSpc>
                <a:spcPct val="112000"/>
              </a:lnSpc>
              <a:spcAft>
                <a:spcPts val="0"/>
              </a:spcAft>
              <a:defRPr sz="1200" b="0">
                <a:solidFill>
                  <a:srgbClr val="BA965B"/>
                </a:solidFill>
                <a:latin typeface="Arial"/>
              </a:defRPr>
            </a:pPr>
            <a:r>
              <a:t>01</a:t>
            </a:r>
          </a:p>
        </p:txBody>
      </p:sp>
      <p:sp>
        <p:nvSpPr>
          <p:cNvPr id="17" name="TextBox 16"/>
          <p:cNvSpPr txBox="1"/>
          <p:nvPr/>
        </p:nvSpPr>
        <p:spPr>
          <a:xfrm>
            <a:off x="8851392" y="2724912"/>
            <a:ext cx="2743200" cy="365760"/>
          </a:xfrm>
          <a:prstGeom prst="rect">
            <a:avLst/>
          </a:prstGeom>
          <a:noFill/>
          <a:effectLst/>
        </p:spPr>
        <p:txBody>
          <a:bodyPr wrap="square" lIns="0" rIns="0" tIns="0" bIns="0">
            <a:spAutoFit/>
          </a:bodyPr>
          <a:lstStyle/>
          <a:p>
            <a:pPr>
              <a:lnSpc>
                <a:spcPct val="112000"/>
              </a:lnSpc>
              <a:spcAft>
                <a:spcPts val="0"/>
              </a:spcAft>
              <a:defRPr sz="1200" b="1">
                <a:solidFill>
                  <a:srgbClr val="B8CFCA"/>
                </a:solidFill>
                <a:latin typeface="Arial"/>
              </a:defRPr>
            </a:pPr>
            <a:r>
              <a:t>NGƯỜI DÂN THAO TÁC</a:t>
            </a:r>
          </a:p>
        </p:txBody>
      </p:sp>
      <p:sp>
        <p:nvSpPr>
          <p:cNvPr id="18" name="TextBox 17"/>
          <p:cNvSpPr txBox="1"/>
          <p:nvPr/>
        </p:nvSpPr>
        <p:spPr>
          <a:xfrm>
            <a:off x="8357616" y="3035808"/>
            <a:ext cx="3218688" cy="941832"/>
          </a:xfrm>
          <a:prstGeom prst="rect">
            <a:avLst/>
          </a:prstGeom>
          <a:noFill/>
          <a:effectLst/>
        </p:spPr>
        <p:txBody>
          <a:bodyPr wrap="square" lIns="0" rIns="0" tIns="0" bIns="0">
            <a:spAutoFit/>
          </a:bodyPr>
          <a:lstStyle/>
          <a:p>
            <a:pPr>
              <a:lnSpc>
                <a:spcPct val="107000"/>
              </a:lnSpc>
              <a:spcAft>
                <a:spcPts val="0"/>
              </a:spcAft>
              <a:defRPr sz="1650" b="0">
                <a:solidFill>
                  <a:srgbClr val="FFFFFF"/>
                </a:solidFill>
                <a:latin typeface="Arial"/>
              </a:defRPr>
            </a:pPr>
            <a:r>
              <a:t>Chọn vaccine, ngày giờ, cơ sở tiêm và gửi yêu cầu đăng ký.</a:t>
            </a:r>
          </a:p>
        </p:txBody>
      </p:sp>
      <p:sp>
        <p:nvSpPr>
          <p:cNvPr id="19" name="TextBox 18"/>
          <p:cNvSpPr txBox="1"/>
          <p:nvPr/>
        </p:nvSpPr>
        <p:spPr>
          <a:xfrm>
            <a:off x="8348472" y="3822191"/>
            <a:ext cx="365760" cy="274320"/>
          </a:xfrm>
          <a:prstGeom prst="rect">
            <a:avLst/>
          </a:prstGeom>
          <a:noFill/>
          <a:effectLst/>
        </p:spPr>
        <p:txBody>
          <a:bodyPr wrap="square" lIns="0" rIns="0" tIns="0" bIns="0">
            <a:spAutoFit/>
          </a:bodyPr>
          <a:lstStyle/>
          <a:p>
            <a:pPr>
              <a:lnSpc>
                <a:spcPct val="112000"/>
              </a:lnSpc>
              <a:spcAft>
                <a:spcPts val="0"/>
              </a:spcAft>
              <a:defRPr sz="1200" b="0">
                <a:solidFill>
                  <a:srgbClr val="BA965B"/>
                </a:solidFill>
                <a:latin typeface="Arial"/>
              </a:defRPr>
            </a:pPr>
            <a:r>
              <a:t>02</a:t>
            </a:r>
          </a:p>
        </p:txBody>
      </p:sp>
      <p:sp>
        <p:nvSpPr>
          <p:cNvPr id="20" name="TextBox 19"/>
          <p:cNvSpPr txBox="1"/>
          <p:nvPr/>
        </p:nvSpPr>
        <p:spPr>
          <a:xfrm>
            <a:off x="8851392" y="3822191"/>
            <a:ext cx="2743200" cy="365760"/>
          </a:xfrm>
          <a:prstGeom prst="rect">
            <a:avLst/>
          </a:prstGeom>
          <a:noFill/>
          <a:effectLst/>
        </p:spPr>
        <p:txBody>
          <a:bodyPr wrap="square" lIns="0" rIns="0" tIns="0" bIns="0">
            <a:spAutoFit/>
          </a:bodyPr>
          <a:lstStyle/>
          <a:p>
            <a:pPr>
              <a:lnSpc>
                <a:spcPct val="112000"/>
              </a:lnSpc>
              <a:spcAft>
                <a:spcPts val="0"/>
              </a:spcAft>
              <a:defRPr sz="1200" b="1">
                <a:solidFill>
                  <a:srgbClr val="B8CFCA"/>
                </a:solidFill>
                <a:latin typeface="Arial"/>
              </a:defRPr>
            </a:pPr>
            <a:r>
              <a:t>HỆ THỐNG XỬ LÝ</a:t>
            </a:r>
          </a:p>
        </p:txBody>
      </p:sp>
      <p:sp>
        <p:nvSpPr>
          <p:cNvPr id="21" name="TextBox 20"/>
          <p:cNvSpPr txBox="1"/>
          <p:nvPr/>
        </p:nvSpPr>
        <p:spPr>
          <a:xfrm>
            <a:off x="8357616" y="4133087"/>
            <a:ext cx="3218688" cy="941832"/>
          </a:xfrm>
          <a:prstGeom prst="rect">
            <a:avLst/>
          </a:prstGeom>
          <a:noFill/>
          <a:effectLst/>
        </p:spPr>
        <p:txBody>
          <a:bodyPr wrap="square" lIns="0" rIns="0" tIns="0" bIns="0">
            <a:spAutoFit/>
          </a:bodyPr>
          <a:lstStyle/>
          <a:p>
            <a:pPr>
              <a:lnSpc>
                <a:spcPct val="107000"/>
              </a:lnSpc>
              <a:spcAft>
                <a:spcPts val="0"/>
              </a:spcAft>
              <a:defRPr sz="1650" b="0">
                <a:solidFill>
                  <a:srgbClr val="FFFFFF"/>
                </a:solidFill>
                <a:latin typeface="Arial"/>
              </a:defRPr>
            </a:pPr>
            <a:r>
              <a:t>Kiểm tra thông tin, kiểm tra điều kiện và tạo lịch tiêm nếu hợp lệ.</a:t>
            </a:r>
          </a:p>
        </p:txBody>
      </p:sp>
      <p:sp>
        <p:nvSpPr>
          <p:cNvPr id="22" name="TextBox 21"/>
          <p:cNvSpPr txBox="1"/>
          <p:nvPr/>
        </p:nvSpPr>
        <p:spPr>
          <a:xfrm>
            <a:off x="8348472" y="4919472"/>
            <a:ext cx="365760" cy="274320"/>
          </a:xfrm>
          <a:prstGeom prst="rect">
            <a:avLst/>
          </a:prstGeom>
          <a:noFill/>
          <a:effectLst/>
        </p:spPr>
        <p:txBody>
          <a:bodyPr wrap="square" lIns="0" rIns="0" tIns="0" bIns="0">
            <a:spAutoFit/>
          </a:bodyPr>
          <a:lstStyle/>
          <a:p>
            <a:pPr>
              <a:lnSpc>
                <a:spcPct val="112000"/>
              </a:lnSpc>
              <a:spcAft>
                <a:spcPts val="0"/>
              </a:spcAft>
              <a:defRPr sz="1200" b="0">
                <a:solidFill>
                  <a:srgbClr val="BA965B"/>
                </a:solidFill>
                <a:latin typeface="Arial"/>
              </a:defRPr>
            </a:pPr>
            <a:r>
              <a:t>03</a:t>
            </a:r>
          </a:p>
        </p:txBody>
      </p:sp>
      <p:sp>
        <p:nvSpPr>
          <p:cNvPr id="23" name="TextBox 22"/>
          <p:cNvSpPr txBox="1"/>
          <p:nvPr/>
        </p:nvSpPr>
        <p:spPr>
          <a:xfrm>
            <a:off x="8851392" y="4919472"/>
            <a:ext cx="2743200" cy="365760"/>
          </a:xfrm>
          <a:prstGeom prst="rect">
            <a:avLst/>
          </a:prstGeom>
          <a:noFill/>
          <a:effectLst/>
        </p:spPr>
        <p:txBody>
          <a:bodyPr wrap="square" lIns="0" rIns="0" tIns="0" bIns="0">
            <a:spAutoFit/>
          </a:bodyPr>
          <a:lstStyle/>
          <a:p>
            <a:pPr>
              <a:lnSpc>
                <a:spcPct val="112000"/>
              </a:lnSpc>
              <a:spcAft>
                <a:spcPts val="0"/>
              </a:spcAft>
              <a:defRPr sz="1200" b="1">
                <a:solidFill>
                  <a:srgbClr val="B8CFCA"/>
                </a:solidFill>
                <a:latin typeface="Arial"/>
              </a:defRPr>
            </a:pPr>
            <a:r>
              <a:t>LƯU VÀ PHẢN HỒI</a:t>
            </a:r>
          </a:p>
        </p:txBody>
      </p:sp>
      <p:sp>
        <p:nvSpPr>
          <p:cNvPr id="24" name="TextBox 23"/>
          <p:cNvSpPr txBox="1"/>
          <p:nvPr/>
        </p:nvSpPr>
        <p:spPr>
          <a:xfrm>
            <a:off x="8357616" y="5230368"/>
            <a:ext cx="3218688" cy="941832"/>
          </a:xfrm>
          <a:prstGeom prst="rect">
            <a:avLst/>
          </a:prstGeom>
          <a:noFill/>
          <a:effectLst/>
        </p:spPr>
        <p:txBody>
          <a:bodyPr wrap="square" lIns="0" rIns="0" tIns="0" bIns="0">
            <a:spAutoFit/>
          </a:bodyPr>
          <a:lstStyle/>
          <a:p>
            <a:pPr>
              <a:lnSpc>
                <a:spcPct val="107000"/>
              </a:lnSpc>
              <a:spcAft>
                <a:spcPts val="0"/>
              </a:spcAft>
              <a:defRPr sz="1650" b="0">
                <a:solidFill>
                  <a:srgbClr val="FFFFFF"/>
                </a:solidFill>
                <a:latin typeface="Arial"/>
              </a:defRPr>
            </a:pPr>
            <a:r>
              <a:t>Lưu lịch vào cơ sở dữ liệu, sau đó thông báo đăng ký thành công cho người dân.</a:t>
            </a:r>
          </a:p>
        </p:txBody>
      </p:sp>
    </p:spTree>
  </p:cSld>
  <p:clrMapOvr>
    <a:masterClrMapping/>
  </p:clrMapOvr>
  <p:transition spd="slow">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566928" y="6492240"/>
            <a:ext cx="8961120" cy="201168"/>
          </a:xfrm>
          <a:prstGeom prst="rect">
            <a:avLst/>
          </a:prstGeom>
          <a:noFill/>
          <a:effectLst/>
        </p:spPr>
        <p:txBody>
          <a:bodyPr wrap="square" lIns="0" rIns="0" tIns="0" bIns="0">
            <a:spAutoFit/>
          </a:bodyPr>
          <a:lstStyle/>
          <a:p>
            <a:pPr>
              <a:lnSpc>
                <a:spcPct val="112000"/>
              </a:lnSpc>
              <a:spcAft>
                <a:spcPts val="0"/>
              </a:spcAft>
              <a:defRPr sz="900" b="0">
                <a:solidFill>
                  <a:srgbClr val="637776"/>
                </a:solidFill>
                <a:latin typeface="Arial"/>
              </a:defRPr>
            </a:pPr>
            <a:r>
              <a:t>PHAN TRỌNG PHÚC  /  12CNPM2  /  1250080148</a:t>
            </a:r>
          </a:p>
        </p:txBody>
      </p:sp>
      <p:sp>
        <p:nvSpPr>
          <p:cNvPr id="3" name="TextBox 2"/>
          <p:cNvSpPr txBox="1"/>
          <p:nvPr/>
        </p:nvSpPr>
        <p:spPr>
          <a:xfrm>
            <a:off x="11000232" y="6437376"/>
            <a:ext cx="603504" cy="274320"/>
          </a:xfrm>
          <a:prstGeom prst="rect">
            <a:avLst/>
          </a:prstGeom>
          <a:noFill/>
          <a:effectLst/>
        </p:spPr>
        <p:txBody>
          <a:bodyPr wrap="square" lIns="0" rIns="0" tIns="0" bIns="0">
            <a:spAutoFit/>
          </a:bodyPr>
          <a:lstStyle/>
          <a:p>
            <a:pPr algn="r">
              <a:lnSpc>
                <a:spcPct val="112000"/>
              </a:lnSpc>
              <a:spcAft>
                <a:spcPts val="0"/>
              </a:spcAft>
              <a:defRPr sz="1400" b="1">
                <a:solidFill>
                  <a:srgbClr val="BA965B"/>
                </a:solidFill>
                <a:latin typeface="Arial"/>
              </a:defRPr>
            </a:pPr>
            <a:r>
              <a:t>06</a:t>
            </a:r>
          </a:p>
        </p:txBody>
      </p:sp>
      <p:cxnSp>
        <p:nvCxnSpPr>
          <p:cNvPr id="4" name="Connector 3"/>
          <p:cNvCxnSpPr/>
          <p:nvPr/>
        </p:nvCxnSpPr>
        <p:spPr>
          <a:xfrm>
            <a:off x="566928" y="6345936"/>
            <a:ext cx="11045952" cy="0"/>
          </a:xfrm>
          <a:prstGeom prst="line">
            <a:avLst/>
          </a:prstGeom>
          <a:ln w="7620">
            <a:solidFill>
              <a:srgbClr val="D2DAD3"/>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5216" y="365760"/>
            <a:ext cx="10607040" cy="201168"/>
          </a:xfrm>
          <a:prstGeom prst="rect">
            <a:avLst/>
          </a:prstGeom>
          <a:noFill/>
          <a:effectLst/>
        </p:spPr>
        <p:txBody>
          <a:bodyPr wrap="square" lIns="0" rIns="0" tIns="0" bIns="0">
            <a:spAutoFit/>
          </a:bodyPr>
          <a:lstStyle/>
          <a:p>
            <a:pPr>
              <a:lnSpc>
                <a:spcPct val="112000"/>
              </a:lnSpc>
              <a:spcAft>
                <a:spcPts val="0"/>
              </a:spcAft>
              <a:defRPr sz="1000" b="1">
                <a:solidFill>
                  <a:srgbClr val="BA965B"/>
                </a:solidFill>
                <a:latin typeface="Arial"/>
              </a:defRPr>
            </a:pPr>
            <a:r>
              <a:t>04 / CẤU TRÚC HỆ THỐNG</a:t>
            </a:r>
          </a:p>
        </p:txBody>
      </p:sp>
      <p:sp>
        <p:nvSpPr>
          <p:cNvPr id="6" name="TextBox 5"/>
          <p:cNvSpPr txBox="1"/>
          <p:nvPr/>
        </p:nvSpPr>
        <p:spPr>
          <a:xfrm>
            <a:off x="566928" y="758952"/>
            <a:ext cx="10991088" cy="640080"/>
          </a:xfrm>
          <a:prstGeom prst="rect">
            <a:avLst/>
          </a:prstGeom>
          <a:noFill/>
          <a:effectLst/>
        </p:spPr>
        <p:txBody>
          <a:bodyPr wrap="square" lIns="0" rIns="0" tIns="0" bIns="0">
            <a:spAutoFit/>
          </a:bodyPr>
          <a:lstStyle/>
          <a:p>
            <a:pPr>
              <a:lnSpc>
                <a:spcPct val="112000"/>
              </a:lnSpc>
              <a:spcAft>
                <a:spcPts val="0"/>
              </a:spcAft>
              <a:defRPr sz="3100" b="1">
                <a:solidFill>
                  <a:srgbClr val="193C42"/>
                </a:solidFill>
                <a:latin typeface="Arial"/>
              </a:defRPr>
            </a:pPr>
            <a:r>
              <a:t>CLASS DIAGRAM</a:t>
            </a:r>
          </a:p>
        </p:txBody>
      </p:sp>
      <p:sp>
        <p:nvSpPr>
          <p:cNvPr id="7" name="TextBox 6"/>
          <p:cNvSpPr txBox="1"/>
          <p:nvPr/>
        </p:nvSpPr>
        <p:spPr>
          <a:xfrm>
            <a:off x="594360" y="1463040"/>
            <a:ext cx="10789920" cy="521207"/>
          </a:xfrm>
          <a:prstGeom prst="rect">
            <a:avLst/>
          </a:prstGeom>
          <a:noFill/>
          <a:effectLst/>
        </p:spPr>
        <p:txBody>
          <a:bodyPr wrap="square" lIns="0" rIns="0" tIns="0" bIns="0">
            <a:spAutoFit/>
          </a:bodyPr>
          <a:lstStyle/>
          <a:p>
            <a:pPr>
              <a:lnSpc>
                <a:spcPct val="112000"/>
              </a:lnSpc>
              <a:spcAft>
                <a:spcPts val="0"/>
              </a:spcAft>
              <a:defRPr sz="1700" b="0">
                <a:solidFill>
                  <a:srgbClr val="637776"/>
                </a:solidFill>
                <a:latin typeface="Arial"/>
              </a:defRPr>
            </a:pPr>
            <a:r>
              <a:t>Các lớp được tổ chức theo trách nhiệm và liên kết trực tiếp với nghiệp vụ tiêm chủng.</a:t>
            </a:r>
          </a:p>
        </p:txBody>
      </p:sp>
      <p:cxnSp>
        <p:nvCxnSpPr>
          <p:cNvPr id="8" name="Connector 7"/>
          <p:cNvCxnSpPr/>
          <p:nvPr/>
        </p:nvCxnSpPr>
        <p:spPr>
          <a:xfrm>
            <a:off x="594360" y="1307592"/>
            <a:ext cx="640080" cy="0"/>
          </a:xfrm>
          <a:prstGeom prst="line">
            <a:avLst/>
          </a:prstGeom>
          <a:ln w="25400">
            <a:solidFill>
              <a:srgbClr val="BA965B"/>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21792" y="2139696"/>
            <a:ext cx="4297680" cy="274320"/>
          </a:xfrm>
          <a:prstGeom prst="rect">
            <a:avLst/>
          </a:prstGeom>
          <a:noFill/>
          <a:effectLst/>
        </p:spPr>
        <p:txBody>
          <a:bodyPr wrap="square" lIns="0" rIns="0" tIns="0" bIns="0">
            <a:spAutoFit/>
          </a:bodyPr>
          <a:lstStyle/>
          <a:p>
            <a:pPr>
              <a:lnSpc>
                <a:spcPct val="112000"/>
              </a:lnSpc>
              <a:spcAft>
                <a:spcPts val="0"/>
              </a:spcAft>
              <a:defRPr sz="1300" b="1">
                <a:solidFill>
                  <a:srgbClr val="237B73"/>
                </a:solidFill>
                <a:latin typeface="Arial"/>
              </a:defRPr>
            </a:pPr>
            <a:r>
              <a:t>9 LỚP CHÍNH  /  Ba nhóm lớp</a:t>
            </a:r>
          </a:p>
        </p:txBody>
      </p:sp>
      <p:sp>
        <p:nvSpPr>
          <p:cNvPr id="10" name="TextBox 9"/>
          <p:cNvSpPr txBox="1"/>
          <p:nvPr/>
        </p:nvSpPr>
        <p:spPr>
          <a:xfrm>
            <a:off x="621792" y="2651760"/>
            <a:ext cx="4297680" cy="228600"/>
          </a:xfrm>
          <a:prstGeom prst="rect">
            <a:avLst/>
          </a:prstGeom>
          <a:noFill/>
          <a:effectLst/>
        </p:spPr>
        <p:txBody>
          <a:bodyPr wrap="square" lIns="0" rIns="0" tIns="0" bIns="0">
            <a:spAutoFit/>
          </a:bodyPr>
          <a:lstStyle/>
          <a:p>
            <a:pPr>
              <a:lnSpc>
                <a:spcPct val="112000"/>
              </a:lnSpc>
              <a:spcAft>
                <a:spcPts val="0"/>
              </a:spcAft>
              <a:defRPr sz="1200" b="1">
                <a:solidFill>
                  <a:srgbClr val="237B73"/>
                </a:solidFill>
                <a:latin typeface="Arial"/>
              </a:defRPr>
            </a:pPr>
            <a:r>
              <a:t>NGƯỜI DÙNG</a:t>
            </a:r>
          </a:p>
        </p:txBody>
      </p:sp>
      <p:sp>
        <p:nvSpPr>
          <p:cNvPr id="11" name="TextBox 10"/>
          <p:cNvSpPr txBox="1"/>
          <p:nvPr/>
        </p:nvSpPr>
        <p:spPr>
          <a:xfrm>
            <a:off x="621792" y="2926079"/>
            <a:ext cx="4160520" cy="484632"/>
          </a:xfrm>
          <a:prstGeom prst="rect">
            <a:avLst/>
          </a:prstGeom>
          <a:noFill/>
          <a:effectLst/>
        </p:spPr>
        <p:txBody>
          <a:bodyPr wrap="square" lIns="0" rIns="0" tIns="0" bIns="0">
            <a:spAutoFit/>
          </a:bodyPr>
          <a:lstStyle/>
          <a:p>
            <a:pPr>
              <a:lnSpc>
                <a:spcPct val="104000"/>
              </a:lnSpc>
              <a:spcAft>
                <a:spcPts val="0"/>
              </a:spcAft>
              <a:defRPr sz="1650" b="1">
                <a:solidFill>
                  <a:srgbClr val="193C42"/>
                </a:solidFill>
                <a:latin typeface="Arial"/>
              </a:defRPr>
            </a:pPr>
            <a:r>
              <a:t>TaiKhoan • NguoiDan</a:t>
            </a:r>
          </a:p>
        </p:txBody>
      </p:sp>
      <p:sp>
        <p:nvSpPr>
          <p:cNvPr id="12" name="TextBox 11"/>
          <p:cNvSpPr txBox="1"/>
          <p:nvPr/>
        </p:nvSpPr>
        <p:spPr>
          <a:xfrm>
            <a:off x="621792" y="3456432"/>
            <a:ext cx="4206240" cy="256032"/>
          </a:xfrm>
          <a:prstGeom prst="rect">
            <a:avLst/>
          </a:prstGeom>
          <a:noFill/>
          <a:effectLst/>
        </p:spPr>
        <p:txBody>
          <a:bodyPr wrap="square" lIns="0" rIns="0" tIns="0" bIns="0">
            <a:spAutoFit/>
          </a:bodyPr>
          <a:lstStyle/>
          <a:p>
            <a:pPr>
              <a:lnSpc>
                <a:spcPct val="102000"/>
              </a:lnSpc>
              <a:spcAft>
                <a:spcPts val="0"/>
              </a:spcAft>
              <a:defRPr sz="1400" b="0">
                <a:solidFill>
                  <a:srgbClr val="637776"/>
                </a:solidFill>
                <a:latin typeface="Arial"/>
              </a:defRPr>
            </a:pPr>
            <a:r>
              <a:t>Xác thực, hồ sơ và quyền truy cập</a:t>
            </a:r>
          </a:p>
        </p:txBody>
      </p:sp>
      <p:sp>
        <p:nvSpPr>
          <p:cNvPr id="13" name="TextBox 12"/>
          <p:cNvSpPr txBox="1"/>
          <p:nvPr/>
        </p:nvSpPr>
        <p:spPr>
          <a:xfrm>
            <a:off x="621792" y="3749039"/>
            <a:ext cx="4297680" cy="228600"/>
          </a:xfrm>
          <a:prstGeom prst="rect">
            <a:avLst/>
          </a:prstGeom>
          <a:noFill/>
          <a:effectLst/>
        </p:spPr>
        <p:txBody>
          <a:bodyPr wrap="square" lIns="0" rIns="0" tIns="0" bIns="0">
            <a:spAutoFit/>
          </a:bodyPr>
          <a:lstStyle/>
          <a:p>
            <a:pPr>
              <a:lnSpc>
                <a:spcPct val="112000"/>
              </a:lnSpc>
              <a:spcAft>
                <a:spcPts val="0"/>
              </a:spcAft>
              <a:defRPr sz="1200" b="1">
                <a:solidFill>
                  <a:srgbClr val="237B73"/>
                </a:solidFill>
                <a:latin typeface="Arial"/>
              </a:defRPr>
            </a:pPr>
            <a:r>
              <a:t>NGHIỆP VỤ TIÊM</a:t>
            </a:r>
          </a:p>
        </p:txBody>
      </p:sp>
      <p:sp>
        <p:nvSpPr>
          <p:cNvPr id="14" name="TextBox 13"/>
          <p:cNvSpPr txBox="1"/>
          <p:nvPr/>
        </p:nvSpPr>
        <p:spPr>
          <a:xfrm>
            <a:off x="621792" y="4023359"/>
            <a:ext cx="4160520" cy="484632"/>
          </a:xfrm>
          <a:prstGeom prst="rect">
            <a:avLst/>
          </a:prstGeom>
          <a:noFill/>
          <a:effectLst/>
        </p:spPr>
        <p:txBody>
          <a:bodyPr wrap="square" lIns="0" rIns="0" tIns="0" bIns="0">
            <a:spAutoFit/>
          </a:bodyPr>
          <a:lstStyle/>
          <a:p>
            <a:pPr>
              <a:lnSpc>
                <a:spcPct val="104000"/>
              </a:lnSpc>
              <a:spcAft>
                <a:spcPts val="0"/>
              </a:spcAft>
              <a:defRPr sz="1650" b="1">
                <a:solidFill>
                  <a:srgbClr val="193C42"/>
                </a:solidFill>
                <a:latin typeface="Arial"/>
              </a:defRPr>
            </a:pPr>
            <a:r>
              <a:t>LichTiem • MuiTiem • Vaccine • LoVaccine</a:t>
            </a:r>
          </a:p>
        </p:txBody>
      </p:sp>
      <p:sp>
        <p:nvSpPr>
          <p:cNvPr id="15" name="TextBox 14"/>
          <p:cNvSpPr txBox="1"/>
          <p:nvPr/>
        </p:nvSpPr>
        <p:spPr>
          <a:xfrm>
            <a:off x="621792" y="4553712"/>
            <a:ext cx="4206240" cy="256032"/>
          </a:xfrm>
          <a:prstGeom prst="rect">
            <a:avLst/>
          </a:prstGeom>
          <a:noFill/>
          <a:effectLst/>
        </p:spPr>
        <p:txBody>
          <a:bodyPr wrap="square" lIns="0" rIns="0" tIns="0" bIns="0">
            <a:spAutoFit/>
          </a:bodyPr>
          <a:lstStyle/>
          <a:p>
            <a:pPr>
              <a:lnSpc>
                <a:spcPct val="102000"/>
              </a:lnSpc>
              <a:spcAft>
                <a:spcPts val="0"/>
              </a:spcAft>
              <a:defRPr sz="1400" b="0">
                <a:solidFill>
                  <a:srgbClr val="637776"/>
                </a:solidFill>
                <a:latin typeface="Arial"/>
              </a:defRPr>
            </a:pPr>
            <a:r>
              <a:t>Theo dõi lịch, mũi tiêm và truy vết lô</a:t>
            </a:r>
          </a:p>
        </p:txBody>
      </p:sp>
      <p:sp>
        <p:nvSpPr>
          <p:cNvPr id="16" name="TextBox 15"/>
          <p:cNvSpPr txBox="1"/>
          <p:nvPr/>
        </p:nvSpPr>
        <p:spPr>
          <a:xfrm>
            <a:off x="621792" y="4846320"/>
            <a:ext cx="4297680" cy="228600"/>
          </a:xfrm>
          <a:prstGeom prst="rect">
            <a:avLst/>
          </a:prstGeom>
          <a:noFill/>
          <a:effectLst/>
        </p:spPr>
        <p:txBody>
          <a:bodyPr wrap="square" lIns="0" rIns="0" tIns="0" bIns="0">
            <a:spAutoFit/>
          </a:bodyPr>
          <a:lstStyle/>
          <a:p>
            <a:pPr>
              <a:lnSpc>
                <a:spcPct val="112000"/>
              </a:lnSpc>
              <a:spcAft>
                <a:spcPts val="0"/>
              </a:spcAft>
              <a:defRPr sz="1200" b="1">
                <a:solidFill>
                  <a:srgbClr val="237B73"/>
                </a:solidFill>
                <a:latin typeface="Arial"/>
              </a:defRPr>
            </a:pPr>
            <a:r>
              <a:t>KIỂM SOÁT</a:t>
            </a:r>
          </a:p>
        </p:txBody>
      </p:sp>
      <p:sp>
        <p:nvSpPr>
          <p:cNvPr id="17" name="TextBox 16"/>
          <p:cNvSpPr txBox="1"/>
          <p:nvPr/>
        </p:nvSpPr>
        <p:spPr>
          <a:xfrm>
            <a:off x="621792" y="5120640"/>
            <a:ext cx="4160520" cy="484632"/>
          </a:xfrm>
          <a:prstGeom prst="rect">
            <a:avLst/>
          </a:prstGeom>
          <a:noFill/>
          <a:effectLst/>
        </p:spPr>
        <p:txBody>
          <a:bodyPr wrap="square" lIns="0" rIns="0" tIns="0" bIns="0">
            <a:spAutoFit/>
          </a:bodyPr>
          <a:lstStyle/>
          <a:p>
            <a:pPr>
              <a:lnSpc>
                <a:spcPct val="104000"/>
              </a:lnSpc>
              <a:spcAft>
                <a:spcPts val="0"/>
              </a:spcAft>
              <a:defRPr sz="1650" b="1">
                <a:solidFill>
                  <a:srgbClr val="193C42"/>
                </a:solidFill>
                <a:latin typeface="Arial"/>
              </a:defRPr>
            </a:pPr>
            <a:r>
              <a:t>ChongChiDinh • ThongBao • LichSuHieuChinh</a:t>
            </a:r>
          </a:p>
        </p:txBody>
      </p:sp>
      <p:sp>
        <p:nvSpPr>
          <p:cNvPr id="18" name="TextBox 17"/>
          <p:cNvSpPr txBox="1"/>
          <p:nvPr/>
        </p:nvSpPr>
        <p:spPr>
          <a:xfrm>
            <a:off x="621792" y="5650992"/>
            <a:ext cx="4206240" cy="256032"/>
          </a:xfrm>
          <a:prstGeom prst="rect">
            <a:avLst/>
          </a:prstGeom>
          <a:noFill/>
          <a:effectLst/>
        </p:spPr>
        <p:txBody>
          <a:bodyPr wrap="square" lIns="0" rIns="0" tIns="0" bIns="0">
            <a:spAutoFit/>
          </a:bodyPr>
          <a:lstStyle/>
          <a:p>
            <a:pPr>
              <a:lnSpc>
                <a:spcPct val="102000"/>
              </a:lnSpc>
              <a:spcAft>
                <a:spcPts val="0"/>
              </a:spcAft>
              <a:defRPr sz="1400" b="0">
                <a:solidFill>
                  <a:srgbClr val="637776"/>
                </a:solidFill>
                <a:latin typeface="Arial"/>
              </a:defRPr>
            </a:pPr>
            <a:r>
              <a:t>An toàn, nhắc lịch và lưu vết thay đổi</a:t>
            </a:r>
          </a:p>
        </p:txBody>
      </p:sp>
      <p:cxnSp>
        <p:nvCxnSpPr>
          <p:cNvPr id="19" name="Connector 18"/>
          <p:cNvCxnSpPr/>
          <p:nvPr/>
        </p:nvCxnSpPr>
        <p:spPr>
          <a:xfrm>
            <a:off x="621792" y="6025896"/>
            <a:ext cx="0" cy="219456"/>
          </a:xfrm>
          <a:prstGeom prst="line">
            <a:avLst/>
          </a:prstGeom>
          <a:ln w="25400">
            <a:solidFill>
              <a:srgbClr val="BA965B"/>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22960" y="6016752"/>
            <a:ext cx="3840480" cy="228600"/>
          </a:xfrm>
          <a:prstGeom prst="rect">
            <a:avLst/>
          </a:prstGeom>
          <a:noFill/>
          <a:effectLst/>
        </p:spPr>
        <p:txBody>
          <a:bodyPr wrap="square" lIns="0" rIns="0" tIns="0" bIns="0">
            <a:spAutoFit/>
          </a:bodyPr>
          <a:lstStyle/>
          <a:p>
            <a:pPr>
              <a:lnSpc>
                <a:spcPct val="112000"/>
              </a:lnSpc>
              <a:spcAft>
                <a:spcPts val="0"/>
              </a:spcAft>
              <a:defRPr sz="1300" b="0">
                <a:solidFill>
                  <a:srgbClr val="237B73"/>
                </a:solidFill>
                <a:latin typeface="Arial"/>
              </a:defRPr>
            </a:pPr>
            <a:r>
              <a:t>Mỗi lớp đóng gói dữ liệu + hành vi.</a:t>
            </a:r>
          </a:p>
        </p:txBody>
      </p:sp>
      <p:sp>
        <p:nvSpPr>
          <p:cNvPr id="21" name="Rectangle 20"/>
          <p:cNvSpPr/>
          <p:nvPr/>
        </p:nvSpPr>
        <p:spPr>
          <a:xfrm>
            <a:off x="4965192" y="2093976"/>
            <a:ext cx="6620256" cy="3931920"/>
          </a:xfrm>
          <a:prstGeom prst="rect">
            <a:avLst/>
          </a:prstGeom>
          <a:solidFill>
            <a:srgbClr val="FFFFFF"/>
          </a:solidFill>
          <a:ln w="7620">
            <a:solidFill>
              <a:srgbClr val="D8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4965192" y="2093976"/>
            <a:ext cx="164591" cy="0"/>
          </a:xfrm>
          <a:prstGeom prst="line">
            <a:avLst/>
          </a:prstGeom>
          <a:ln w="10160">
            <a:solidFill>
              <a:srgbClr val="BA965B"/>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11420856" y="2093976"/>
            <a:ext cx="164592" cy="0"/>
          </a:xfrm>
          <a:prstGeom prst="line">
            <a:avLst/>
          </a:prstGeom>
          <a:ln w="10160">
            <a:solidFill>
              <a:srgbClr val="BA965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965192" y="6025896"/>
            <a:ext cx="164591" cy="0"/>
          </a:xfrm>
          <a:prstGeom prst="line">
            <a:avLst/>
          </a:prstGeom>
          <a:ln w="10160">
            <a:solidFill>
              <a:srgbClr val="BA965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1420856" y="6025896"/>
            <a:ext cx="164592" cy="0"/>
          </a:xfrm>
          <a:prstGeom prst="line">
            <a:avLst/>
          </a:prstGeom>
          <a:ln w="10160">
            <a:solidFill>
              <a:srgbClr val="BA965B"/>
            </a:solidFill>
          </a:ln>
          <a:effectLst/>
        </p:spPr>
        <p:style>
          <a:lnRef idx="2">
            <a:schemeClr val="accent1"/>
          </a:lnRef>
          <a:fillRef idx="0">
            <a:schemeClr val="accent1"/>
          </a:fillRef>
          <a:effectRef idx="1">
            <a:schemeClr val="accent1"/>
          </a:effectRef>
          <a:fontRef idx="minor">
            <a:schemeClr val="tx1"/>
          </a:fontRef>
        </p:style>
      </p:cxnSp>
      <p:pic>
        <p:nvPicPr>
          <p:cNvPr id="26" name="Picture 25" descr="image.png"/>
          <p:cNvPicPr>
            <a:picLocks noChangeAspect="1"/>
          </p:cNvPicPr>
          <p:nvPr/>
        </p:nvPicPr>
        <p:blipFill>
          <a:blip r:embed="rId2"/>
          <a:stretch>
            <a:fillRect/>
          </a:stretch>
        </p:blipFill>
        <p:spPr>
          <a:xfrm>
            <a:off x="6065037" y="2148840"/>
            <a:ext cx="4420565" cy="3822191"/>
          </a:xfrm>
          <a:prstGeom prst="rect">
            <a:avLst/>
          </a:prstGeom>
          <a:effectLst/>
        </p:spPr>
      </p:pic>
      <p:sp>
        <p:nvSpPr>
          <p:cNvPr id="27" name="TextBox 26"/>
          <p:cNvSpPr txBox="1"/>
          <p:nvPr/>
        </p:nvSpPr>
        <p:spPr>
          <a:xfrm>
            <a:off x="4992624" y="6099048"/>
            <a:ext cx="6556248" cy="210312"/>
          </a:xfrm>
          <a:prstGeom prst="rect">
            <a:avLst/>
          </a:prstGeom>
          <a:noFill/>
          <a:effectLst/>
        </p:spPr>
        <p:txBody>
          <a:bodyPr wrap="square" lIns="0" rIns="0" tIns="0" bIns="0">
            <a:spAutoFit/>
          </a:bodyPr>
          <a:lstStyle/>
          <a:p>
            <a:pPr>
              <a:lnSpc>
                <a:spcPct val="112000"/>
              </a:lnSpc>
              <a:spcAft>
                <a:spcPts val="0"/>
              </a:spcAft>
              <a:defRPr sz="1000" b="0">
                <a:solidFill>
                  <a:srgbClr val="637776"/>
                </a:solidFill>
                <a:latin typeface="Arial"/>
              </a:defRPr>
            </a:pPr>
            <a:r>
              <a:t>Class Diagram – cấu trúc dữ liệu và quan hệ giữa các đối tượng trong miền tiêm chủng.</a:t>
            </a:r>
          </a:p>
        </p:txBody>
      </p:sp>
    </p:spTree>
  </p:cSld>
  <p:clrMapOvr>
    <a:masterClrMapping/>
  </p:clrMapOvr>
  <p:transition spd="slow">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566928" y="6492240"/>
            <a:ext cx="8961120" cy="201168"/>
          </a:xfrm>
          <a:prstGeom prst="rect">
            <a:avLst/>
          </a:prstGeom>
          <a:noFill/>
          <a:effectLst/>
        </p:spPr>
        <p:txBody>
          <a:bodyPr wrap="square" lIns="0" rIns="0" tIns="0" bIns="0">
            <a:spAutoFit/>
          </a:bodyPr>
          <a:lstStyle/>
          <a:p>
            <a:pPr>
              <a:lnSpc>
                <a:spcPct val="112000"/>
              </a:lnSpc>
              <a:spcAft>
                <a:spcPts val="0"/>
              </a:spcAft>
              <a:defRPr sz="900" b="0">
                <a:solidFill>
                  <a:srgbClr val="637776"/>
                </a:solidFill>
                <a:latin typeface="Arial"/>
              </a:defRPr>
            </a:pPr>
            <a:r>
              <a:t>PHAN TRỌNG PHÚC  /  12CNPM2  /  1250080148</a:t>
            </a:r>
          </a:p>
        </p:txBody>
      </p:sp>
      <p:sp>
        <p:nvSpPr>
          <p:cNvPr id="3" name="TextBox 2"/>
          <p:cNvSpPr txBox="1"/>
          <p:nvPr/>
        </p:nvSpPr>
        <p:spPr>
          <a:xfrm>
            <a:off x="11000232" y="6437376"/>
            <a:ext cx="603504" cy="274320"/>
          </a:xfrm>
          <a:prstGeom prst="rect">
            <a:avLst/>
          </a:prstGeom>
          <a:noFill/>
          <a:effectLst/>
        </p:spPr>
        <p:txBody>
          <a:bodyPr wrap="square" lIns="0" rIns="0" tIns="0" bIns="0">
            <a:spAutoFit/>
          </a:bodyPr>
          <a:lstStyle/>
          <a:p>
            <a:pPr algn="r">
              <a:lnSpc>
                <a:spcPct val="112000"/>
              </a:lnSpc>
              <a:spcAft>
                <a:spcPts val="0"/>
              </a:spcAft>
              <a:defRPr sz="1400" b="1">
                <a:solidFill>
                  <a:srgbClr val="BA965B"/>
                </a:solidFill>
                <a:latin typeface="Arial"/>
              </a:defRPr>
            </a:pPr>
            <a:r>
              <a:t>07</a:t>
            </a:r>
          </a:p>
        </p:txBody>
      </p:sp>
      <p:cxnSp>
        <p:nvCxnSpPr>
          <p:cNvPr id="4" name="Connector 3"/>
          <p:cNvCxnSpPr/>
          <p:nvPr/>
        </p:nvCxnSpPr>
        <p:spPr>
          <a:xfrm>
            <a:off x="566928" y="6345936"/>
            <a:ext cx="11045952" cy="0"/>
          </a:xfrm>
          <a:prstGeom prst="line">
            <a:avLst/>
          </a:prstGeom>
          <a:ln w="7620">
            <a:solidFill>
              <a:srgbClr val="D2DAD3"/>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5216" y="365760"/>
            <a:ext cx="10607040" cy="201168"/>
          </a:xfrm>
          <a:prstGeom prst="rect">
            <a:avLst/>
          </a:prstGeom>
          <a:noFill/>
          <a:effectLst/>
        </p:spPr>
        <p:txBody>
          <a:bodyPr wrap="square" lIns="0" rIns="0" tIns="0" bIns="0">
            <a:spAutoFit/>
          </a:bodyPr>
          <a:lstStyle/>
          <a:p>
            <a:pPr>
              <a:lnSpc>
                <a:spcPct val="112000"/>
              </a:lnSpc>
              <a:spcAft>
                <a:spcPts val="0"/>
              </a:spcAft>
              <a:defRPr sz="1000" b="1">
                <a:solidFill>
                  <a:srgbClr val="BA965B"/>
                </a:solidFill>
                <a:latin typeface="Arial"/>
              </a:defRPr>
            </a:pPr>
            <a:r>
              <a:t>05 / TỪ THIẾT KẾ ĐẾN GIAO DIỆN</a:t>
            </a:r>
          </a:p>
        </p:txBody>
      </p:sp>
      <p:sp>
        <p:nvSpPr>
          <p:cNvPr id="6" name="TextBox 5"/>
          <p:cNvSpPr txBox="1"/>
          <p:nvPr/>
        </p:nvSpPr>
        <p:spPr>
          <a:xfrm>
            <a:off x="566928" y="758952"/>
            <a:ext cx="10991088" cy="640080"/>
          </a:xfrm>
          <a:prstGeom prst="rect">
            <a:avLst/>
          </a:prstGeom>
          <a:noFill/>
          <a:effectLst/>
        </p:spPr>
        <p:txBody>
          <a:bodyPr wrap="square" lIns="0" rIns="0" tIns="0" bIns="0">
            <a:spAutoFit/>
          </a:bodyPr>
          <a:lstStyle/>
          <a:p>
            <a:pPr>
              <a:lnSpc>
                <a:spcPct val="112000"/>
              </a:lnSpc>
              <a:spcAft>
                <a:spcPts val="0"/>
              </a:spcAft>
              <a:defRPr sz="3100" b="1">
                <a:solidFill>
                  <a:srgbClr val="193C42"/>
                </a:solidFill>
                <a:latin typeface="Arial"/>
              </a:defRPr>
            </a:pPr>
            <a:r>
              <a:t>GIAO DIỆN EXCEL</a:t>
            </a:r>
          </a:p>
        </p:txBody>
      </p:sp>
      <p:cxnSp>
        <p:nvCxnSpPr>
          <p:cNvPr id="7" name="Connector 6"/>
          <p:cNvCxnSpPr/>
          <p:nvPr/>
        </p:nvCxnSpPr>
        <p:spPr>
          <a:xfrm>
            <a:off x="594360" y="1307592"/>
            <a:ext cx="640080" cy="0"/>
          </a:xfrm>
          <a:prstGeom prst="line">
            <a:avLst/>
          </a:prstGeom>
          <a:ln w="25400">
            <a:solidFill>
              <a:srgbClr val="BA965B"/>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94360" y="1472184"/>
            <a:ext cx="10881360" cy="274320"/>
          </a:xfrm>
          <a:prstGeom prst="rect">
            <a:avLst/>
          </a:prstGeom>
          <a:noFill/>
          <a:effectLst/>
        </p:spPr>
        <p:txBody>
          <a:bodyPr wrap="square" lIns="0" rIns="0" tIns="0" bIns="0">
            <a:spAutoFit/>
          </a:bodyPr>
          <a:lstStyle/>
          <a:p>
            <a:pPr>
              <a:lnSpc>
                <a:spcPct val="112000"/>
              </a:lnSpc>
              <a:spcAft>
                <a:spcPts val="0"/>
              </a:spcAft>
              <a:defRPr sz="1800" b="1">
                <a:solidFill>
                  <a:srgbClr val="237B73"/>
                </a:solidFill>
                <a:latin typeface="Arial"/>
              </a:defRPr>
            </a:pPr>
            <a:r>
              <a:t>UC15: ĐĂNG KÝ LỊCH TIÊM</a:t>
            </a:r>
          </a:p>
        </p:txBody>
      </p:sp>
      <p:sp>
        <p:nvSpPr>
          <p:cNvPr id="9" name="TextBox 8"/>
          <p:cNvSpPr txBox="1"/>
          <p:nvPr/>
        </p:nvSpPr>
        <p:spPr>
          <a:xfrm>
            <a:off x="594360" y="1901952"/>
            <a:ext cx="10789920" cy="502920"/>
          </a:xfrm>
          <a:prstGeom prst="rect">
            <a:avLst/>
          </a:prstGeom>
          <a:noFill/>
          <a:effectLst/>
        </p:spPr>
        <p:txBody>
          <a:bodyPr wrap="square" lIns="0" rIns="0" tIns="0" bIns="0">
            <a:spAutoFit/>
          </a:bodyPr>
          <a:lstStyle/>
          <a:p>
            <a:pPr>
              <a:lnSpc>
                <a:spcPct val="112000"/>
              </a:lnSpc>
              <a:spcAft>
                <a:spcPts val="0"/>
              </a:spcAft>
              <a:defRPr sz="1700" b="0">
                <a:solidFill>
                  <a:srgbClr val="637776"/>
                </a:solidFill>
                <a:latin typeface="Arial"/>
              </a:defRPr>
            </a:pPr>
            <a:r>
              <a:t>Giao diện được mô phỏng bằng Excel từ đặc tả nghiệp vụ, sau đó hiện thực trên ReactJS.</a:t>
            </a:r>
          </a:p>
        </p:txBody>
      </p:sp>
      <p:sp>
        <p:nvSpPr>
          <p:cNvPr id="10" name="Rectangle 9"/>
          <p:cNvSpPr/>
          <p:nvPr/>
        </p:nvSpPr>
        <p:spPr>
          <a:xfrm>
            <a:off x="594360" y="2587752"/>
            <a:ext cx="7242048" cy="3630168"/>
          </a:xfrm>
          <a:prstGeom prst="rect">
            <a:avLst/>
          </a:prstGeom>
          <a:solidFill>
            <a:srgbClr val="FFFFFF"/>
          </a:solidFill>
          <a:ln w="7620">
            <a:solidFill>
              <a:srgbClr val="D8E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594360" y="2587752"/>
            <a:ext cx="164592" cy="0"/>
          </a:xfrm>
          <a:prstGeom prst="line">
            <a:avLst/>
          </a:prstGeom>
          <a:ln w="10160">
            <a:solidFill>
              <a:srgbClr val="BA965B"/>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7671816" y="2587752"/>
            <a:ext cx="164592" cy="0"/>
          </a:xfrm>
          <a:prstGeom prst="line">
            <a:avLst/>
          </a:prstGeom>
          <a:ln w="10160">
            <a:solidFill>
              <a:srgbClr val="BA965B"/>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94360" y="6217920"/>
            <a:ext cx="164592" cy="0"/>
          </a:xfrm>
          <a:prstGeom prst="line">
            <a:avLst/>
          </a:prstGeom>
          <a:ln w="10160">
            <a:solidFill>
              <a:srgbClr val="BA965B"/>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7671816" y="6217920"/>
            <a:ext cx="164592" cy="0"/>
          </a:xfrm>
          <a:prstGeom prst="line">
            <a:avLst/>
          </a:prstGeom>
          <a:ln w="10160">
            <a:solidFill>
              <a:srgbClr val="BA965B"/>
            </a:solidFill>
          </a:ln>
          <a:effectLst/>
        </p:spPr>
        <p:style>
          <a:lnRef idx="2">
            <a:schemeClr val="accent1"/>
          </a:lnRef>
          <a:fillRef idx="0">
            <a:schemeClr val="accent1"/>
          </a:fillRef>
          <a:effectRef idx="1">
            <a:schemeClr val="accent1"/>
          </a:effectRef>
          <a:fontRef idx="minor">
            <a:schemeClr val="tx1"/>
          </a:fontRef>
        </p:style>
      </p:cxnSp>
      <p:pic>
        <p:nvPicPr>
          <p:cNvPr id="15" name="Picture 14" descr="image.png"/>
          <p:cNvPicPr>
            <a:picLocks noChangeAspect="1"/>
          </p:cNvPicPr>
          <p:nvPr/>
        </p:nvPicPr>
        <p:blipFill>
          <a:blip r:embed="rId2"/>
          <a:stretch>
            <a:fillRect/>
          </a:stretch>
        </p:blipFill>
        <p:spPr>
          <a:xfrm>
            <a:off x="2068104" y="2651760"/>
            <a:ext cx="4294558" cy="3502152"/>
          </a:xfrm>
          <a:prstGeom prst="rect">
            <a:avLst/>
          </a:prstGeom>
          <a:effectLst/>
        </p:spPr>
      </p:pic>
      <p:sp>
        <p:nvSpPr>
          <p:cNvPr id="16" name="TextBox 15"/>
          <p:cNvSpPr txBox="1"/>
          <p:nvPr/>
        </p:nvSpPr>
        <p:spPr>
          <a:xfrm>
            <a:off x="8257031" y="2596896"/>
            <a:ext cx="3291840" cy="274320"/>
          </a:xfrm>
          <a:prstGeom prst="rect">
            <a:avLst/>
          </a:prstGeom>
          <a:noFill/>
          <a:effectLst/>
        </p:spPr>
        <p:txBody>
          <a:bodyPr wrap="square" lIns="0" rIns="0" tIns="0" bIns="0">
            <a:spAutoFit/>
          </a:bodyPr>
          <a:lstStyle/>
          <a:p>
            <a:pPr>
              <a:lnSpc>
                <a:spcPct val="112000"/>
              </a:lnSpc>
              <a:spcAft>
                <a:spcPts val="0"/>
              </a:spcAft>
              <a:defRPr sz="1300" b="1">
                <a:solidFill>
                  <a:srgbClr val="237B73"/>
                </a:solidFill>
                <a:latin typeface="Arial"/>
              </a:defRPr>
            </a:pPr>
            <a:r>
              <a:t>Từ mô hình → giao diện</a:t>
            </a:r>
          </a:p>
        </p:txBody>
      </p:sp>
      <p:sp>
        <p:nvSpPr>
          <p:cNvPr id="17" name="TextBox 16"/>
          <p:cNvSpPr txBox="1"/>
          <p:nvPr/>
        </p:nvSpPr>
        <p:spPr>
          <a:xfrm>
            <a:off x="8257031" y="3063240"/>
            <a:ext cx="365760" cy="274320"/>
          </a:xfrm>
          <a:prstGeom prst="rect">
            <a:avLst/>
          </a:prstGeom>
          <a:noFill/>
          <a:effectLst/>
        </p:spPr>
        <p:txBody>
          <a:bodyPr wrap="square" lIns="0" rIns="0" tIns="0" bIns="0">
            <a:spAutoFit/>
          </a:bodyPr>
          <a:lstStyle/>
          <a:p>
            <a:pPr>
              <a:lnSpc>
                <a:spcPct val="112000"/>
              </a:lnSpc>
              <a:spcAft>
                <a:spcPts val="0"/>
              </a:spcAft>
              <a:defRPr sz="1100" b="1">
                <a:solidFill>
                  <a:srgbClr val="BA965B"/>
                </a:solidFill>
                <a:latin typeface="Arial"/>
              </a:defRPr>
            </a:pPr>
            <a:r>
              <a:t>01</a:t>
            </a:r>
          </a:p>
        </p:txBody>
      </p:sp>
      <p:sp>
        <p:nvSpPr>
          <p:cNvPr id="18" name="TextBox 17"/>
          <p:cNvSpPr txBox="1"/>
          <p:nvPr/>
        </p:nvSpPr>
        <p:spPr>
          <a:xfrm>
            <a:off x="8759952" y="3044952"/>
            <a:ext cx="2834640" cy="749808"/>
          </a:xfrm>
          <a:prstGeom prst="rect">
            <a:avLst/>
          </a:prstGeom>
          <a:noFill/>
          <a:effectLst/>
        </p:spPr>
        <p:txBody>
          <a:bodyPr wrap="square" lIns="0" rIns="0" tIns="0" bIns="0">
            <a:spAutoFit/>
          </a:bodyPr>
          <a:lstStyle/>
          <a:p>
            <a:pPr>
              <a:lnSpc>
                <a:spcPct val="104000"/>
              </a:lnSpc>
              <a:spcAft>
                <a:spcPts val="0"/>
              </a:spcAft>
              <a:defRPr sz="1600" b="0">
                <a:solidFill>
                  <a:srgbClr val="193C42"/>
                </a:solidFill>
                <a:latin typeface="Arial"/>
              </a:defRPr>
            </a:pPr>
            <a:r>
              <a:t>Các trường nhập bám đúng thông tin đăng ký lịch tiêm.</a:t>
            </a:r>
          </a:p>
        </p:txBody>
      </p:sp>
      <p:sp>
        <p:nvSpPr>
          <p:cNvPr id="19" name="TextBox 18"/>
          <p:cNvSpPr txBox="1"/>
          <p:nvPr/>
        </p:nvSpPr>
        <p:spPr>
          <a:xfrm>
            <a:off x="8257031" y="3867912"/>
            <a:ext cx="365760" cy="274320"/>
          </a:xfrm>
          <a:prstGeom prst="rect">
            <a:avLst/>
          </a:prstGeom>
          <a:noFill/>
          <a:effectLst/>
        </p:spPr>
        <p:txBody>
          <a:bodyPr wrap="square" lIns="0" rIns="0" tIns="0" bIns="0">
            <a:spAutoFit/>
          </a:bodyPr>
          <a:lstStyle/>
          <a:p>
            <a:pPr>
              <a:lnSpc>
                <a:spcPct val="112000"/>
              </a:lnSpc>
              <a:spcAft>
                <a:spcPts val="0"/>
              </a:spcAft>
              <a:defRPr sz="1100" b="1">
                <a:solidFill>
                  <a:srgbClr val="BA965B"/>
                </a:solidFill>
                <a:latin typeface="Arial"/>
              </a:defRPr>
            </a:pPr>
            <a:r>
              <a:t>02</a:t>
            </a:r>
          </a:p>
        </p:txBody>
      </p:sp>
      <p:sp>
        <p:nvSpPr>
          <p:cNvPr id="20" name="TextBox 19"/>
          <p:cNvSpPr txBox="1"/>
          <p:nvPr/>
        </p:nvSpPr>
        <p:spPr>
          <a:xfrm>
            <a:off x="8759952" y="3849624"/>
            <a:ext cx="2834640" cy="749808"/>
          </a:xfrm>
          <a:prstGeom prst="rect">
            <a:avLst/>
          </a:prstGeom>
          <a:noFill/>
          <a:effectLst/>
        </p:spPr>
        <p:txBody>
          <a:bodyPr wrap="square" lIns="0" rIns="0" tIns="0" bIns="0">
            <a:spAutoFit/>
          </a:bodyPr>
          <a:lstStyle/>
          <a:p>
            <a:pPr>
              <a:lnSpc>
                <a:spcPct val="104000"/>
              </a:lnSpc>
              <a:spcAft>
                <a:spcPts val="0"/>
              </a:spcAft>
              <a:defRPr sz="1600" b="0">
                <a:solidFill>
                  <a:srgbClr val="193C42"/>
                </a:solidFill>
                <a:latin typeface="Arial"/>
              </a:defRPr>
            </a:pPr>
            <a:r>
              <a:t>Người dân chọn Vaccine, Mũi tiêm, Ngày giờ và Cơ sở tiêm.</a:t>
            </a:r>
          </a:p>
        </p:txBody>
      </p:sp>
      <p:sp>
        <p:nvSpPr>
          <p:cNvPr id="21" name="TextBox 20"/>
          <p:cNvSpPr txBox="1"/>
          <p:nvPr/>
        </p:nvSpPr>
        <p:spPr>
          <a:xfrm>
            <a:off x="8257031" y="4672584"/>
            <a:ext cx="365760" cy="274320"/>
          </a:xfrm>
          <a:prstGeom prst="rect">
            <a:avLst/>
          </a:prstGeom>
          <a:noFill/>
          <a:effectLst/>
        </p:spPr>
        <p:txBody>
          <a:bodyPr wrap="square" lIns="0" rIns="0" tIns="0" bIns="0">
            <a:spAutoFit/>
          </a:bodyPr>
          <a:lstStyle/>
          <a:p>
            <a:pPr>
              <a:lnSpc>
                <a:spcPct val="112000"/>
              </a:lnSpc>
              <a:spcAft>
                <a:spcPts val="0"/>
              </a:spcAft>
              <a:defRPr sz="1100" b="1">
                <a:solidFill>
                  <a:srgbClr val="BA965B"/>
                </a:solidFill>
                <a:latin typeface="Arial"/>
              </a:defRPr>
            </a:pPr>
            <a:r>
              <a:t>03</a:t>
            </a:r>
          </a:p>
        </p:txBody>
      </p:sp>
      <p:sp>
        <p:nvSpPr>
          <p:cNvPr id="22" name="TextBox 21"/>
          <p:cNvSpPr txBox="1"/>
          <p:nvPr/>
        </p:nvSpPr>
        <p:spPr>
          <a:xfrm>
            <a:off x="8759952" y="4654296"/>
            <a:ext cx="2834640" cy="749808"/>
          </a:xfrm>
          <a:prstGeom prst="rect">
            <a:avLst/>
          </a:prstGeom>
          <a:noFill/>
          <a:effectLst/>
        </p:spPr>
        <p:txBody>
          <a:bodyPr wrap="square" lIns="0" rIns="0" tIns="0" bIns="0">
            <a:spAutoFit/>
          </a:bodyPr>
          <a:lstStyle/>
          <a:p>
            <a:pPr>
              <a:lnSpc>
                <a:spcPct val="104000"/>
              </a:lnSpc>
              <a:spcAft>
                <a:spcPts val="0"/>
              </a:spcAft>
              <a:defRPr sz="1600" b="0">
                <a:solidFill>
                  <a:srgbClr val="193C42"/>
                </a:solidFill>
                <a:latin typeface="Arial"/>
              </a:defRPr>
            </a:pPr>
            <a:r>
              <a:t>Nút Đăng ký gửi yêu cầu và tạo lịch tiêm mới.</a:t>
            </a:r>
          </a:p>
        </p:txBody>
      </p:sp>
      <p:sp>
        <p:nvSpPr>
          <p:cNvPr id="23" name="TextBox 22"/>
          <p:cNvSpPr txBox="1"/>
          <p:nvPr/>
        </p:nvSpPr>
        <p:spPr>
          <a:xfrm>
            <a:off x="8257031" y="5477256"/>
            <a:ext cx="365760" cy="274320"/>
          </a:xfrm>
          <a:prstGeom prst="rect">
            <a:avLst/>
          </a:prstGeom>
          <a:noFill/>
          <a:effectLst/>
        </p:spPr>
        <p:txBody>
          <a:bodyPr wrap="square" lIns="0" rIns="0" tIns="0" bIns="0">
            <a:spAutoFit/>
          </a:bodyPr>
          <a:lstStyle/>
          <a:p>
            <a:pPr>
              <a:lnSpc>
                <a:spcPct val="112000"/>
              </a:lnSpc>
              <a:spcAft>
                <a:spcPts val="0"/>
              </a:spcAft>
              <a:defRPr sz="1100" b="1">
                <a:solidFill>
                  <a:srgbClr val="BA965B"/>
                </a:solidFill>
                <a:latin typeface="Arial"/>
              </a:defRPr>
            </a:pPr>
            <a:r>
              <a:t>04</a:t>
            </a:r>
          </a:p>
        </p:txBody>
      </p:sp>
      <p:sp>
        <p:nvSpPr>
          <p:cNvPr id="24" name="TextBox 23"/>
          <p:cNvSpPr txBox="1"/>
          <p:nvPr/>
        </p:nvSpPr>
        <p:spPr>
          <a:xfrm>
            <a:off x="8759952" y="5458968"/>
            <a:ext cx="2834640" cy="749808"/>
          </a:xfrm>
          <a:prstGeom prst="rect">
            <a:avLst/>
          </a:prstGeom>
          <a:noFill/>
          <a:effectLst/>
        </p:spPr>
        <p:txBody>
          <a:bodyPr wrap="square" lIns="0" rIns="0" tIns="0" bIns="0">
            <a:spAutoFit/>
          </a:bodyPr>
          <a:lstStyle/>
          <a:p>
            <a:pPr>
              <a:lnSpc>
                <a:spcPct val="104000"/>
              </a:lnSpc>
              <a:spcAft>
                <a:spcPts val="0"/>
              </a:spcAft>
              <a:defRPr sz="1600" b="0">
                <a:solidFill>
                  <a:srgbClr val="193C42"/>
                </a:solidFill>
                <a:latin typeface="Arial"/>
              </a:defRPr>
            </a:pPr>
            <a:r>
              <a:t>Lịch được lưu trạng thái “Đã lên lịch” để nhân viên tiếp nhận.</a:t>
            </a:r>
          </a:p>
        </p:txBody>
      </p:sp>
    </p:spTree>
  </p:cSld>
  <p:clrMapOvr>
    <a:masterClrMapping/>
  </p:clrMapOvr>
  <p:transition spd="slow">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282E"/>
        </a:solidFill>
        <a:effectLst/>
      </p:bgPr>
    </p:bg>
    <p:spTree>
      <p:nvGrpSpPr>
        <p:cNvPr id="1" name=""/>
        <p:cNvGrpSpPr/>
        <p:nvPr/>
      </p:nvGrpSpPr>
      <p:grpSpPr/>
      <p:sp>
        <p:nvSpPr>
          <p:cNvPr id="2" name="TextBox 1"/>
          <p:cNvSpPr txBox="1"/>
          <p:nvPr/>
        </p:nvSpPr>
        <p:spPr>
          <a:xfrm>
            <a:off x="566928" y="6492240"/>
            <a:ext cx="8961120" cy="201168"/>
          </a:xfrm>
          <a:prstGeom prst="rect">
            <a:avLst/>
          </a:prstGeom>
          <a:noFill/>
          <a:effectLst/>
        </p:spPr>
        <p:txBody>
          <a:bodyPr wrap="square" lIns="0" rIns="0" tIns="0" bIns="0">
            <a:spAutoFit/>
          </a:bodyPr>
          <a:lstStyle/>
          <a:p>
            <a:pPr>
              <a:lnSpc>
                <a:spcPct val="112000"/>
              </a:lnSpc>
              <a:spcAft>
                <a:spcPts val="0"/>
              </a:spcAft>
              <a:defRPr sz="900" b="0">
                <a:solidFill>
                  <a:srgbClr val="B8CFCA"/>
                </a:solidFill>
                <a:latin typeface="Arial"/>
              </a:defRPr>
            </a:pPr>
            <a:r>
              <a:t>PHAN TRỌNG PHÚC  /  12CNPM2  /  1250080148</a:t>
            </a:r>
          </a:p>
        </p:txBody>
      </p:sp>
      <p:sp>
        <p:nvSpPr>
          <p:cNvPr id="3" name="TextBox 2"/>
          <p:cNvSpPr txBox="1"/>
          <p:nvPr/>
        </p:nvSpPr>
        <p:spPr>
          <a:xfrm>
            <a:off x="11000232" y="6437376"/>
            <a:ext cx="603504" cy="274320"/>
          </a:xfrm>
          <a:prstGeom prst="rect">
            <a:avLst/>
          </a:prstGeom>
          <a:noFill/>
          <a:effectLst/>
        </p:spPr>
        <p:txBody>
          <a:bodyPr wrap="square" lIns="0" rIns="0" tIns="0" bIns="0">
            <a:spAutoFit/>
          </a:bodyPr>
          <a:lstStyle/>
          <a:p>
            <a:pPr algn="r">
              <a:lnSpc>
                <a:spcPct val="112000"/>
              </a:lnSpc>
              <a:spcAft>
                <a:spcPts val="0"/>
              </a:spcAft>
              <a:defRPr sz="1400" b="1">
                <a:solidFill>
                  <a:srgbClr val="BA965B"/>
                </a:solidFill>
                <a:latin typeface="Arial"/>
              </a:defRPr>
            </a:pPr>
            <a:r>
              <a:t>08</a:t>
            </a:r>
          </a:p>
        </p:txBody>
      </p:sp>
      <p:cxnSp>
        <p:nvCxnSpPr>
          <p:cNvPr id="4" name="Connector 3"/>
          <p:cNvCxnSpPr/>
          <p:nvPr/>
        </p:nvCxnSpPr>
        <p:spPr>
          <a:xfrm>
            <a:off x="566928" y="6345936"/>
            <a:ext cx="11045952" cy="0"/>
          </a:xfrm>
          <a:prstGeom prst="line">
            <a:avLst/>
          </a:prstGeom>
          <a:ln w="7620">
            <a:solidFill>
              <a:srgbClr val="285057"/>
            </a:solidFil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0" y="0"/>
            <a:ext cx="109728" cy="6858000"/>
          </a:xfrm>
          <a:prstGeom prst="rect">
            <a:avLst/>
          </a:prstGeom>
          <a:solidFill>
            <a:srgbClr val="BA96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475488"/>
            <a:ext cx="10058400" cy="274320"/>
          </a:xfrm>
          <a:prstGeom prst="rect">
            <a:avLst/>
          </a:prstGeom>
          <a:noFill/>
          <a:effectLst/>
        </p:spPr>
        <p:txBody>
          <a:bodyPr wrap="square" lIns="0" rIns="0" tIns="0" bIns="0">
            <a:spAutoFit/>
          </a:bodyPr>
          <a:lstStyle/>
          <a:p>
            <a:pPr>
              <a:lnSpc>
                <a:spcPct val="112000"/>
              </a:lnSpc>
              <a:spcAft>
                <a:spcPts val="0"/>
              </a:spcAft>
              <a:defRPr sz="1200" b="1">
                <a:solidFill>
                  <a:srgbClr val="BA965B"/>
                </a:solidFill>
                <a:latin typeface="Arial"/>
              </a:defRPr>
            </a:pPr>
            <a:r>
              <a:t>CẢM ƠN</a:t>
            </a:r>
          </a:p>
        </p:txBody>
      </p:sp>
      <p:cxnSp>
        <p:nvCxnSpPr>
          <p:cNvPr id="7" name="Connector 6"/>
          <p:cNvCxnSpPr/>
          <p:nvPr/>
        </p:nvCxnSpPr>
        <p:spPr>
          <a:xfrm>
            <a:off x="640080" y="1005840"/>
            <a:ext cx="10881360" cy="0"/>
          </a:xfrm>
          <a:prstGeom prst="line">
            <a:avLst/>
          </a:prstGeom>
          <a:ln w="8890">
            <a:solidFill>
              <a:srgbClr val="37565A"/>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40080" y="2350008"/>
            <a:ext cx="10698480" cy="1691640"/>
          </a:xfrm>
          <a:prstGeom prst="rect">
            <a:avLst/>
          </a:prstGeom>
          <a:noFill/>
          <a:effectLst/>
        </p:spPr>
        <p:txBody>
          <a:bodyPr wrap="square" lIns="0" rIns="0" tIns="0" bIns="0">
            <a:spAutoFit/>
          </a:bodyPr>
          <a:lstStyle/>
          <a:p>
            <a:pPr>
              <a:lnSpc>
                <a:spcPct val="112000"/>
              </a:lnSpc>
              <a:spcAft>
                <a:spcPts val="0"/>
              </a:spcAft>
              <a:defRPr sz="4200" b="0">
                <a:solidFill>
                  <a:srgbClr val="FFFFFF"/>
                </a:solidFill>
                <a:latin typeface="Georgia"/>
              </a:defRPr>
            </a:pPr>
            <a:r>
              <a:t>Cảm ơn thầy và các bạn</a:t>
            </a:r>
          </a:p>
          <a:p>
            <a:pPr>
              <a:lnSpc>
                <a:spcPct val="112000"/>
              </a:lnSpc>
              <a:spcAft>
                <a:spcPts val="0"/>
              </a:spcAft>
              <a:defRPr sz="4200" b="0">
                <a:solidFill>
                  <a:srgbClr val="FFFFFF"/>
                </a:solidFill>
                <a:latin typeface="Georgia"/>
              </a:defRPr>
            </a:pPr>
            <a:r>
              <a:t>đã lắng nghe</a:t>
            </a:r>
          </a:p>
        </p:txBody>
      </p:sp>
      <p:cxnSp>
        <p:nvCxnSpPr>
          <p:cNvPr id="9" name="Connector 8"/>
          <p:cNvCxnSpPr/>
          <p:nvPr/>
        </p:nvCxnSpPr>
        <p:spPr>
          <a:xfrm>
            <a:off x="676656" y="4407408"/>
            <a:ext cx="1161287" cy="0"/>
          </a:xfrm>
          <a:prstGeom prst="line">
            <a:avLst/>
          </a:prstGeom>
          <a:ln w="25400">
            <a:solidFill>
              <a:srgbClr val="BA965B"/>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76656" y="4828032"/>
            <a:ext cx="7315200" cy="320040"/>
          </a:xfrm>
          <a:prstGeom prst="rect">
            <a:avLst/>
          </a:prstGeom>
          <a:noFill/>
          <a:effectLst/>
        </p:spPr>
        <p:txBody>
          <a:bodyPr wrap="square" lIns="0" rIns="0" tIns="0" bIns="0">
            <a:spAutoFit/>
          </a:bodyPr>
          <a:lstStyle/>
          <a:p>
            <a:pPr>
              <a:lnSpc>
                <a:spcPct val="112000"/>
              </a:lnSpc>
              <a:spcAft>
                <a:spcPts val="0"/>
              </a:spcAft>
              <a:defRPr sz="1700" b="1">
                <a:solidFill>
                  <a:srgbClr val="FFFFFF"/>
                </a:solidFill>
                <a:latin typeface="Arial"/>
              </a:defRPr>
            </a:pPr>
            <a:r>
              <a:t>PHAN TRỌNG PHÚC</a:t>
            </a:r>
          </a:p>
        </p:txBody>
      </p:sp>
      <p:sp>
        <p:nvSpPr>
          <p:cNvPr id="11" name="TextBox 10"/>
          <p:cNvSpPr txBox="1"/>
          <p:nvPr/>
        </p:nvSpPr>
        <p:spPr>
          <a:xfrm>
            <a:off x="676656" y="5340096"/>
            <a:ext cx="7315200" cy="274320"/>
          </a:xfrm>
          <a:prstGeom prst="rect">
            <a:avLst/>
          </a:prstGeom>
          <a:noFill/>
          <a:effectLst/>
        </p:spPr>
        <p:txBody>
          <a:bodyPr wrap="square" lIns="0" rIns="0" tIns="0" bIns="0">
            <a:spAutoFit/>
          </a:bodyPr>
          <a:lstStyle/>
          <a:p>
            <a:pPr>
              <a:lnSpc>
                <a:spcPct val="112000"/>
              </a:lnSpc>
              <a:spcAft>
                <a:spcPts val="0"/>
              </a:spcAft>
              <a:defRPr sz="1500" b="0">
                <a:solidFill>
                  <a:srgbClr val="B8CFCA"/>
                </a:solidFill>
                <a:latin typeface="Arial"/>
              </a:defRPr>
            </a:pPr>
            <a:r>
              <a:t>12CNPM2  /  1250080148</a:t>
            </a:r>
          </a:p>
        </p:txBody>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Cổng theo dõi tiêm chủng cộng đồng</dc:title>
  <dc:subject>Phân tích và thiết kế hệ thống theo phương pháp lập trình hướng đối tượng</dc:subject>
  <dc:creator>Phan Trọng Phúc</dc:creator>
  <cp:keywords>Tiêm chủng, Use Case, Activity, Sequence, Class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